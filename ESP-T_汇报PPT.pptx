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144000" cy="1828800"/>
          </a:xfrm>
          <a:prstGeom prst="rect">
            <a:avLst/>
          </a:prstGeom>
          <a:noFill/>
        </p:spPr>
        <p:txBody>
          <a:bodyPr wrap="square">
            <a:spAutoFit/>
          </a:bodyPr>
          <a:lstStyle/>
          <a:p>
            <a:pPr algn="ctr">
              <a:defRPr sz="3600" b="1">
                <a:solidFill>
                  <a:srgbClr val="FFFFFF"/>
                </a:solidFill>
                <a:latin typeface="Microsoft YaHei"/>
              </a:defRPr>
            </a:pPr>
            <a:r>
              <a:t>亲油型环氧/Fe₃O₄示踪支撑剂的</a:t>
            </a:r>
            <a:br/>
            <a:r>
              <a:t>持续释放突破曲线建模及生产分配研究</a:t>
            </a:r>
          </a:p>
        </p:txBody>
      </p:sp>
      <p:sp>
        <p:nvSpPr>
          <p:cNvPr id="4" name="TextBox 3"/>
          <p:cNvSpPr txBox="1"/>
          <p:nvPr/>
        </p:nvSpPr>
        <p:spPr>
          <a:xfrm>
            <a:off x="1371600" y="3657600"/>
            <a:ext cx="9144000" cy="914400"/>
          </a:xfrm>
          <a:prstGeom prst="rect">
            <a:avLst/>
          </a:prstGeom>
          <a:noFill/>
        </p:spPr>
        <p:txBody>
          <a:bodyPr wrap="square">
            <a:spAutoFit/>
          </a:bodyPr>
          <a:lstStyle/>
          <a:p>
            <a:pPr algn="ctr">
              <a:defRPr sz="1800" b="0">
                <a:solidFill>
                  <a:srgbClr val="CCDDEE"/>
                </a:solidFill>
                <a:latin typeface="Microsoft YaHei"/>
              </a:defRPr>
            </a:pPr>
            <a:r>
              <a:t>Piecewise Advection-Dispersion Modeling of Sustained Tracer Release</a:t>
            </a:r>
            <a:br/>
            <a:r>
              <a:t>from an Oleophilic Epoxy/Fe₃O₄ Proppant for Production Allocation</a:t>
            </a:r>
            <a:br/>
            <a:r>
              <a:t>in Multi-Stage Fractured Horizontal Wells</a:t>
            </a:r>
          </a:p>
        </p:txBody>
      </p:sp>
      <p:sp>
        <p:nvSpPr>
          <p:cNvPr id="5" name="TextBox 4"/>
          <p:cNvSpPr txBox="1"/>
          <p:nvPr/>
        </p:nvSpPr>
        <p:spPr>
          <a:xfrm>
            <a:off x="1371600" y="5029200"/>
            <a:ext cx="9144000" cy="457200"/>
          </a:xfrm>
          <a:prstGeom prst="rect">
            <a:avLst/>
          </a:prstGeom>
          <a:noFill/>
        </p:spPr>
        <p:txBody>
          <a:bodyPr wrap="square">
            <a:spAutoFit/>
          </a:bodyPr>
          <a:lstStyle/>
          <a:p>
            <a:pPr algn="ctr">
              <a:defRPr sz="2000" b="0">
                <a:solidFill>
                  <a:srgbClr val="FFFFFF"/>
                </a:solidFill>
                <a:latin typeface="Microsoft YaHei"/>
              </a:defRPr>
            </a:pPr>
            <a:r>
              <a:t>能源学院 · 石油与天然气工程 · 导师：李娜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1. 研究背景：工程问题</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为什么需要逐段产量监测？</a:t>
            </a:r>
          </a:p>
        </p:txBody>
      </p:sp>
      <p:sp>
        <p:nvSpPr>
          <p:cNvPr id="5" name="TextBox 4"/>
          <p:cNvSpPr txBox="1"/>
          <p:nvPr/>
        </p:nvSpPr>
        <p:spPr>
          <a:xfrm>
            <a:off x="731520" y="1463040"/>
            <a:ext cx="5029200" cy="4572000"/>
          </a:xfrm>
          <a:prstGeom prst="rect">
            <a:avLst/>
          </a:prstGeom>
          <a:noFill/>
        </p:spPr>
        <p:txBody>
          <a:bodyPr wrap="square">
            <a:spAutoFit/>
          </a:bodyPr>
          <a:lstStyle/>
          <a:p>
            <a:pPr algn="l">
              <a:defRPr sz="1600" b="0">
                <a:solidFill>
                  <a:srgbClr val="1A1A1A"/>
                </a:solidFill>
                <a:latin typeface="Microsoft YaHei"/>
              </a:defRPr>
            </a:pPr>
          </a:p>
          <a:p>
            <a:pPr>
              <a:defRPr sz="2000">
                <a:solidFill>
                  <a:srgbClr val="1F4E79"/>
                </a:solidFill>
                <a:latin typeface="Microsoft YaHei"/>
              </a:defRPr>
            </a:pPr>
            <a:r>
              <a:t>非常规油气占全球储量 &gt;50%</a:t>
            </a:r>
          </a:p>
          <a:p>
            <a:pPr>
              <a:defRPr sz="1800">
                <a:solidFill>
                  <a:srgbClr val="1A1A1A"/>
                </a:solidFill>
                <a:latin typeface="Microsoft YaHei"/>
              </a:defRPr>
            </a:pPr>
            <a:r>
              <a:t>水力压裂 + 水平井多段改造 → 每段产多少油？</a:t>
            </a:r>
          </a:p>
          <a:p>
            <a:pPr>
              <a:defRPr sz="1000">
                <a:solidFill>
                  <a:srgbClr val="1A1A1A"/>
                </a:solidFill>
                <a:latin typeface="Microsoft YaHei"/>
              </a:defRPr>
            </a:pPr>
          </a:p>
          <a:p>
            <a:pPr>
              <a:defRPr sz="2000">
                <a:solidFill>
                  <a:srgbClr val="1F4E79"/>
                </a:solidFill>
                <a:latin typeface="Microsoft YaHei"/>
              </a:defRPr>
            </a:pPr>
            <a:r>
              <a:t>现有监测手段的局限：</a:t>
            </a:r>
          </a:p>
          <a:p>
            <a:pPr lvl="1">
              <a:defRPr sz="1700">
                <a:solidFill>
                  <a:srgbClr val="1A1A1A"/>
                </a:solidFill>
                <a:latin typeface="Microsoft YaHei"/>
              </a:defRPr>
            </a:pPr>
            <a:r>
              <a:t>● 生产测井(PLT)：需停井作业，费用高，快照式数据</a:t>
            </a:r>
          </a:p>
          <a:p>
            <a:pPr lvl="1">
              <a:defRPr sz="1700">
                <a:solidFill>
                  <a:srgbClr val="1A1A1A"/>
                </a:solidFill>
                <a:latin typeface="Microsoft YaHei"/>
              </a:defRPr>
            </a:pPr>
            <a:r>
              <a:t>● 光纤传感(DAS/DTS)：前期安装成本高，需永久井下设施</a:t>
            </a:r>
          </a:p>
          <a:p>
            <a:pPr lvl="1">
              <a:defRPr sz="1700">
                <a:solidFill>
                  <a:srgbClr val="1A1A1A"/>
                </a:solidFill>
                <a:latin typeface="Microsoft YaHei"/>
              </a:defRPr>
            </a:pPr>
            <a:r>
              <a:t>● 化学示踪剂：压裂时随支撑剂注入，井口采样即可</a:t>
            </a:r>
          </a:p>
          <a:p>
            <a:pPr>
              <a:defRPr sz="1000">
                <a:solidFill>
                  <a:srgbClr val="1A1A1A"/>
                </a:solidFill>
                <a:latin typeface="Microsoft YaHei"/>
              </a:defRPr>
            </a:pPr>
          </a:p>
          <a:p>
            <a:pPr>
              <a:defRPr sz="2000">
                <a:solidFill>
                  <a:srgbClr val="C0392B"/>
                </a:solidFill>
                <a:latin typeface="Microsoft YaHei"/>
              </a:defRPr>
            </a:pPr>
            <a:r>
              <a:t>示踪剂方法的致命空白：</a:t>
            </a:r>
          </a:p>
          <a:p>
            <a:pPr>
              <a:defRPr sz="1700">
                <a:solidFill>
                  <a:srgbClr val="1A1A1A"/>
                </a:solidFill>
                <a:latin typeface="Microsoft YaHei"/>
              </a:defRPr>
            </a:pPr>
            <a:r>
              <a:t>● 实验室测释放速率 (K-P动力学)</a:t>
            </a:r>
          </a:p>
          <a:p>
            <a:pPr>
              <a:defRPr sz="1700">
                <a:solidFill>
                  <a:srgbClr val="1A1A1A"/>
                </a:solidFill>
                <a:latin typeface="Microsoft YaHei"/>
              </a:defRPr>
            </a:pPr>
            <a:r>
              <a:t>● 井口看浓度曲线 (BTC)</a:t>
            </a:r>
          </a:p>
          <a:p>
            <a:pPr>
              <a:defRPr sz="1700">
                <a:solidFill>
                  <a:srgbClr val="C0392B"/>
                </a:solidFill>
                <a:latin typeface="Microsoft YaHei"/>
              </a:defRPr>
            </a:pPr>
            <a:r>
              <a:t>● 两者之间缺一个定量桥梁 → 无法从BTC反推产量</a:t>
            </a:r>
          </a:p>
        </p:txBody>
      </p:sp>
      <p:sp>
        <p:nvSpPr>
          <p:cNvPr id="6" name="TextBox 5"/>
          <p:cNvSpPr txBox="1"/>
          <p:nvPr/>
        </p:nvSpPr>
        <p:spPr>
          <a:xfrm>
            <a:off x="6400800" y="1463040"/>
            <a:ext cx="5029200" cy="457200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核心问题</a:t>
            </a:r>
          </a:p>
          <a:p>
            <a:pPr>
              <a:defRPr sz="1800">
                <a:solidFill>
                  <a:srgbClr val="1A1A1A"/>
                </a:solidFill>
                <a:latin typeface="Microsoft YaHei"/>
              </a:defRPr>
            </a:pPr>
            <a:r>
              <a:t>示踪剂从支撑剂释放 → 沿井筒输运 → 井口检测</a:t>
            </a:r>
          </a:p>
          <a:p>
            <a:pPr>
              <a:defRPr sz="1800">
                <a:solidFill>
                  <a:srgbClr val="C0392B"/>
                </a:solidFill>
                <a:latin typeface="Microsoft YaHei"/>
              </a:defRPr>
            </a:pPr>
            <a:r>
              <a:t>这三个环节中，中间环节(输运)未被建模</a:t>
            </a:r>
          </a:p>
          <a:p>
            <a:pPr>
              <a:defRPr sz="1200">
                <a:solidFill>
                  <a:srgbClr val="1A1A1A"/>
                </a:solidFill>
                <a:latin typeface="Microsoft YaHei"/>
              </a:defRPr>
            </a:pPr>
          </a:p>
          <a:p>
            <a:pPr>
              <a:defRPr sz="2200">
                <a:solidFill>
                  <a:srgbClr val="1F4E79"/>
                </a:solidFill>
                <a:latin typeface="Microsoft YaHei"/>
              </a:defRPr>
            </a:pPr>
            <a:r>
              <a:t>类比理解</a:t>
            </a:r>
          </a:p>
          <a:p>
            <a:pPr>
              <a:defRPr sz="1800">
                <a:solidFill>
                  <a:srgbClr val="1A1A1A"/>
                </a:solidFill>
                <a:latin typeface="Microsoft YaHei"/>
              </a:defRPr>
            </a:pPr>
            <a:r>
              <a:t>水龙头出水速度(释放) → 水管粗细长短(输运)</a:t>
            </a:r>
          </a:p>
          <a:p>
            <a:pPr>
              <a:defRPr sz="1800">
                <a:solidFill>
                  <a:srgbClr val="1A1A1A"/>
                </a:solidFill>
                <a:latin typeface="Microsoft YaHei"/>
              </a:defRPr>
            </a:pPr>
            <a:r>
              <a:t>→ 水池水位变化(BTC)</a:t>
            </a:r>
          </a:p>
          <a:p>
            <a:pPr>
              <a:defRPr sz="1800">
                <a:solidFill>
                  <a:srgbClr val="C0392B"/>
                </a:solidFill>
                <a:latin typeface="Microsoft YaHei"/>
              </a:defRPr>
            </a:pPr>
            <a:r>
              <a:t>不知道水管参数 = 无法从水位反推水龙头开度</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2. 设计思路：双组分物理分解</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BTC = 段塞(高斯) + 持续释放(erfc) + tanh平滑过渡</a:t>
            </a:r>
          </a:p>
        </p:txBody>
      </p:sp>
      <p:sp>
        <p:nvSpPr>
          <p:cNvPr id="5" name="TextBox 4"/>
          <p:cNvSpPr txBox="1"/>
          <p:nvPr/>
        </p:nvSpPr>
        <p:spPr>
          <a:xfrm>
            <a:off x="731520" y="1463040"/>
            <a:ext cx="5303520" cy="475488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过程一：关井段塞 → 高斯脉冲</a:t>
            </a:r>
          </a:p>
          <a:p>
            <a:pPr>
              <a:defRPr sz="1700">
                <a:solidFill>
                  <a:srgbClr val="1A1A1A"/>
                </a:solidFill>
                <a:latin typeface="Microsoft YaHei"/>
              </a:defRPr>
            </a:pPr>
            <a:r>
              <a:t>关井96h → 示踪剂堆积在支撑剂层</a:t>
            </a:r>
          </a:p>
          <a:p>
            <a:pPr>
              <a:defRPr sz="1700">
                <a:solidFill>
                  <a:srgbClr val="1A1A1A"/>
                </a:solidFill>
                <a:latin typeface="Microsoft YaHei"/>
              </a:defRPr>
            </a:pPr>
            <a:r>
              <a:t>开井 → 堆积段塞被冲到井口 → 脉冲峰</a:t>
            </a:r>
          </a:p>
          <a:p>
            <a:pPr>
              <a:defRPr sz="1700">
                <a:solidFill>
                  <a:srgbClr val="1A1A1A"/>
                </a:solidFill>
                <a:latin typeface="Microsoft YaHei"/>
              </a:defRPr>
            </a:pPr>
            <a:r>
              <a:t>数学：高斯函数 C_rise(t)</a:t>
            </a:r>
          </a:p>
          <a:p>
            <a:pPr>
              <a:defRPr sz="1600">
                <a:solidFill>
                  <a:srgbClr val="7F8C8D"/>
                </a:solidFill>
                <a:latin typeface="Microsoft YaHei"/>
              </a:defRPr>
            </a:pPr>
            <a:r>
              <a:t>参数：A(脉冲幅值)</a:t>
            </a:r>
          </a:p>
          <a:p>
            <a:pPr>
              <a:defRPr sz="1200">
                <a:solidFill>
                  <a:srgbClr val="1A1A1A"/>
                </a:solidFill>
                <a:latin typeface="Microsoft YaHei"/>
              </a:defRPr>
            </a:pPr>
          </a:p>
          <a:p>
            <a:pPr>
              <a:defRPr sz="2200">
                <a:solidFill>
                  <a:srgbClr val="1F4E79"/>
                </a:solidFill>
                <a:latin typeface="Microsoft YaHei"/>
              </a:defRPr>
            </a:pPr>
            <a:r>
              <a:t>过程二：持续释放 → erfc拖尾</a:t>
            </a:r>
          </a:p>
          <a:p>
            <a:pPr>
              <a:defRPr sz="1700">
                <a:solidFill>
                  <a:srgbClr val="1A1A1A"/>
                </a:solidFill>
                <a:latin typeface="Microsoft YaHei"/>
              </a:defRPr>
            </a:pPr>
            <a:r>
              <a:t>生产期 → 残余示踪剂继续扩散</a:t>
            </a:r>
          </a:p>
          <a:p>
            <a:pPr>
              <a:defRPr sz="1700">
                <a:solidFill>
                  <a:srgbClr val="1A1A1A"/>
                </a:solidFill>
                <a:latin typeface="Microsoft YaHei"/>
              </a:defRPr>
            </a:pPr>
            <a:r>
              <a:t>信号弱但持久 → 长拖尾</a:t>
            </a:r>
          </a:p>
          <a:p>
            <a:pPr>
              <a:defRPr sz="1700">
                <a:solidFill>
                  <a:srgbClr val="1A1A1A"/>
                </a:solidFill>
                <a:latin typeface="Microsoft YaHei"/>
              </a:defRPr>
            </a:pPr>
            <a:r>
              <a:t>数学：erfc函数 C_fall(t)</a:t>
            </a:r>
          </a:p>
          <a:p>
            <a:pPr>
              <a:defRPr sz="1600">
                <a:solidFill>
                  <a:srgbClr val="7F8C8D"/>
                </a:solidFill>
                <a:latin typeface="Microsoft YaHei"/>
              </a:defRPr>
            </a:pPr>
            <a:r>
              <a:t>参数：a(拖尾幅值), cb(尾台浓度)</a:t>
            </a:r>
          </a:p>
        </p:txBody>
      </p:sp>
      <p:sp>
        <p:nvSpPr>
          <p:cNvPr id="6" name="TextBox 5"/>
          <p:cNvSpPr txBox="1"/>
          <p:nvPr/>
        </p:nvSpPr>
        <p:spPr>
          <a:xfrm>
            <a:off x="6583680" y="1463040"/>
            <a:ext cx="5029200" cy="475488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平滑过渡：tanh函数</a:t>
            </a:r>
          </a:p>
          <a:p>
            <a:pPr>
              <a:defRPr sz="2000">
                <a:solidFill>
                  <a:srgbClr val="1A1A1A"/>
                </a:solidFill>
                <a:latin typeface="Microsoft YaHei"/>
              </a:defRPr>
            </a:pPr>
            <a:r>
              <a:t>w(t) = ½[1 + tanh((t₀-t)/σ)]</a:t>
            </a:r>
          </a:p>
          <a:p>
            <a:pPr>
              <a:defRPr sz="1700">
                <a:solidFill>
                  <a:srgbClr val="1A1A1A"/>
                </a:solidFill>
                <a:latin typeface="Microsoft YaHei"/>
              </a:defRPr>
            </a:pPr>
            <a:r>
              <a:t>早期(w→1)：高斯主导</a:t>
            </a:r>
          </a:p>
          <a:p>
            <a:pPr>
              <a:defRPr sz="1700">
                <a:solidFill>
                  <a:srgbClr val="1A1A1A"/>
                </a:solidFill>
                <a:latin typeface="Microsoft YaHei"/>
              </a:defRPr>
            </a:pPr>
            <a:r>
              <a:t>过渡(0&lt;w&lt;1)：两者混合</a:t>
            </a:r>
          </a:p>
          <a:p>
            <a:pPr>
              <a:defRPr sz="1700">
                <a:solidFill>
                  <a:srgbClr val="1A1A1A"/>
                </a:solidFill>
                <a:latin typeface="Microsoft YaHei"/>
              </a:defRPr>
            </a:pPr>
            <a:r>
              <a:t>后期(w→0)：erfc主导</a:t>
            </a:r>
          </a:p>
          <a:p>
            <a:pPr>
              <a:defRPr sz="1600">
                <a:solidFill>
                  <a:srgbClr val="7F8C8D"/>
                </a:solidFill>
                <a:latin typeface="Microsoft YaHei"/>
              </a:defRPr>
            </a:pPr>
            <a:r>
              <a:t>σ = 4 min (固定为采样间隔)</a:t>
            </a:r>
          </a:p>
          <a:p>
            <a:pPr>
              <a:defRPr sz="1200">
                <a:solidFill>
                  <a:srgbClr val="1A1A1A"/>
                </a:solidFill>
                <a:latin typeface="Microsoft YaHei"/>
              </a:defRPr>
            </a:pPr>
          </a:p>
          <a:p>
            <a:pPr>
              <a:defRPr sz="2200">
                <a:solidFill>
                  <a:srgbClr val="1F4E79"/>
                </a:solidFill>
                <a:latin typeface="Microsoft YaHei"/>
              </a:defRPr>
            </a:pPr>
            <a:r>
              <a:t>完整模型：</a:t>
            </a:r>
          </a:p>
          <a:p>
            <a:pPr>
              <a:defRPr sz="2000">
                <a:solidFill>
                  <a:srgbClr val="1A1A1A"/>
                </a:solidFill>
                <a:latin typeface="Microsoft YaHei"/>
              </a:defRPr>
            </a:pPr>
            <a:r>
              <a:t>C(t) = w(t)·C_rise + [1-w(t)]·C_fall + cb</a:t>
            </a:r>
          </a:p>
          <a:p>
            <a:pPr>
              <a:defRPr sz="800">
                <a:solidFill>
                  <a:srgbClr val="1A1A1A"/>
                </a:solidFill>
                <a:latin typeface="Microsoft YaHei"/>
              </a:defRPr>
            </a:pPr>
          </a:p>
          <a:p>
            <a:pPr>
              <a:defRPr sz="1700">
                <a:solidFill>
                  <a:srgbClr val="1A1A1A"/>
                </a:solidFill>
                <a:latin typeface="Microsoft YaHei"/>
              </a:defRPr>
            </a:pPr>
            <a:r>
              <a:t>6个自由参数：cb, A, a, α, Q, t₀</a:t>
            </a:r>
          </a:p>
          <a:p>
            <a:pPr>
              <a:defRPr sz="1700">
                <a:solidFill>
                  <a:srgbClr val="C0392B"/>
                </a:solidFill>
                <a:latin typeface="Microsoft YaHei"/>
              </a:defRPr>
            </a:pPr>
            <a:r>
              <a:t>关键：Q(流量)可从浓度数据直接拟合恢复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3. 实验方案与材料设计</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单相驱替模拟焖井-开井 + 两相流验证</a:t>
            </a:r>
          </a:p>
        </p:txBody>
      </p:sp>
      <p:sp>
        <p:nvSpPr>
          <p:cNvPr id="5" name="TextBox 4"/>
          <p:cNvSpPr txBox="1"/>
          <p:nvPr/>
        </p:nvSpPr>
        <p:spPr>
          <a:xfrm>
            <a:off x="731520" y="1463040"/>
            <a:ext cx="5303520" cy="475488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ESP-T示踪支撑剂制备</a:t>
            </a:r>
          </a:p>
          <a:p>
            <a:pPr>
              <a:defRPr sz="1700">
                <a:solidFill>
                  <a:srgbClr val="1A1A1A"/>
                </a:solidFill>
                <a:latin typeface="Microsoft YaHei"/>
              </a:defRPr>
            </a:pPr>
            <a:r>
              <a:t>● 共沉淀法合成Mn掺杂Fe₃O₄纳米颗粒</a:t>
            </a:r>
          </a:p>
          <a:p>
            <a:pPr>
              <a:defRPr sz="1700">
                <a:solidFill>
                  <a:srgbClr val="1A1A1A"/>
                </a:solidFill>
                <a:latin typeface="Microsoft YaHei"/>
              </a:defRPr>
            </a:pPr>
            <a:r>
              <a:t>● 硬脂酸(SA)表面修饰 → 亲油化</a:t>
            </a:r>
          </a:p>
          <a:p>
            <a:pPr>
              <a:defRPr sz="1700">
                <a:solidFill>
                  <a:srgbClr val="1A1A1A"/>
                </a:solidFill>
                <a:latin typeface="Microsoft YaHei"/>
              </a:defRPr>
            </a:pPr>
            <a:r>
              <a:t>● 乳液聚合封装于环氧树脂(E51)微球</a:t>
            </a:r>
          </a:p>
          <a:p>
            <a:pPr>
              <a:defRPr sz="1700">
                <a:solidFill>
                  <a:srgbClr val="27AE60"/>
                </a:solidFill>
                <a:latin typeface="Microsoft YaHei"/>
              </a:defRPr>
            </a:pPr>
            <a:r>
              <a:t>● 可掺杂多种金属/稀土 → 化学编码</a:t>
            </a:r>
          </a:p>
          <a:p>
            <a:pPr>
              <a:defRPr sz="1000">
                <a:solidFill>
                  <a:srgbClr val="1A1A1A"/>
                </a:solidFill>
                <a:latin typeface="Microsoft YaHei"/>
              </a:defRPr>
            </a:pPr>
          </a:p>
          <a:p>
            <a:pPr>
              <a:defRPr sz="2200">
                <a:solidFill>
                  <a:srgbClr val="1F4E79"/>
                </a:solidFill>
                <a:latin typeface="Microsoft YaHei"/>
              </a:defRPr>
            </a:pPr>
            <a:r>
              <a:t>释放动力学实验</a:t>
            </a:r>
          </a:p>
          <a:p>
            <a:pPr>
              <a:defRPr sz="1700">
                <a:solidFill>
                  <a:srgbClr val="1A1A1A"/>
                </a:solidFill>
                <a:latin typeface="Microsoft YaHei"/>
              </a:defRPr>
            </a:pPr>
            <a:r>
              <a:t>● 30/60/90/120°C × 14天 × ICP-MS检测</a:t>
            </a:r>
          </a:p>
          <a:p>
            <a:pPr>
              <a:defRPr sz="1700">
                <a:solidFill>
                  <a:srgbClr val="1A1A1A"/>
                </a:solidFill>
                <a:latin typeface="Microsoft YaHei"/>
              </a:defRPr>
            </a:pPr>
            <a:r>
              <a:t>● K-P模型拟合: C/C₀ = K·tⁿ</a:t>
            </a:r>
          </a:p>
          <a:p>
            <a:pPr>
              <a:defRPr sz="1700">
                <a:solidFill>
                  <a:srgbClr val="1A1A1A"/>
                </a:solidFill>
                <a:latin typeface="Microsoft YaHei"/>
              </a:defRPr>
            </a:pPr>
            <a:r>
              <a:t>● n∈[0.45,0.85] → 异常输运(扩散+松弛)</a:t>
            </a:r>
          </a:p>
        </p:txBody>
      </p:sp>
      <p:sp>
        <p:nvSpPr>
          <p:cNvPr id="6" name="TextBox 5"/>
          <p:cNvSpPr txBox="1"/>
          <p:nvPr/>
        </p:nvSpPr>
        <p:spPr>
          <a:xfrm>
            <a:off x="6583680" y="1463040"/>
            <a:ext cx="5029200" cy="475488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单相驱替实验 (§3.7)</a:t>
            </a:r>
          </a:p>
          <a:p>
            <a:pPr>
              <a:defRPr sz="1700">
                <a:solidFill>
                  <a:srgbClr val="1A1A1A"/>
                </a:solidFill>
                <a:latin typeface="Microsoft YaHei"/>
              </a:defRPr>
            </a:pPr>
            <a:r>
              <a:t>钢芯装填ESP-T → 饱和油 → 静置96h(关井)</a:t>
            </a:r>
          </a:p>
          <a:p>
            <a:pPr>
              <a:defRPr sz="1700">
                <a:solidFill>
                  <a:srgbClr val="1A1A1A"/>
                </a:solidFill>
                <a:latin typeface="Microsoft YaHei"/>
              </a:defRPr>
            </a:pPr>
            <a:r>
              <a:t>→ 0.5 mL/min开井 → 每4min采样</a:t>
            </a:r>
          </a:p>
          <a:p>
            <a:pPr>
              <a:defRPr sz="1700">
                <a:solidFill>
                  <a:srgbClr val="1A1A1A"/>
                </a:solidFill>
                <a:latin typeface="Microsoft YaHei"/>
              </a:defRPr>
            </a:pPr>
            <a:r>
              <a:t>→ 得到完整BTC (21个数据点)</a:t>
            </a:r>
          </a:p>
          <a:p>
            <a:pPr>
              <a:defRPr sz="1000">
                <a:solidFill>
                  <a:srgbClr val="1A1A1A"/>
                </a:solidFill>
                <a:latin typeface="Microsoft YaHei"/>
              </a:defRPr>
            </a:pPr>
          </a:p>
          <a:p>
            <a:pPr>
              <a:defRPr sz="2200">
                <a:solidFill>
                  <a:srgbClr val="1F4E79"/>
                </a:solidFill>
                <a:latin typeface="Microsoft YaHei"/>
              </a:defRPr>
            </a:pPr>
            <a:r>
              <a:t>两相驱替实验 (§3.8)</a:t>
            </a:r>
          </a:p>
          <a:p>
            <a:pPr>
              <a:defRPr sz="1700">
                <a:solidFill>
                  <a:srgbClr val="1A1A1A"/>
                </a:solidFill>
                <a:latin typeface="Microsoft YaHei"/>
              </a:defRPr>
            </a:pPr>
            <a:r>
              <a:t>油水比 4:1 / 1:1 / 1:4</a:t>
            </a:r>
          </a:p>
          <a:p>
            <a:pPr>
              <a:defRPr sz="1700">
                <a:solidFill>
                  <a:srgbClr val="1A1A1A"/>
                </a:solidFill>
                <a:latin typeface="Microsoft YaHei"/>
              </a:defRPr>
            </a:pPr>
            <a:r>
              <a:t>总流量 0.1-0.4 mL/min</a:t>
            </a:r>
          </a:p>
          <a:p>
            <a:pPr>
              <a:defRPr sz="1700">
                <a:solidFill>
                  <a:srgbClr val="1A1A1A"/>
                </a:solidFill>
                <a:latin typeface="Microsoft YaHei"/>
              </a:defRPr>
            </a:pPr>
            <a:r>
              <a:t>稳态条件 → 通量FO代替浓度</a:t>
            </a:r>
          </a:p>
          <a:p>
            <a:pPr>
              <a:defRPr sz="1000">
                <a:solidFill>
                  <a:srgbClr val="1A1A1A"/>
                </a:solidFill>
                <a:latin typeface="Microsoft YaHei"/>
              </a:defRPr>
            </a:pPr>
          </a:p>
          <a:p>
            <a:pPr>
              <a:defRPr sz="2200">
                <a:solidFill>
                  <a:srgbClr val="1F4E79"/>
                </a:solidFill>
                <a:latin typeface="Microsoft YaHei"/>
              </a:defRPr>
            </a:pPr>
            <a:r>
              <a:t>材料性能 (ESP-T)</a:t>
            </a:r>
          </a:p>
          <a:p>
            <a:pPr>
              <a:defRPr sz="1700">
                <a:solidFill>
                  <a:srgbClr val="1A1A1A"/>
                </a:solidFill>
                <a:latin typeface="Microsoft YaHei"/>
              </a:defRPr>
            </a:pPr>
            <a:r>
              <a:t>● 热稳定性: 357°C (远超井温80-200°C)</a:t>
            </a:r>
          </a:p>
          <a:p>
            <a:pPr>
              <a:defRPr sz="1700">
                <a:solidFill>
                  <a:srgbClr val="1A1A1A"/>
                </a:solidFill>
                <a:latin typeface="Microsoft YaHei"/>
              </a:defRPr>
            </a:pPr>
            <a:r>
              <a:t>● 密度: 0.65 g/cm³ (自悬浮，低於水)</a:t>
            </a:r>
          </a:p>
          <a:p>
            <a:pPr>
              <a:defRPr sz="1700">
                <a:solidFill>
                  <a:srgbClr val="1A1A1A"/>
                </a:solidFill>
                <a:latin typeface="Microsoft YaHei"/>
              </a:defRPr>
            </a:pPr>
            <a:r>
              <a:t>● 接触角: 104.6° (亲油疏水)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4. 模型验证：四重证据</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模型不是"凑数"——参数自校准证明物理合理性</a:t>
            </a:r>
          </a:p>
        </p:txBody>
      </p:sp>
      <p:sp>
        <p:nvSpPr>
          <p:cNvPr id="5" name="TextBox 4"/>
          <p:cNvSpPr txBox="1"/>
          <p:nvPr/>
        </p:nvSpPr>
        <p:spPr>
          <a:xfrm>
            <a:off x="731520" y="1463040"/>
            <a:ext cx="5303520" cy="4754880"/>
          </a:xfrm>
          <a:prstGeom prst="rect">
            <a:avLst/>
          </a:prstGeom>
          <a:noFill/>
        </p:spPr>
        <p:txBody>
          <a:bodyPr wrap="square">
            <a:spAutoFit/>
          </a:bodyPr>
          <a:lstStyle/>
          <a:p>
            <a:pPr algn="l">
              <a:defRPr sz="1600" b="0">
                <a:solidFill>
                  <a:srgbClr val="1A1A1A"/>
                </a:solidFill>
                <a:latin typeface="Microsoft YaHei"/>
              </a:defRPr>
            </a:pPr>
          </a:p>
          <a:p>
            <a:pPr>
              <a:defRPr sz="2400">
                <a:solidFill>
                  <a:srgbClr val="C0392B"/>
                </a:solidFill>
                <a:latin typeface="Microsoft YaHei"/>
              </a:defRPr>
            </a:pPr>
            <a:r>
              <a:t>① 流量Q恢复 (最有力)</a:t>
            </a:r>
          </a:p>
          <a:p>
            <a:pPr>
              <a:defRPr sz="2000">
                <a:solidFill>
                  <a:srgbClr val="1A1A1A"/>
                </a:solidFill>
                <a:latin typeface="Microsoft YaHei"/>
              </a:defRPr>
            </a:pPr>
            <a:r>
              <a:t>拟合值: Q = 0.46 mL/min</a:t>
            </a:r>
          </a:p>
          <a:p>
            <a:pPr>
              <a:defRPr sz="2000">
                <a:solidFill>
                  <a:srgbClr val="1A1A1A"/>
                </a:solidFill>
                <a:latin typeface="Microsoft YaHei"/>
              </a:defRPr>
            </a:pPr>
            <a:r>
              <a:t>泵设定: 0.50 mL/min</a:t>
            </a:r>
          </a:p>
          <a:p>
            <a:pPr>
              <a:defRPr sz="2000">
                <a:solidFill>
                  <a:srgbClr val="C0392B"/>
                </a:solidFill>
                <a:latin typeface="Microsoft YaHei"/>
              </a:defRPr>
            </a:pPr>
            <a:r>
              <a:t>误差: 8% — Q是从浓度数据"读"出来的</a:t>
            </a:r>
          </a:p>
          <a:p>
            <a:pPr>
              <a:defRPr sz="1000">
                <a:solidFill>
                  <a:srgbClr val="1A1A1A"/>
                </a:solidFill>
                <a:latin typeface="Microsoft YaHei"/>
              </a:defRPr>
            </a:pPr>
          </a:p>
          <a:p>
            <a:pPr>
              <a:defRPr sz="2400">
                <a:solidFill>
                  <a:srgbClr val="1F4E79"/>
                </a:solidFill>
                <a:latin typeface="Microsoft YaHei"/>
              </a:defRPr>
            </a:pPr>
            <a:r>
              <a:t>② 停留时间MRT</a:t>
            </a:r>
          </a:p>
          <a:p>
            <a:pPr>
              <a:defRPr sz="1800">
                <a:solidFill>
                  <a:srgbClr val="1A1A1A"/>
                </a:solidFill>
                <a:latin typeface="Microsoft YaHei"/>
              </a:defRPr>
            </a:pPr>
            <a:r>
              <a:t>拟合: 37.4 min  vs  计算(管长/流速): 38.6 min</a:t>
            </a:r>
          </a:p>
          <a:p>
            <a:pPr>
              <a:defRPr sz="2000">
                <a:solidFill>
                  <a:srgbClr val="1F4E79"/>
                </a:solidFill>
                <a:latin typeface="Microsoft YaHei"/>
              </a:defRPr>
            </a:pPr>
            <a:r>
              <a:t>误差: 3%</a:t>
            </a:r>
          </a:p>
          <a:p>
            <a:pPr>
              <a:defRPr sz="1000">
                <a:solidFill>
                  <a:srgbClr val="1A1A1A"/>
                </a:solidFill>
                <a:latin typeface="Microsoft YaHei"/>
              </a:defRPr>
            </a:pPr>
          </a:p>
          <a:p>
            <a:pPr>
              <a:defRPr sz="2400">
                <a:solidFill>
                  <a:srgbClr val="1F4E79"/>
                </a:solidFill>
                <a:latin typeface="Microsoft YaHei"/>
              </a:defRPr>
            </a:pPr>
            <a:r>
              <a:t>③ Peclet数 (Pe = x/α = 0.934)</a:t>
            </a:r>
          </a:p>
          <a:p>
            <a:pPr>
              <a:defRPr sz="1800">
                <a:solidFill>
                  <a:srgbClr val="1A1A1A"/>
                </a:solidFill>
                <a:latin typeface="Microsoft YaHei"/>
              </a:defRPr>
            </a:pPr>
            <a:r>
              <a:t>≈1 → 对流与弥散各半 → 渐变释放特征</a:t>
            </a:r>
          </a:p>
          <a:p>
            <a:pPr>
              <a:defRPr sz="1800">
                <a:solidFill>
                  <a:srgbClr val="7F8C8D"/>
                </a:solidFill>
                <a:latin typeface="Microsoft YaHei"/>
              </a:defRPr>
            </a:pPr>
            <a:r>
              <a:t>与K-P结果(n=0.45-0.85)独立一致</a:t>
            </a:r>
          </a:p>
        </p:txBody>
      </p:sp>
      <p:sp>
        <p:nvSpPr>
          <p:cNvPr id="6" name="TextBox 5"/>
          <p:cNvSpPr txBox="1"/>
          <p:nvPr/>
        </p:nvSpPr>
        <p:spPr>
          <a:xfrm>
            <a:off x="6583680" y="1463040"/>
            <a:ext cx="5029200" cy="4754880"/>
          </a:xfrm>
          <a:prstGeom prst="rect">
            <a:avLst/>
          </a:prstGeom>
          <a:noFill/>
        </p:spPr>
        <p:txBody>
          <a:bodyPr wrap="square">
            <a:spAutoFit/>
          </a:bodyPr>
          <a:lstStyle/>
          <a:p>
            <a:pPr algn="l">
              <a:defRPr sz="1600" b="0">
                <a:solidFill>
                  <a:srgbClr val="1A1A1A"/>
                </a:solidFill>
                <a:latin typeface="Microsoft YaHei"/>
              </a:defRPr>
            </a:pPr>
          </a:p>
          <a:p>
            <a:pPr>
              <a:defRPr sz="2400">
                <a:solidFill>
                  <a:srgbClr val="C0392B"/>
                </a:solidFill>
                <a:latin typeface="Microsoft YaHei"/>
              </a:defRPr>
            </a:pPr>
            <a:r>
              <a:t>④ 模型必要性：简单模型够用吗？</a:t>
            </a:r>
          </a:p>
          <a:p>
            <a:pPr>
              <a:defRPr sz="800">
                <a:solidFill>
                  <a:srgbClr val="1A1A1A"/>
                </a:solidFill>
                <a:latin typeface="Microsoft YaHei"/>
              </a:defRPr>
            </a:pPr>
          </a:p>
          <a:p>
            <a:pPr>
              <a:defRPr sz="2000">
                <a:solidFill>
                  <a:srgbClr val="1A1A1A"/>
                </a:solidFill>
                <a:latin typeface="Microsoft YaHei"/>
              </a:defRPr>
            </a:pPr>
            <a:r>
              <a:t>单高斯: R²=0.948</a:t>
            </a:r>
          </a:p>
          <a:p>
            <a:pPr>
              <a:defRPr sz="1700">
                <a:solidFill>
                  <a:srgbClr val="C0392B"/>
                </a:solidFill>
                <a:latin typeface="Microsoft YaHei"/>
              </a:defRPr>
            </a:pPr>
            <a:r>
              <a:t>→ 50min后拖尾完全偏离</a:t>
            </a:r>
          </a:p>
          <a:p>
            <a:pPr>
              <a:defRPr sz="2000">
                <a:solidFill>
                  <a:srgbClr val="1A1A1A"/>
                </a:solidFill>
                <a:latin typeface="Microsoft YaHei"/>
              </a:defRPr>
            </a:pPr>
            <a:r>
              <a:t>单erfc: R²=0.716</a:t>
            </a:r>
          </a:p>
          <a:p>
            <a:pPr>
              <a:defRPr sz="1700">
                <a:solidFill>
                  <a:srgbClr val="C0392B"/>
                </a:solidFill>
                <a:latin typeface="Microsoft YaHei"/>
              </a:defRPr>
            </a:pPr>
            <a:r>
              <a:t>→ 峰值完全丢失</a:t>
            </a:r>
          </a:p>
          <a:p>
            <a:pPr>
              <a:defRPr sz="2000">
                <a:solidFill>
                  <a:srgbClr val="7F8C8D"/>
                </a:solidFill>
                <a:latin typeface="Microsoft YaHei"/>
              </a:defRPr>
            </a:pPr>
            <a:r>
              <a:t>指数衰减: R²=0.752</a:t>
            </a:r>
          </a:p>
          <a:p>
            <a:pPr>
              <a:defRPr sz="2000">
                <a:solidFill>
                  <a:srgbClr val="7F8C8D"/>
                </a:solidFill>
                <a:latin typeface="Microsoft YaHei"/>
              </a:defRPr>
            </a:pPr>
            <a:r>
              <a:t>K-P幂律: R²=-0.019 (完全不行)</a:t>
            </a:r>
          </a:p>
          <a:p>
            <a:pPr>
              <a:defRPr sz="800">
                <a:solidFill>
                  <a:srgbClr val="1A1A1A"/>
                </a:solidFill>
                <a:latin typeface="Microsoft YaHei"/>
              </a:defRPr>
            </a:pPr>
          </a:p>
          <a:p>
            <a:pPr>
              <a:defRPr sz="2400">
                <a:solidFill>
                  <a:srgbClr val="1F4E79"/>
                </a:solidFill>
                <a:latin typeface="Microsoft YaHei"/>
              </a:defRPr>
            </a:pPr>
            <a:r>
              <a:t>统计检验</a:t>
            </a:r>
          </a:p>
          <a:p>
            <a:pPr>
              <a:defRPr sz="1800">
                <a:solidFill>
                  <a:srgbClr val="1A1A1A"/>
                </a:solidFill>
                <a:latin typeface="Microsoft YaHei"/>
              </a:defRPr>
            </a:pPr>
            <a:r>
              <a:t>ΔAICc = 32.7 (阈值: &gt;10 = 决定性优势)</a:t>
            </a:r>
          </a:p>
          <a:p>
            <a:pPr>
              <a:defRPr sz="1800">
                <a:solidFill>
                  <a:srgbClr val="1A1A1A"/>
                </a:solidFill>
                <a:latin typeface="Microsoft YaHei"/>
              </a:defRPr>
            </a:pPr>
            <a:r>
              <a:t>F(3,14)=34.7, p&lt;0.0001</a:t>
            </a:r>
          </a:p>
          <a:p>
            <a:pPr>
              <a:defRPr sz="1800">
                <a:solidFill>
                  <a:srgbClr val="1A1A1A"/>
                </a:solidFill>
                <a:latin typeface="Microsoft YaHei"/>
              </a:defRPr>
            </a:pPr>
            <a:r>
              <a:t>Akaike权重 &gt;0.9999</a:t>
            </a:r>
          </a:p>
          <a:p>
            <a:pPr>
              <a:defRPr sz="2000">
                <a:solidFill>
                  <a:srgbClr val="27AE60"/>
                </a:solidFill>
                <a:latin typeface="Microsoft YaHei"/>
              </a:defRPr>
            </a:pPr>
            <a:r>
              <a:t>→ 双组分结构是必要的，非过度拟合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5. 核心发现：47%信号来自持续释放</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σ稳健性 + 温度可预测性 + 工程含义</a:t>
            </a:r>
          </a:p>
        </p:txBody>
      </p:sp>
      <p:sp>
        <p:nvSpPr>
          <p:cNvPr id="5" name="TextBox 4"/>
          <p:cNvSpPr txBox="1"/>
          <p:nvPr/>
        </p:nvSpPr>
        <p:spPr>
          <a:xfrm>
            <a:off x="731520" y="1463040"/>
            <a:ext cx="5303520" cy="4754880"/>
          </a:xfrm>
          <a:prstGeom prst="rect">
            <a:avLst/>
          </a:prstGeom>
          <a:noFill/>
        </p:spPr>
        <p:txBody>
          <a:bodyPr wrap="square">
            <a:spAutoFit/>
          </a:bodyPr>
          <a:lstStyle/>
          <a:p>
            <a:pPr algn="l">
              <a:defRPr sz="1600" b="0">
                <a:solidFill>
                  <a:srgbClr val="1A1A1A"/>
                </a:solidFill>
                <a:latin typeface="Microsoft YaHei"/>
              </a:defRPr>
            </a:pPr>
          </a:p>
          <a:p>
            <a:pPr>
              <a:defRPr sz="2400">
                <a:solidFill>
                  <a:srgbClr val="1F4E79"/>
                </a:solidFill>
                <a:latin typeface="Microsoft YaHei"/>
              </a:defRPr>
            </a:pPr>
            <a:r>
              <a:t>信号分解结果</a:t>
            </a:r>
          </a:p>
          <a:p>
            <a:pPr>
              <a:defRPr sz="2000">
                <a:solidFill>
                  <a:srgbClr val="1A1A1A"/>
                </a:solidFill>
                <a:latin typeface="Microsoft YaHei"/>
              </a:defRPr>
            </a:pPr>
            <a:r>
              <a:t>BTC面积中: 47% erfc拖尾 + 53% 高斯脉冲</a:t>
            </a:r>
          </a:p>
          <a:p>
            <a:pPr>
              <a:defRPr sz="2000">
                <a:solidFill>
                  <a:srgbClr val="C0392B"/>
                </a:solidFill>
                <a:latin typeface="Microsoft YaHei"/>
              </a:defRPr>
            </a:pPr>
            <a:r>
              <a:t>→ 近一半信号来自持续扩散，非关井段塞</a:t>
            </a:r>
          </a:p>
          <a:p>
            <a:pPr>
              <a:defRPr sz="1200">
                <a:solidFill>
                  <a:srgbClr val="1A1A1A"/>
                </a:solidFill>
                <a:latin typeface="Microsoft YaHei"/>
              </a:defRPr>
            </a:pPr>
          </a:p>
          <a:p>
            <a:pPr>
              <a:defRPr sz="2200">
                <a:solidFill>
                  <a:srgbClr val="1F4E79"/>
                </a:solidFill>
                <a:latin typeface="Microsoft YaHei"/>
              </a:defRPr>
            </a:pPr>
            <a:r>
              <a:t>σ稳健性分析 (过渡宽度敏感度)</a:t>
            </a:r>
          </a:p>
          <a:p>
            <a:pPr>
              <a:defRPr sz="1800">
                <a:solidFill>
                  <a:srgbClr val="1A1A1A"/>
                </a:solidFill>
                <a:latin typeface="Microsoft YaHei"/>
              </a:defRPr>
            </a:pPr>
            <a:r>
              <a:t>σ从2min→12min (6倍范围)</a:t>
            </a:r>
          </a:p>
          <a:p>
            <a:pPr>
              <a:defRPr sz="1800">
                <a:solidFill>
                  <a:srgbClr val="1A1A1A"/>
                </a:solidFill>
                <a:latin typeface="Microsoft YaHei"/>
              </a:defRPr>
            </a:pPr>
            <a:r>
              <a:t>拖尾占比: 46.8% → 47.5%</a:t>
            </a:r>
          </a:p>
          <a:p>
            <a:pPr>
              <a:defRPr sz="2000">
                <a:solidFill>
                  <a:srgbClr val="27AE60"/>
                </a:solidFill>
                <a:latin typeface="Microsoft YaHei"/>
              </a:defRPr>
            </a:pPr>
            <a:r>
              <a:t>变化: &lt;1个百分点</a:t>
            </a:r>
          </a:p>
          <a:p>
            <a:pPr>
              <a:defRPr sz="1800">
                <a:solidFill>
                  <a:srgbClr val="27AE60"/>
                </a:solidFill>
                <a:latin typeface="Microsoft YaHei"/>
              </a:defRPr>
            </a:pPr>
            <a:r>
              <a:t>→ 47%不是"选参数选出来的"</a:t>
            </a:r>
          </a:p>
        </p:txBody>
      </p:sp>
      <p:sp>
        <p:nvSpPr>
          <p:cNvPr id="6" name="TextBox 5"/>
          <p:cNvSpPr txBox="1"/>
          <p:nvPr/>
        </p:nvSpPr>
        <p:spPr>
          <a:xfrm>
            <a:off x="6583680" y="1463040"/>
            <a:ext cx="5029200" cy="4754880"/>
          </a:xfrm>
          <a:prstGeom prst="rect">
            <a:avLst/>
          </a:prstGeom>
          <a:noFill/>
        </p:spPr>
        <p:txBody>
          <a:bodyPr wrap="square">
            <a:spAutoFit/>
          </a:bodyPr>
          <a:lstStyle/>
          <a:p>
            <a:pPr algn="l">
              <a:defRPr sz="1600" b="0">
                <a:solidFill>
                  <a:srgbClr val="1A1A1A"/>
                </a:solidFill>
                <a:latin typeface="Microsoft YaHei"/>
              </a:defRPr>
            </a:pPr>
          </a:p>
          <a:p>
            <a:pPr>
              <a:defRPr sz="2400">
                <a:solidFill>
                  <a:srgbClr val="1F4E79"/>
                </a:solidFill>
                <a:latin typeface="Microsoft YaHei"/>
              </a:defRPr>
            </a:pPr>
            <a:r>
              <a:t>温度可预测性</a:t>
            </a:r>
          </a:p>
          <a:p>
            <a:pPr>
              <a:defRPr sz="1800">
                <a:solidFill>
                  <a:srgbClr val="1A1A1A"/>
                </a:solidFill>
                <a:latin typeface="Microsoft YaHei"/>
              </a:defRPr>
            </a:pPr>
            <a:r>
              <a:t>K-P结果: K(120°C)/K(30°C) = 3.56</a:t>
            </a:r>
          </a:p>
          <a:p>
            <a:pPr>
              <a:defRPr sz="1800">
                <a:solidFill>
                  <a:srgbClr val="1A1A1A"/>
                </a:solidFill>
                <a:latin typeface="Microsoft YaHei"/>
              </a:defRPr>
            </a:pPr>
            <a:r>
              <a:t>预测: cb也增加约3.6倍</a:t>
            </a:r>
          </a:p>
          <a:p>
            <a:pPr>
              <a:defRPr sz="1800">
                <a:solidFill>
                  <a:srgbClr val="27AE60"/>
                </a:solidFill>
                <a:latin typeface="Microsoft YaHei"/>
              </a:defRPr>
            </a:pPr>
            <a:r>
              <a:t>→ 高温井中示踪信号更强</a:t>
            </a:r>
          </a:p>
          <a:p>
            <a:pPr>
              <a:defRPr sz="1600">
                <a:solidFill>
                  <a:srgbClr val="7F8C8D"/>
                </a:solidFill>
                <a:latin typeface="Microsoft YaHei"/>
              </a:defRPr>
            </a:pPr>
            <a:r>
              <a:t>(待多温BTC实验验证)</a:t>
            </a:r>
          </a:p>
          <a:p>
            <a:pPr>
              <a:defRPr sz="1200">
                <a:solidFill>
                  <a:srgbClr val="1A1A1A"/>
                </a:solidFill>
                <a:latin typeface="Microsoft YaHei"/>
              </a:defRPr>
            </a:pPr>
          </a:p>
          <a:p>
            <a:pPr>
              <a:defRPr sz="2400">
                <a:solidFill>
                  <a:srgbClr val="C0392B"/>
                </a:solidFill>
                <a:latin typeface="Microsoft YaHei"/>
              </a:defRPr>
            </a:pPr>
            <a:r>
              <a:t>工程含义</a:t>
            </a:r>
          </a:p>
          <a:p>
            <a:pPr>
              <a:defRPr sz="2000">
                <a:solidFill>
                  <a:srgbClr val="1A1A1A"/>
                </a:solidFill>
                <a:latin typeface="Microsoft YaHei"/>
              </a:defRPr>
            </a:pPr>
            <a:r>
              <a:t>一次焖井 → 定期井口采样 →</a:t>
            </a:r>
          </a:p>
          <a:p>
            <a:pPr>
              <a:defRPr sz="2000">
                <a:solidFill>
                  <a:srgbClr val="1A1A1A"/>
                </a:solidFill>
                <a:latin typeface="Microsoft YaHei"/>
              </a:defRPr>
            </a:pPr>
            <a:r>
              <a:t>长期监测信号持续 → 不需要反复关井</a:t>
            </a:r>
          </a:p>
          <a:p>
            <a:pPr>
              <a:defRPr sz="2000">
                <a:solidFill>
                  <a:srgbClr val="C0392B"/>
                </a:solidFill>
                <a:latin typeface="Microsoft YaHei"/>
              </a:defRPr>
            </a:pPr>
            <a:r>
              <a:t>→ 省成本、省产量损失</a:t>
            </a:r>
          </a:p>
          <a:p>
            <a:pPr>
              <a:defRPr sz="1200">
                <a:solidFill>
                  <a:srgbClr val="1A1A1A"/>
                </a:solidFill>
                <a:latin typeface="Microsoft YaHei"/>
              </a:defRPr>
            </a:pPr>
          </a:p>
          <a:p>
            <a:pPr>
              <a:defRPr sz="2200">
                <a:solidFill>
                  <a:srgbClr val="1F4E79"/>
                </a:solidFill>
                <a:latin typeface="Microsoft YaHei"/>
              </a:defRPr>
            </a:pPr>
            <a:r>
              <a:t>两相流结果</a:t>
            </a:r>
          </a:p>
          <a:p>
            <a:pPr>
              <a:defRPr sz="1800">
                <a:solidFill>
                  <a:srgbClr val="1A1A1A"/>
                </a:solidFill>
                <a:latin typeface="Microsoft YaHei"/>
              </a:defRPr>
            </a:pPr>
            <a:r>
              <a:t>通量FO = 浓度×油流量 → 不受水稀释</a:t>
            </a:r>
          </a:p>
          <a:p>
            <a:pPr>
              <a:defRPr sz="1800">
                <a:solidFill>
                  <a:srgbClr val="1A1A1A"/>
                </a:solidFill>
                <a:latin typeface="Microsoft YaHei"/>
              </a:defRPr>
            </a:pPr>
            <a:r>
              <a:t>FO vs 产量: r = 0.97, RMSD = 8.3%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6. 与已有工作的对比</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本文 vs Gong 2024(Fuel) vs Luo 2026(Colloids Surf A)</a:t>
            </a:r>
          </a:p>
        </p:txBody>
      </p:sp>
      <p:sp>
        <p:nvSpPr>
          <p:cNvPr id="5" name="TextBox 4"/>
          <p:cNvSpPr txBox="1"/>
          <p:nvPr/>
        </p:nvSpPr>
        <p:spPr>
          <a:xfrm>
            <a:off x="731520" y="1463040"/>
            <a:ext cx="10058400" cy="4754880"/>
          </a:xfrm>
          <a:prstGeom prst="rect">
            <a:avLst/>
          </a:prstGeom>
          <a:noFill/>
        </p:spPr>
        <p:txBody>
          <a:bodyPr wrap="square">
            <a:spAutoFit/>
          </a:bodyPr>
          <a:lstStyle/>
          <a:p>
            <a:pPr algn="l">
              <a:defRPr sz="1400" b="0">
                <a:solidFill>
                  <a:srgbClr val="1A1A1A"/>
                </a:solidFill>
                <a:latin typeface="Microsoft YaHei"/>
              </a:defRPr>
            </a:pPr>
          </a:p>
          <a:p>
            <a:pPr>
              <a:defRPr sz="1500">
                <a:solidFill>
                  <a:srgbClr val="1F4E79"/>
                </a:solidFill>
                <a:latin typeface="Microsoft YaHei"/>
              </a:defRPr>
            </a:pPr>
            <a:r>
              <a:t>对比维度                            Gong 2024 (Fuel)           Luo 2026 (Colloids Surf A)  本文 (ESP-T)               </a:t>
            </a:r>
          </a:p>
          <a:p>
            <a:pPr>
              <a:defRPr sz="1400">
                <a:solidFill>
                  <a:srgbClr val="1A1A1A"/>
                </a:solidFill>
                <a:latin typeface="Microsoft YaHei"/>
              </a:defRPr>
            </a:pPr>
            <a:r>
              <a:t>示踪剂载体                           PS微球                       聚合物包覆石英砂                   环氧树脂微球                   </a:t>
            </a:r>
          </a:p>
          <a:p>
            <a:pPr>
              <a:defRPr sz="1400">
                <a:solidFill>
                  <a:srgbClr val="1A1A1A"/>
                </a:solidFill>
                <a:latin typeface="Microsoft YaHei"/>
              </a:defRPr>
            </a:pPr>
            <a:r>
              <a:t>释放模型                            K-P                        K-P                        K-P (Mt/M∞&lt;0.6)          </a:t>
            </a:r>
          </a:p>
          <a:p>
            <a:pPr>
              <a:defRPr sz="1400">
                <a:solidFill>
                  <a:srgbClr val="1A1A1A"/>
                </a:solidFill>
                <a:latin typeface="Microsoft YaHei"/>
              </a:defRPr>
            </a:pPr>
            <a:r>
              <a:t>输运模型                            无                          单组分ADE                     双组分ADE (高斯+erfc+tanh)    </a:t>
            </a:r>
          </a:p>
          <a:p>
            <a:pPr>
              <a:defRPr sz="1400">
                <a:solidFill>
                  <a:srgbClr val="1A1A1A"/>
                </a:solidFill>
                <a:latin typeface="Microsoft YaHei"/>
              </a:defRPr>
            </a:pPr>
            <a:r>
              <a:t>BTC物理分解                         无                          无                          有：段塞(高斯)+拖尾(erfc)        </a:t>
            </a:r>
          </a:p>
          <a:p>
            <a:pPr>
              <a:defRPr sz="1400">
                <a:solidFill>
                  <a:srgbClr val="1A1A1A"/>
                </a:solidFill>
                <a:latin typeface="Microsoft YaHei"/>
              </a:defRPr>
            </a:pPr>
            <a:r>
              <a:t>参数自校准                           无                          无                          Q恢复8%, MRT恢复3%           </a:t>
            </a:r>
          </a:p>
          <a:p>
            <a:pPr>
              <a:defRPr sz="1400">
                <a:solidFill>
                  <a:srgbClr val="1A1A1A"/>
                </a:solidFill>
                <a:latin typeface="Microsoft YaHei"/>
              </a:defRPr>
            </a:pPr>
            <a:r>
              <a:t>统计验证                            仅R²                        仅R²                        R²+AICc+BIC+F-test       </a:t>
            </a:r>
          </a:p>
          <a:p>
            <a:pPr>
              <a:defRPr sz="1400">
                <a:solidFill>
                  <a:srgbClr val="1A1A1A"/>
                </a:solidFill>
                <a:latin typeface="Microsoft YaHei"/>
              </a:defRPr>
            </a:pPr>
            <a:r>
              <a:t>σ稳健性                            无                          无                          6倍范围&lt;1pp                 </a:t>
            </a:r>
          </a:p>
          <a:p>
            <a:pPr>
              <a:defRPr sz="1400">
                <a:solidFill>
                  <a:srgbClr val="1A1A1A"/>
                </a:solidFill>
                <a:latin typeface="Microsoft YaHei"/>
              </a:defRPr>
            </a:pPr>
            <a:r>
              <a:t>两相流验证                           无                          无                          FO法, r=0.97              </a:t>
            </a:r>
          </a:p>
          <a:p>
            <a:pPr>
              <a:defRPr sz="1400">
                <a:solidFill>
                  <a:srgbClr val="C0392B"/>
                </a:solidFill>
                <a:latin typeface="Microsoft YaHei"/>
              </a:defRPr>
            </a:pPr>
            <a:r>
              <a:t>工程意义                            定性：可监测                     定性：可监测                     定量：一次关井即可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7. 局限性</a:t>
            </a:r>
          </a:p>
        </p:txBody>
      </p:sp>
      <p:sp>
        <p:nvSpPr>
          <p:cNvPr id="4" name="TextBox 3"/>
          <p:cNvSpPr txBox="1"/>
          <p:nvPr/>
        </p:nvSpPr>
        <p:spPr>
          <a:xfrm>
            <a:off x="731520" y="640080"/>
            <a:ext cx="10058400" cy="365760"/>
          </a:xfrm>
          <a:prstGeom prst="rect">
            <a:avLst/>
          </a:prstGeom>
          <a:noFill/>
        </p:spPr>
        <p:txBody>
          <a:bodyPr wrap="square">
            <a:spAutoFit/>
          </a:bodyPr>
          <a:lstStyle/>
          <a:p>
            <a:pPr algn="l">
              <a:defRPr sz="1600" b="0">
                <a:solidFill>
                  <a:srgbClr val="BBCCDD"/>
                </a:solidFill>
                <a:latin typeface="Microsoft YaHei"/>
              </a:defRPr>
            </a:pPr>
            <a:r>
              <a:t>当前工作的边界</a:t>
            </a:r>
          </a:p>
        </p:txBody>
      </p:sp>
      <p:sp>
        <p:nvSpPr>
          <p:cNvPr id="5" name="TextBox 4"/>
          <p:cNvSpPr txBox="1"/>
          <p:nvPr/>
        </p:nvSpPr>
        <p:spPr>
          <a:xfrm>
            <a:off x="731520" y="1463040"/>
            <a:ext cx="10058400" cy="4754880"/>
          </a:xfrm>
          <a:prstGeom prst="rect">
            <a:avLst/>
          </a:prstGeom>
          <a:noFill/>
        </p:spPr>
        <p:txBody>
          <a:bodyPr wrap="square">
            <a:spAutoFit/>
          </a:bodyPr>
          <a:lstStyle/>
          <a:p>
            <a:pPr algn="l">
              <a:defRPr sz="1600" b="0">
                <a:solidFill>
                  <a:srgbClr val="1A1A1A"/>
                </a:solidFill>
                <a:latin typeface="Microsoft YaHei"/>
              </a:defRPr>
            </a:pPr>
          </a:p>
          <a:p>
            <a:pPr>
              <a:defRPr sz="2200">
                <a:solidFill>
                  <a:srgbClr val="1F4E79"/>
                </a:solidFill>
                <a:latin typeface="Microsoft YaHei"/>
              </a:defRPr>
            </a:pPr>
            <a:r>
              <a:t>1. 单段假设</a:t>
            </a:r>
          </a:p>
          <a:p>
            <a:pPr>
              <a:defRPr sz="1700">
                <a:solidFill>
                  <a:srgbClr val="1A1A1A"/>
                </a:solidFill>
                <a:latin typeface="Microsoft YaHei"/>
              </a:defRPr>
            </a:pPr>
            <a:r>
              <a:t>模型假设单个压裂段均匀填充——实际多段信号重叠，需多元素解卷积</a:t>
            </a:r>
          </a:p>
          <a:p>
            <a:pPr>
              <a:defRPr sz="1700">
                <a:solidFill>
                  <a:srgbClr val="27AE60"/>
                </a:solidFill>
                <a:latin typeface="Microsoft YaHei"/>
              </a:defRPr>
            </a:pPr>
            <a:r>
              <a:t>解决方案：不同段掺杂不同金属(Mn/Zn/Cu/Eu/Dy)实现化学编码</a:t>
            </a:r>
          </a:p>
          <a:p>
            <a:pPr>
              <a:defRPr sz="800">
                <a:solidFill>
                  <a:srgbClr val="1A1A1A"/>
                </a:solidFill>
                <a:latin typeface="Microsoft YaHei"/>
              </a:defRPr>
            </a:pPr>
          </a:p>
          <a:p>
            <a:pPr>
              <a:defRPr sz="2200">
                <a:solidFill>
                  <a:srgbClr val="1F4E79"/>
                </a:solidFill>
                <a:latin typeface="Microsoft YaHei"/>
              </a:defRPr>
            </a:pPr>
            <a:r>
              <a:t>2. 稳态条件</a:t>
            </a:r>
          </a:p>
          <a:p>
            <a:pPr>
              <a:defRPr sz="1700">
                <a:solidFill>
                  <a:srgbClr val="1A1A1A"/>
                </a:solidFill>
                <a:latin typeface="Microsoft YaHei"/>
              </a:defRPr>
            </a:pPr>
            <a:r>
              <a:t>FO校准基于稳态流——启动/关井/快速抽汲等瞬态条件需单独验证</a:t>
            </a:r>
          </a:p>
          <a:p>
            <a:pPr>
              <a:defRPr sz="800">
                <a:solidFill>
                  <a:srgbClr val="1A1A1A"/>
                </a:solidFill>
                <a:latin typeface="Microsoft YaHei"/>
              </a:defRPr>
            </a:pPr>
          </a:p>
          <a:p>
            <a:pPr>
              <a:defRPr sz="2200">
                <a:solidFill>
                  <a:srgbClr val="1F4E79"/>
                </a:solidFill>
                <a:latin typeface="Microsoft YaHei"/>
              </a:defRPr>
            </a:pPr>
            <a:r>
              <a:t>3. 模型油</a:t>
            </a:r>
          </a:p>
          <a:p>
            <a:pPr>
              <a:defRPr sz="1700">
                <a:solidFill>
                  <a:srgbClr val="1A1A1A"/>
                </a:solidFill>
                <a:latin typeface="Microsoft YaHei"/>
              </a:defRPr>
            </a:pPr>
            <a:r>
              <a:t>正十二烷 vs 原油：沥青质/胶质可能改变环氧润湿和扩散行为</a:t>
            </a:r>
          </a:p>
          <a:p>
            <a:pPr>
              <a:defRPr sz="800">
                <a:solidFill>
                  <a:srgbClr val="1A1A1A"/>
                </a:solidFill>
                <a:latin typeface="Microsoft YaHei"/>
              </a:defRPr>
            </a:pPr>
          </a:p>
          <a:p>
            <a:pPr>
              <a:defRPr sz="2200">
                <a:solidFill>
                  <a:srgbClr val="1F4E79"/>
                </a:solidFill>
                <a:latin typeface="Microsoft YaHei"/>
              </a:defRPr>
            </a:pPr>
            <a:r>
              <a:t>4. 长期稳定性</a:t>
            </a:r>
          </a:p>
          <a:p>
            <a:pPr>
              <a:defRPr sz="1700">
                <a:solidFill>
                  <a:srgbClr val="1A1A1A"/>
                </a:solidFill>
                <a:latin typeface="Microsoft YaHei"/>
              </a:defRPr>
            </a:pPr>
            <a:r>
              <a:t>&gt;120°C, H₂S/CO₂/高矿化度盐水中环氧+硬脂酸稳定性未评估</a:t>
            </a:r>
          </a:p>
          <a:p>
            <a:pPr>
              <a:defRPr sz="800">
                <a:solidFill>
                  <a:srgbClr val="1A1A1A"/>
                </a:solidFill>
                <a:latin typeface="Microsoft YaHei"/>
              </a:defRPr>
            </a:pPr>
          </a:p>
          <a:p>
            <a:pPr>
              <a:defRPr sz="2200">
                <a:solidFill>
                  <a:srgbClr val="1F4E79"/>
                </a:solidFill>
                <a:latin typeface="Microsoft YaHei"/>
              </a:defRPr>
            </a:pPr>
            <a:r>
              <a:t>5. 单次实验</a:t>
            </a:r>
          </a:p>
          <a:p>
            <a:pPr>
              <a:defRPr sz="1700">
                <a:solidFill>
                  <a:srgbClr val="1A1A1A"/>
                </a:solidFill>
                <a:latin typeface="Microsoft YaHei"/>
              </a:defRPr>
            </a:pPr>
            <a:r>
              <a:t>BTC基于单次驱替实验——重复实验可增强参数置信度</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548640"/>
          </a:xfrm>
          <a:prstGeom prst="rect">
            <a:avLst/>
          </a:prstGeom>
          <a:noFill/>
        </p:spPr>
        <p:txBody>
          <a:bodyPr wrap="square">
            <a:spAutoFit/>
          </a:bodyPr>
          <a:lstStyle/>
          <a:p>
            <a:pPr algn="l">
              <a:defRPr sz="3200" b="1">
                <a:solidFill>
                  <a:srgbClr val="FFFFFF"/>
                </a:solidFill>
                <a:latin typeface="Microsoft YaHei"/>
              </a:defRPr>
            </a:pPr>
            <a:r>
              <a:t>8. 总结</a:t>
            </a:r>
          </a:p>
        </p:txBody>
      </p:sp>
      <p:sp>
        <p:nvSpPr>
          <p:cNvPr id="4" name="TextBox 3"/>
          <p:cNvSpPr txBox="1"/>
          <p:nvPr/>
        </p:nvSpPr>
        <p:spPr>
          <a:xfrm>
            <a:off x="731520" y="1463040"/>
            <a:ext cx="10058400" cy="4754880"/>
          </a:xfrm>
          <a:prstGeom prst="rect">
            <a:avLst/>
          </a:prstGeom>
          <a:noFill/>
        </p:spPr>
        <p:txBody>
          <a:bodyPr wrap="square">
            <a:spAutoFit/>
          </a:bodyPr>
          <a:lstStyle/>
          <a:p>
            <a:pPr algn="l">
              <a:defRPr sz="1600" b="0">
                <a:solidFill>
                  <a:srgbClr val="1A1A1A"/>
                </a:solidFill>
                <a:latin typeface="Microsoft YaHei"/>
              </a:defRPr>
            </a:pPr>
          </a:p>
          <a:p>
            <a:pPr>
              <a:defRPr sz="2400">
                <a:solidFill>
                  <a:srgbClr val="1F4E79"/>
                </a:solidFill>
                <a:latin typeface="Microsoft YaHei"/>
              </a:defRPr>
            </a:pPr>
            <a:r>
              <a:t>做了什么</a:t>
            </a:r>
          </a:p>
          <a:p>
            <a:pPr>
              <a:defRPr sz="2000">
                <a:solidFill>
                  <a:srgbClr val="1A1A1A"/>
                </a:solidFill>
                <a:latin typeface="Microsoft YaHei"/>
              </a:defRPr>
            </a:pPr>
            <a:r>
              <a:t>建立了示踪支撑剂领域首个将释放动力学与井口突破信号定量连接的物理模型</a:t>
            </a:r>
          </a:p>
          <a:p>
            <a:pPr>
              <a:defRPr sz="2000">
                <a:solidFill>
                  <a:srgbClr val="1A1A1A"/>
                </a:solidFill>
                <a:latin typeface="Microsoft YaHei"/>
              </a:defRPr>
            </a:pPr>
            <a:r>
              <a:t>BTC = 高斯脉冲(关井段塞) + erfc拖尾(持续释放) + tanh平滑过渡</a:t>
            </a:r>
          </a:p>
          <a:p>
            <a:pPr>
              <a:defRPr sz="1200">
                <a:solidFill>
                  <a:srgbClr val="1A1A1A"/>
                </a:solidFill>
                <a:latin typeface="Microsoft YaHei"/>
              </a:defRPr>
            </a:pPr>
          </a:p>
          <a:p>
            <a:pPr>
              <a:defRPr sz="2400">
                <a:solidFill>
                  <a:srgbClr val="1F4E79"/>
                </a:solidFill>
                <a:latin typeface="Microsoft YaHei"/>
              </a:defRPr>
            </a:pPr>
            <a:r>
              <a:t>怎么验证的</a:t>
            </a:r>
          </a:p>
          <a:p>
            <a:pPr>
              <a:defRPr sz="1800">
                <a:solidFill>
                  <a:srgbClr val="1A1A1A"/>
                </a:solidFill>
                <a:latin typeface="Microsoft YaHei"/>
              </a:defRPr>
            </a:pPr>
            <a:r>
              <a:t>模型自校准恢复流量(误差8%) + 停留时间(误差3%) + Pe自洽 + 简单模型对比(ΔAICc=32.7)</a:t>
            </a:r>
          </a:p>
          <a:p>
            <a:pPr>
              <a:defRPr sz="1200">
                <a:solidFill>
                  <a:srgbClr val="1A1A1A"/>
                </a:solidFill>
                <a:latin typeface="Microsoft YaHei"/>
              </a:defRPr>
            </a:pPr>
          </a:p>
          <a:p>
            <a:pPr>
              <a:defRPr sz="2400">
                <a:solidFill>
                  <a:srgbClr val="1F4E79"/>
                </a:solidFill>
                <a:latin typeface="Microsoft YaHei"/>
              </a:defRPr>
            </a:pPr>
            <a:r>
              <a:t>发现了什么</a:t>
            </a:r>
          </a:p>
          <a:p>
            <a:pPr>
              <a:defRPr sz="2000">
                <a:solidFill>
                  <a:srgbClr val="1A1A1A"/>
                </a:solidFill>
                <a:latin typeface="Microsoft YaHei"/>
              </a:defRPr>
            </a:pPr>
            <a:r>
              <a:t>47%信号来自持续释放(σ稳健&lt;1pp) → 一次关井即可长期监测</a:t>
            </a:r>
          </a:p>
          <a:p>
            <a:pPr>
              <a:defRPr sz="1800">
                <a:solidFill>
                  <a:srgbClr val="1A1A1A"/>
                </a:solidFill>
                <a:latin typeface="Microsoft YaHei"/>
              </a:defRPr>
            </a:pPr>
            <a:r>
              <a:t>cb~3.6倍温度可预测 → 高温井信号更强</a:t>
            </a:r>
          </a:p>
          <a:p>
            <a:pPr>
              <a:defRPr sz="1200">
                <a:solidFill>
                  <a:srgbClr val="1A1A1A"/>
                </a:solidFill>
                <a:latin typeface="Microsoft YaHei"/>
              </a:defRPr>
            </a:pPr>
          </a:p>
          <a:p>
            <a:pPr>
              <a:defRPr sz="2400">
                <a:solidFill>
                  <a:srgbClr val="C0392B"/>
                </a:solidFill>
                <a:latin typeface="Microsoft YaHei"/>
              </a:defRPr>
            </a:pPr>
            <a:r>
              <a:t>工程意义</a:t>
            </a:r>
          </a:p>
          <a:p>
            <a:pPr>
              <a:defRPr sz="2000">
                <a:solidFill>
                  <a:srgbClr val="1A1A1A"/>
                </a:solidFill>
                <a:latin typeface="Microsoft YaHei"/>
              </a:defRPr>
            </a:pPr>
            <a:r>
              <a:t>每段掺杂不同金属(含稀土) → 化学编码 → 井口采样 → 模型分解 → 逐段产量</a:t>
            </a:r>
          </a:p>
          <a:p>
            <a:pPr>
              <a:defRPr sz="2000">
                <a:solidFill>
                  <a:srgbClr val="C0392B"/>
                </a:solidFill>
                <a:latin typeface="Microsoft YaHei"/>
              </a:defRPr>
            </a:pPr>
            <a:r>
              <a:t>无需井下工具，无需反复关井，全生命周期可监测</a:t>
            </a:r>
          </a:p>
          <a:p>
            <a:pPr>
              <a:defRPr sz="1200">
                <a:solidFill>
                  <a:srgbClr val="1A1A1A"/>
                </a:solidFill>
                <a:latin typeface="Microsoft YaHei"/>
              </a:defRPr>
            </a:pPr>
          </a:p>
          <a:p>
            <a:pPr>
              <a:defRPr sz="2400">
                <a:solidFill>
                  <a:srgbClr val="1F4E79"/>
                </a:solidFill>
                <a:latin typeface="Microsoft YaHei"/>
              </a:defRPr>
            </a:pPr>
            <a:r>
              <a:t>与已有工作的区别</a:t>
            </a:r>
          </a:p>
          <a:p>
            <a:pPr>
              <a:defRPr sz="1800">
                <a:solidFill>
                  <a:srgbClr val="1A1A1A"/>
                </a:solidFill>
                <a:latin typeface="Microsoft YaHei"/>
              </a:defRPr>
            </a:pPr>
            <a:r>
              <a:t>已有：释放和输运割裂，BTC仅作经验拟合 | 本文：释放-输运-BTC分解完整链路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86000"/>
            <a:ext cx="9144000" cy="1828800"/>
          </a:xfrm>
          <a:prstGeom prst="rect">
            <a:avLst/>
          </a:prstGeom>
          <a:noFill/>
        </p:spPr>
        <p:txBody>
          <a:bodyPr wrap="square">
            <a:spAutoFit/>
          </a:bodyPr>
          <a:lstStyle/>
          <a:p>
            <a:pPr algn="ctr">
              <a:defRPr sz="4000" b="1">
                <a:solidFill>
                  <a:srgbClr val="FFFFFF"/>
                </a:solidFill>
                <a:latin typeface="Microsoft YaHei"/>
              </a:defRPr>
            </a:pPr>
            <a:r>
              <a:t>谢谢！请老师批评指正</a:t>
            </a:r>
          </a:p>
        </p:txBody>
      </p:sp>
      <p:sp>
        <p:nvSpPr>
          <p:cNvPr id="4" name="TextBox 3"/>
          <p:cNvSpPr txBox="1"/>
          <p:nvPr/>
        </p:nvSpPr>
        <p:spPr>
          <a:xfrm>
            <a:off x="1371600" y="4114800"/>
            <a:ext cx="9144000" cy="914400"/>
          </a:xfrm>
          <a:prstGeom prst="rect">
            <a:avLst/>
          </a:prstGeom>
          <a:noFill/>
        </p:spPr>
        <p:txBody>
          <a:bodyPr wrap="square">
            <a:spAutoFit/>
          </a:bodyPr>
          <a:lstStyle/>
          <a:p>
            <a:pPr algn="ctr">
              <a:defRPr sz="1800" b="0">
                <a:solidFill>
                  <a:srgbClr val="CCDDEE"/>
                </a:solidFill>
                <a:latin typeface="Microsoft YaHei"/>
              </a:defRPr>
            </a:pPr>
            <a:r>
              <a:t>ESP-T: Sustained-Release Breakthrough Modeling</a:t>
            </a:r>
            <a:br/>
            <a:r>
              <a:t>of an Oleophilic Epoxy/Fe₃O₄ Tracer Proppant</a:t>
            </a:r>
            <a:br/>
            <a:r>
              <a:t>for Production Allocation in Multi-Stage Fractured Horizontal Wells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