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亲油型环氧/Fe₃O₄示踪支撑剂的</a:t>
            </a:r>
            <a:br/>
            <a:r>
              <a:t>持续释放突破曲线建模及生产分配研究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DEE"/>
                </a:solidFill>
                <a:latin typeface="Microsoft YaHei"/>
              </a:defRPr>
            </a:pPr>
            <a:r>
              <a:t>Piecewise Advection-Dispersion Modeling of Sustained Tracer Release</a:t>
            </a:r>
            <a:br/>
            <a:r>
              <a:t>from an Oleophilic Epoxy/Fe₃O₄ Proppant for Production Allocation</a:t>
            </a:r>
            <a:br/>
            <a:r>
              <a:t>in Multi-Stage Fractured Horizontal Wells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能源学院 · 石油与天然气工程 · 导师：李娜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 研究背景与工程问题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为什么需要逐段产量监测？现有方法的局限在哪里？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大背景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● 非常规油气(页岩气/致密油)占全球探明储量 &gt;50%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● 水力压裂+水平井多段改造是核心技术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● 一口井压裂10-20段，每段产多少油？不知道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现有监测手段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● PLT(生产测井): 需停井、费用高、快照式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● DAS/DTS(光纤): 前期安装贵、需永久井下设施</a:t>
            </a:r>
          </a:p>
          <a:p>
            <a:pPr>
              <a:defRPr sz="1600" b="0">
                <a:solidFill>
                  <a:srgbClr val="27AE60"/>
                </a:solidFill>
                <a:latin typeface="Microsoft YaHei"/>
              </a:defRPr>
            </a:pPr>
            <a:r>
              <a:t>● 化学示踪剂: 随支撑剂注入、井口采样即可 → 最便宜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示踪剂方法的空白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实验室: K-P动力学方程 → 释放速率 K, 扩散指数 n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井口: BTC(突破曲线) → 浓度随时间变化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↓ 中间缺失: 示踪剂从支撑剂出来后如何沿井筒输运？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→ 缺少释放-输运耦合模型 = 无法从BTC反推产量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类比理解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水龙头出水速度 = 释放动力学 (K-P)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水管粗细长短 = 输运过程 (ADE)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水池水位变化 = 井口BTC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不知道水管参数 → 无法从水位反推水龙头开度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已有研究的不足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Gong 2024 (Fuel): K-P拟合释放 → 没有输运模型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Luo 2026 (Colloids Surf A): K-P+单组分ADE → 不分解BTC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→ 均未建立释放-输运-信号分解的完整链路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 BTC的物理构成：两个过程叠加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关井段塞(高斯脉冲) + 持续释放(erfc拖尾)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过程一：关井段塞 → 高斯脉冲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① 关井96h → 示踪剂从环氧基质持续扩散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② 无流动 → 示踪剂堆积在支撑剂层+近井地带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③ 开井 → 堆积段塞被一股脑冲向井口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④ 形状: 先快速上升(段塞到达)→快速下降(段塞通过)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⑤ 数学描述: 高斯函数 (钟形曲线)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   C_rise(t) = cb + (A·d)/√(16παQt·d²) × exp(-z²)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   关键参数: A(脉冲幅值)—A越大=关井堆积越多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过程二：持续释放 → erfc拖尾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① 生产期 → 残余示踪剂继续从环氧扩散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② 信号比脉冲弱得多，但非常持久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③ 形状: 缓慢下降的长拖尾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④ 数学描述: erfc函数 (互补误差函数)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   C_fall(t) = cb + a/2 × erfc(-z)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   关键参数: a(拖尾幅值), cb(尾台浓度)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为什么必须分离？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脉冲和拖尾在时间上重叠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→ 段塞还没完全通过，拖尾已经开始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→ 肉眼无法从BTC中区分两者的贡献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→ 必须用数学方法分解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tanh平滑过渡函数</a:t>
            </a:r>
          </a:p>
          <a:p>
            <a:pPr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w(t) = ½[1 + tanh((t₀-t)/σ)]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● w→1 (早期): 高斯主导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● 0&lt;w&lt;1 (过渡): 两者混合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● w→0 (后期): erfc主导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● σ = 4 min (固定=采样间隔)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● t₀ = 25.7 min (拟合值): 过渡中心</a:t>
            </a:r>
          </a:p>
          <a:p>
            <a:pPr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比喻: 调音台推子——一个推下同时另一个拉起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 完整数学模型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6自由参数 + 7派生量 = 完整的物理描述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一维对流-弥散方程 (ADE)</a:t>
            </a:r>
          </a:p>
          <a:p>
            <a:pPr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∂C/∂t + v·∂C/∂x = D·∂²C/∂x²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v = 4Q/(πd²) — 平均对流速度 (cm/min)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D = α·v — 纵向弥散系数 (cm²/min)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其中: Q=体积流量, d=管径5mm, α=弥散度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无量纲距离变量 z</a:t>
            </a:r>
          </a:p>
          <a:p>
            <a:pPr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z = (xπd² - 4Qt) / √(16αQtπd²)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完整模型 (Eq.2)</a:t>
            </a:r>
          </a:p>
          <a:p>
            <a:pPr>
              <a:defRPr sz="2000" b="1">
                <a:solidFill>
                  <a:srgbClr val="C0392B"/>
                </a:solidFill>
                <a:latin typeface="Microsoft YaHei"/>
              </a:defRPr>
            </a:pPr>
            <a:r>
              <a:t>C(t) = cb + w(t)·C_rise + [1-w(t)]·C_fall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展开: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C(t) = cb + w(t)×(Ad)/√(16παQt·d²)×exp(-z²)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       + [1-w(t)]×(a/2)×erfc(-z)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7个参数 (σ固定，6个自由)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cb: 尾台浓度 (基线) | A: 脉冲幅值 | a: 拖尾幅值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α: 纵向弥散度(cm) | Q: 有效流量(cm³/min) | t₀: 过渡中心(min)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σ: 过渡宽度 = 4 min (固定)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派生物理量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Peclet数: Pe = x/α = 0.934</a:t>
            </a:r>
          </a:p>
          <a:p>
            <a:pPr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→ Pe≈1 对流弥散各半: 渐变释放特征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平均流速: v = 4Q/(πd²) = 2.59 cm/min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平均停留时间: MRT = x/v = 38.6 min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对流输运时间: t_bt = xπd²/(4Q) = 38.6 min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高斯积分占比: 53%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erfc积分占比: 47%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Peclet数物理含义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Pe&gt;&gt;1: 对流主导(河流)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Pe&lt;&lt;1: 弥散主导(墨水滴入水)</a:t>
            </a:r>
          </a:p>
          <a:p>
            <a:pPr>
              <a:defRPr sz="1400" b="0">
                <a:solidFill>
                  <a:srgbClr val="1F4E79"/>
                </a:solidFill>
                <a:latin typeface="Microsoft YaHei"/>
              </a:defRPr>
            </a:pPr>
            <a:r>
              <a:t>Pe≈1: 两者相当 → 本文0.934</a:t>
            </a:r>
          </a:p>
          <a:p>
            <a:pPr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与K-P结论(n=0.45-0.85,异常输运)独立一致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拟合算法与步骤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两步优化策略：差分进化(全局) + L-BFGS-B(局部精修)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数据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21个数据点 (t&gt;0, 5-105 min, 间隔4 min)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浓度归一化 C/C₀ ∈ [0, 1]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第一步: 差分进化 (Differential Evolution)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种群大小: 50 | 最大迭代: 2000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变异因子: (0.5, 1.5) 自适应 | 交叉率: 0.9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4次独立运行 (seed=42,123,456,789) 取最优</a:t>
            </a: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为什么用DE？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7维参数空间高度非凸 → 多局部极小值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DE不依赖梯度 → 不会陷入局部最优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4种子重复 → 确保可复现性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第二步: L-BFGS-B (拟牛顿法)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最大迭代: 20000 | 容差: 10⁻¹⁶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初值: DE最优解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利用梯度 → 精确收敛到邻域内最小值</a:t>
            </a:r>
          </a:p>
          <a:p>
            <a:pPr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全局探索(DE) + 局部精修(L-BFGS) 互补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目标函数: MSE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MSE = (1/N)·Σ[C_model(tᵢ;p) - C_meas(tᵢ)]²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p = {cb, A, a, α, Q, t₀}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参数边界约束</a:t>
            </a:r>
          </a:p>
          <a:p>
            <a:pPr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cb: [0, 0.4] 基线非负</a:t>
            </a:r>
          </a:p>
          <a:p>
            <a:pPr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A: [0.1, 10⁶] 幅值为正</a:t>
            </a:r>
          </a:p>
          <a:p>
            <a:pPr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a: [0.1, 50] | α: [0.01, 10⁵] cm量级</a:t>
            </a:r>
          </a:p>
          <a:p>
            <a:pPr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Q: [10, 5000] cm³/min | t₀: [5, 40] min</a:t>
            </a:r>
          </a:p>
          <a:p>
            <a:pPr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σ: [0.5, 15] 固定为4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拟合质量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R² = 0.9939 (21点, 7参数)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RMSE = 0.0210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但不靠R²说话——靠物理验证 (见下页)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 模型验证：四重物理证据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拟合好(R²=0.994)只是第一步——真正的验证是参数自校准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① 流量Q恢复 (最有力证据)</a:t>
            </a:r>
          </a:p>
          <a:p>
            <a:pPr>
              <a:defRPr sz="2000" b="1">
                <a:solidFill>
                  <a:srgbClr val="C0392B"/>
                </a:solidFill>
                <a:latin typeface="Microsoft YaHei"/>
              </a:defRPr>
            </a:pPr>
            <a:r>
              <a:t>模型拟合的 Q = 0.46 mL/min</a:t>
            </a:r>
          </a:p>
          <a:p>
            <a:pPr>
              <a:defRPr sz="2000" b="0">
                <a:solidFill>
                  <a:srgbClr val="1A1A1A"/>
                </a:solidFill>
                <a:latin typeface="Microsoft YaHei"/>
              </a:defRPr>
            </a:pPr>
            <a:r>
              <a:t>泵设定值 = 0.50 mL/min</a:t>
            </a:r>
          </a:p>
          <a:p>
            <a:pPr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→ 误差 8%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Q不是调参调出来的——是从浓度数据中读出来的</a:t>
            </a:r>
          </a:p>
          <a:p>
            <a:pPr>
              <a:defRPr sz="1700" b="0">
                <a:solidFill>
                  <a:srgbClr val="27AE60"/>
                </a:solidFill>
                <a:latin typeface="Microsoft YaHei"/>
              </a:defRPr>
            </a:pPr>
            <a:r>
              <a:t>→ 模型抓住了真实的物理过程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② 停留时间 MRT</a:t>
            </a:r>
          </a:p>
          <a:p>
            <a:pPr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拟合 MRT = 37.4 min</a:t>
            </a:r>
          </a:p>
          <a:p>
            <a:pPr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计算值 (管长/流速) = 38.6 min</a:t>
            </a:r>
          </a:p>
          <a:p>
            <a:pPr>
              <a:defRPr sz="2000" b="1">
                <a:solidFill>
                  <a:srgbClr val="1F4E79"/>
                </a:solidFill>
                <a:latin typeface="Microsoft YaHei"/>
              </a:defRPr>
            </a:pPr>
            <a:r>
              <a:t>→ 误差 3%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③ Peclet数自洽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拟合 Pe = x/α = 0.934 ≈ 1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→ 对流和弥散各占一半: 渐变释放特征</a:t>
            </a:r>
          </a:p>
          <a:p>
            <a:pPr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→ 与K-P结论(n=0.45-0.85)独立一致</a:t>
            </a:r>
          </a:p>
          <a:p>
            <a:pPr>
              <a:defRPr sz="1500" b="0">
                <a:solidFill>
                  <a:srgbClr val="C0392B"/>
                </a:solidFill>
                <a:latin typeface="Microsoft YaHei"/>
              </a:defRPr>
            </a:pPr>
            <a:r>
              <a:t>两个独立方法(ADE+K-P)指向同一物理机制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④ 模型必要性: 简单模型够用吗？</a:t>
            </a: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试了4个替代模型 (相同数据+相同拟合协议)</a:t>
            </a:r>
          </a:p>
          <a:p>
            <a:pPr>
              <a:defRPr sz="1400" b="0">
                <a:solidFill>
                  <a:srgbClr val="C0392B"/>
                </a:solidFill>
                <a:latin typeface="Microsoft YaHei"/>
              </a:defRPr>
            </a:pPr>
            <a:r>
              <a:t>单高斯: R²=0.948 → 峰值可，拖尾完全偏</a:t>
            </a:r>
          </a:p>
          <a:p>
            <a:pPr>
              <a:defRPr sz="1400" b="0">
                <a:solidFill>
                  <a:srgbClr val="C0392B"/>
                </a:solidFill>
                <a:latin typeface="Microsoft YaHei"/>
              </a:defRPr>
            </a:pPr>
            <a:r>
              <a:t>单erfc: R²=0.716 → 拖尾可，峰值丢失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指数衰减: R²=0.752 → 更差，无物理含义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K-P幂律: R²=-0.019 → 完全不适用BTC</a:t>
            </a:r>
          </a:p>
          <a:p>
            <a:pPr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统计检验 (AICc/BIC/F-test)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ΔAICc = 32.7 (阈值: &gt;10 = 决定性优势)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F(3,14) = 34.7, p = 1.2×10⁻⁶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Akaike权重 &gt; 0.9999</a:t>
            </a:r>
          </a:p>
          <a:p>
            <a:pPr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→ 双组分结构是必要的，不是过度拟合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 模型选择：AICc / BIC / F检验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从统计学上证明双组分模型的必要性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AICc (小样本校正赤池信息准则)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AICc = N·ln(RSS/N) + 2k + 2k(k+1)/(N-k-1)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N=21 (数据点) | k=参数个数 | RSS=残差平方和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第一项: 拟合优度 (越小越好)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第二项+第三项: 对参数数的惩罚 (防止过拟合)</a:t>
            </a:r>
          </a:p>
          <a:p>
            <a:pPr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AICc越小 = 性价比越高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BIC (贝叶斯信息准则)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BIC = N·ln(RSS/N) + k·ln(N)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对参数数惩罚更重 (因为ln(N)&gt;2)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→ 更保守: 更倾向简单模型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F检验 (双组分 vs 单高斯)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H₀: 简化模型(单高斯)已足够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F = [(RSS₁-RSS₂)/(k₂-k₁)] / [RSS₂/(N-k₂)]</a:t>
            </a:r>
          </a:p>
          <a:p>
            <a:pPr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F(3,14) = 34.7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p = 1.2×10⁻⁶ &lt;&lt; 0.05</a:t>
            </a:r>
          </a:p>
          <a:p>
            <a:pPr>
              <a:defRPr sz="1700" b="0">
                <a:solidFill>
                  <a:srgbClr val="27AE60"/>
                </a:solidFill>
                <a:latin typeface="Microsoft YaHei"/>
              </a:defRPr>
            </a:pPr>
            <a:r>
              <a:t>→ 拒绝H₀: 双组分改进不是随机波动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5模型对比结果</a:t>
            </a:r>
          </a:p>
          <a:p>
            <a:pPr>
              <a:defRPr sz="1400" b="1">
                <a:solidFill>
                  <a:srgbClr val="1F4E79"/>
                </a:solidFill>
                <a:latin typeface="Microsoft YaHei"/>
              </a:defRPr>
            </a:pPr>
            <a:r>
              <a:t>模型          k   R²      AICc    ΔAICc</a:t>
            </a:r>
          </a:p>
          <a:p>
            <a:pPr>
              <a:defRPr sz="1400" b="0">
                <a:solidFill>
                  <a:srgbClr val="C0392B"/>
                </a:solidFill>
                <a:latin typeface="Microsoft YaHei"/>
              </a:defRPr>
            </a:pPr>
            <a:r>
              <a:t>双组分tanh    7   0.9939  -139.70   0.00 ★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单高斯        4   0.9482  -107.04  32.66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单erfc       4   0.7159   -71.28  68.42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指数衰减      3   0.7517   -77.20  62.51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K-P幂律      3  -0.0193   -47.54  92.16</a:t>
            </a:r>
          </a:p>
          <a:p>
            <a:pPr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Akaike权重 (模型为最优的概率)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wᵢ = exp(-Δᵢ/2) / Σⱼexp(-Δⱼ/2)</a:t>
            </a:r>
          </a:p>
          <a:p>
            <a:pPr>
              <a:defRPr sz="1700" b="1">
                <a:solidFill>
                  <a:srgbClr val="C0392B"/>
                </a:solidFill>
                <a:latin typeface="Microsoft YaHei"/>
              </a:defRPr>
            </a:pPr>
            <a:r>
              <a:t>双组分: &gt;0.9999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单高斯: ~0 (3×10⁻⁸)</a:t>
            </a:r>
          </a:p>
          <a:p>
            <a:pPr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双组分几乎是"确定的最优模型"</a:t>
            </a:r>
          </a:p>
          <a:p>
            <a:pPr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物理含义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单高斯只能描述脉冲通过 → 无法描述持续释放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单erfc只能描述缓慢下降 → 无法描述峰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唯有双组分同时抓住两者 → 印证了</a:t>
            </a:r>
          </a:p>
          <a:p>
            <a:pPr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BTC = 段塞(高斯) + 拖尾(erfc) 的物理假设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 核心发现：47%信号来自持续释放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σ敏感性分析 + 温度预测 + 工程意义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信号分解</a:t>
            </a:r>
          </a:p>
          <a:p>
            <a:pPr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积分C_rise: 53% (关井段塞)</a:t>
            </a:r>
          </a:p>
          <a:p>
            <a:pPr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积分C_fall: 47% (持续释放)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→ 井口检测到的示踪剂近一半不是关井积攒的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→ 而是生产期持续从支撑剂里扩散出来的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σ稳健性分析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σ变化范围: 1.98 ~ 11.89 min (6倍)</a:t>
            </a:r>
          </a:p>
          <a:p>
            <a:pPr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拖尾占比变化: 46.8% → 47.5%</a:t>
            </a:r>
          </a:p>
          <a:p>
            <a:pPr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总变化: &lt; 1个百分点</a:t>
            </a:r>
          </a:p>
          <a:p>
            <a:pPr>
              <a:defRPr sz="1600" b="0">
                <a:solidFill>
                  <a:srgbClr val="27AE60"/>
                </a:solidFill>
                <a:latin typeface="Microsoft YaHei"/>
              </a:defRPr>
            </a:pPr>
            <a:r>
              <a:t>→ 47%的结论不依赖于特定σ值</a:t>
            </a:r>
          </a:p>
          <a:p>
            <a:pPr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σ=4 min(采样间隔): 46.9%</a:t>
            </a:r>
          </a:p>
          <a:p>
            <a:pPr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σ=3.96 min(拟合值): 46.9%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→ 两者完全一致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温度可预测性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K(30°C) = 0.055, K(120°C) = 0.196</a:t>
            </a:r>
          </a:p>
          <a:p>
            <a:pPr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K比值 = 0.196/0.055 = 3.56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预测: cb也增加约3.6倍</a:t>
            </a:r>
          </a:p>
          <a:p>
            <a:pPr>
              <a:defRPr sz="1600" b="0">
                <a:solidFill>
                  <a:srgbClr val="27AE60"/>
                </a:solidFill>
                <a:latin typeface="Microsoft YaHei"/>
              </a:defRPr>
            </a:pPr>
            <a:r>
              <a:t>→ 高温井中示踪信号更强 → 更容易监测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(尚未用多温BTC实验直接验证)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工程含义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一次焖井 → 定期井口采样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47%拖尾持续供给 → 信号不衰减到零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→ 长期监测不需要反复关井</a:t>
            </a:r>
          </a:p>
          <a:p>
            <a:pPr>
              <a:defRPr sz="1700" b="0">
                <a:solidFill>
                  <a:srgbClr val="C0392B"/>
                </a:solidFill>
                <a:latin typeface="Microsoft YaHei"/>
              </a:defRPr>
            </a:pPr>
            <a:r>
              <a:t>→ 降低成本 + 避免产量损失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两相流: FO通量法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FO = C_oil × Q_oil (μg/min)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浓度受水稀释 → 通量不受稀释影响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FO vs 设定产量: r = 0.97, RMSD = 8.3%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8. ESP-T材料设计与性能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环氧树脂为何优于已有示踪支撑剂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合成路线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① 共沉淀: Fe²⁺+Fe³⁺+Mn²⁺ → Mn-Fe₃O₄ (10nm)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② 硬脂酸修饰: SA-COOH + Fe₃O₄-OH → 亲油表面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③ 乳液聚合: 环氧E51+T31固化剂+空心玻璃微珠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→ ESP-T微球 (40-70目)</a:t>
            </a:r>
          </a:p>
          <a:p>
            <a:pPr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可掺杂多种金属/稀土: Mn/Zn/Cu/Eu/Dy → 化学编码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已有示踪支撑剂的局限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包覆型陶瓷: 密度1.5 g/cm³ → 输运难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PS微球: 耐温&lt;200°C → 井下变形</a:t>
            </a:r>
          </a:p>
          <a:p>
            <a:pPr>
              <a:defRPr sz="1600" b="0">
                <a:solidFill>
                  <a:srgbClr val="1F4E79"/>
                </a:solidFill>
                <a:latin typeface="Microsoft YaHei"/>
              </a:defRPr>
            </a:pPr>
            <a:r>
              <a:t>→ 需要低密度+高耐温+化学稳定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环氧树脂优势</a:t>
            </a:r>
          </a:p>
          <a:p>
            <a:pPr>
              <a:defRPr sz="1700" b="0">
                <a:solidFill>
                  <a:srgbClr val="C0392B"/>
                </a:solidFill>
                <a:latin typeface="Microsoft YaHei"/>
              </a:defRPr>
            </a:pPr>
            <a:r>
              <a:t>耐温357°C (远超井温80-200°C)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密度0.65 g/cm³ &lt; 水 → 自悬浮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硬脂酸改性: WCA 72°→105° (亲水→亲油)</a:t>
            </a:r>
          </a:p>
          <a:p>
            <a:pPr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示踪剂只往油相释放，不往水相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ESP-T性能一览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球度/圆度: &gt;0.9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破碎率(52MPa): 2.9%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酸溶解度: 3.3% (&lt;5%标准)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油过滤时间: 5min (纯环氧15min) ↓66%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水过滤时间: 28min (纯环氧3min) ↑10×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释放机制 (K-P模型)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n ∈ [0.45, 0.85] → 异常输运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= Fick扩散 + Case-II松弛 共控</a:t>
            </a:r>
          </a:p>
          <a:p>
            <a:pPr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物理图像: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溶剂(油)渗透 → 环氧溶胀 → 玻璃芯/凝胶层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→ 凝胶层维持恒定扩散通量</a:t>
            </a:r>
          </a:p>
          <a:p>
            <a:pPr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→ 产生BTC中的持续低浓度拖尾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K-P有效范围</a:t>
            </a:r>
          </a:p>
          <a:p>
            <a:pPr>
              <a:defRPr sz="1400" b="0">
                <a:solidFill>
                  <a:srgbClr val="C0392B"/>
                </a:solidFill>
                <a:latin typeface="Microsoft YaHei"/>
              </a:defRPr>
            </a:pPr>
            <a:r>
              <a:t>Mt/M∞ &lt; 0.6 → 仅用于早中期释放拟合</a:t>
            </a:r>
          </a:p>
          <a:p>
            <a:pPr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14天C/C₀&gt;1 → 为外推无效区(仅可视化)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9. 两相流验证：从浓度到通量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如何在水存在下仍然准确追踪油产量？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问题: 水稀释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真实井中油水两相共存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水稀释 → 示踪剂浓度下降</a:t>
            </a:r>
          </a:p>
          <a:p>
            <a:pPr>
              <a:defRPr sz="1600" b="0">
                <a:solidFill>
                  <a:srgbClr val="C0392B"/>
                </a:solidFill>
                <a:latin typeface="Microsoft YaHei"/>
              </a:defRPr>
            </a:pPr>
            <a:r>
              <a:t>→ 浓度 ≠ 释放速率 (被稀释效应掩盖)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实验: 油水比4:1/1:1/1:4, 流量0.1-0.4mL/min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结果: 浓度随流量↑而↓ (纯稀释), 与OWR无关</a:t>
            </a:r>
          </a:p>
          <a:p>
            <a:pPr>
              <a:defRPr sz="1600" b="0">
                <a:solidFill>
                  <a:srgbClr val="C0392B"/>
                </a:solidFill>
                <a:latin typeface="Microsoft YaHei"/>
              </a:defRPr>
            </a:pPr>
            <a:r>
              <a:t>→ 浓度不能作为产量的代用指标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解决方案: 通量FO</a:t>
            </a:r>
          </a:p>
          <a:p>
            <a:pPr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FO = C_oil × Q_oil (μg/min)</a:t>
            </a:r>
          </a:p>
          <a:p>
            <a:pPr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稳态下: FO = ESP-T释放速率</a:t>
            </a:r>
          </a:p>
          <a:p>
            <a:pPr>
              <a:defRPr sz="1600" b="0">
                <a:solidFill>
                  <a:srgbClr val="27AE60"/>
                </a:solidFill>
                <a:latin typeface="Microsoft YaHei"/>
              </a:defRPr>
            </a:pPr>
            <a:r>
              <a:t>→ 通量不受稀释影响 = 只反映释放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验证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FO vs OWR: FO随OWR↑ (更多油润湿面积)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FO vs 总流量: 无关 (释放速率不由流速决定)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FO → 产量转换</a:t>
            </a: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归一化FO = FO_两相 / FO_单相基准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FO_单相基准 = 3.187 ± 0.15 μg/min</a:t>
            </a:r>
          </a:p>
          <a:p>
            <a:pPr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(三次重复, 均值±SD)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vs 设定产量: r = 0.97, p = 0.006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RMSD = 8.3%</a:t>
            </a:r>
          </a:p>
          <a:p>
            <a:pPr>
              <a:defRPr sz="1700" b="0">
                <a:solidFill>
                  <a:srgbClr val="27AE60"/>
                </a:solidFill>
                <a:latin typeface="Microsoft YaHei"/>
              </a:defRPr>
            </a:pPr>
            <a:r>
              <a:t>→ 即使有水，也能从FO恢复油产量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不确定性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主要来源: FO基准重复性 ±4.7%</a:t>
            </a:r>
          </a:p>
          <a:p>
            <a:pPr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→ 每批ESP-T + 每个目标温度需单独校准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工程含义</a:t>
            </a: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两相流条件下: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不看浓度 → 看通量FO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FO = 浓度×油流量 (均可井口测量)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对比单相FO基准 → 得到该段产量占比</a:t>
            </a:r>
          </a:p>
          <a:p>
            <a:pPr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● 无需知道支撑剂层参数 → 方法自包含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10. 与已有工作的系统对比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12个维度全面比较 | △ = 本文独有的能力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1430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对比维度           Gong 2024(Fuel)    Luo 2026(CSA)      本文(ESP-T)</a:t>
            </a:r>
          </a:p>
          <a:p>
            <a:pPr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示踪剂载体        │ PS微球           │ 聚合物包覆石英砂  │ 环氧树脂微球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释放模型           │ K-P              │ K-P               │ K-P (Mt/M∞&lt;0.6)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输运模型           │ 无               │ 单组分ADE          │ 双组分ADE (高斯+erfc+tanh)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BTC物理分解        │ 无               │ 无                │ 段塞(高斯) + 拖尾(erfc)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参数自校准         │ 无               │ 无                │ Q恢复8%, MRT恢复3%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模型选择统计       │ 仅R²             │ 仅R²              │ R² + AICc + BIC + F-test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σ稳健性分析        │ 无               │ 无                │ 6倍范围 &lt;1pp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温度可预测性       │ 无               │ 无                │ cb~3.6× (K(T)关联)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两相流验证         │ 无               │ 无                │ FO法, r=0.97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多元素编码         │ 无               │ 无                │ Mn/Zn/Cu/稀土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释放-输运耦合      │ 无               │ 无                │ cb ↔ K(T) ↔ BTC △</a:t>
            </a:r>
          </a:p>
          <a:p>
            <a:pPr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工程指导           │ 定性:可监测       │ 定性:可监测        │ 定量:一次关井即可 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11. 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Microsoft YaHei"/>
              </a:defRPr>
            </a:pPr>
            <a:r>
              <a:t>当前工作的边界与下一步方向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1. 单段假设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模型: 单个压裂段均匀填充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实际: 多段信号重叠 + 支撑剂非均匀分布</a:t>
            </a:r>
          </a:p>
          <a:p>
            <a:pPr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方案: 多元素化学编码 → 每个信号独立拟合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2. 稳态条件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FO校准: 基于稳态流动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实际: 启动/关井/快速抽汲 → 瞬态偏差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3. 模型油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实验: 正十二烷 (C₁₂H₂₆)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实际: 原油含沥青质/胶质 → 改变润湿+扩散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4. 化学稳定性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已验证: ≤120°C 正十二烷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未评估: &gt;120°C, H₂S, CO₂, 高盐卤水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5. 实验重复性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BTC: 单次驱替实验</a:t>
            </a:r>
          </a:p>
          <a:p>
            <a:pPr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重复实验 → 增强参数置信区间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下一步工作方向</a:t>
            </a: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短期 (1-2月):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补做多温BTC实验 (验证3.6倍预测)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Bootstrap参数CI (N=21的限制)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BTC重复实验 (验证可重复性)</a:t>
            </a:r>
          </a:p>
          <a:p>
            <a:pPr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中期 (3-6月):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多元素(Zn/Cu/Eu)掺杂+混合BTC解卷积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原油替代正十二烷 (验证润湿扩散差异)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多段并联驱替 (模拟多段信号叠加)</a:t>
            </a:r>
          </a:p>
          <a:p>
            <a:pPr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长期 (6-12月):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高温高压(&gt;150°C, &gt;20MPa)稳定性测试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H₂S/CO₂/高盐兼容性 → 井下适应性</a:t>
            </a:r>
          </a:p>
          <a:p>
            <a:pPr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● 无量纲放大: Pe数不依赖尺度 → 现场预测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12.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一、做了什么</a:t>
            </a:r>
          </a:p>
          <a:p>
            <a:pPr>
              <a:defRPr sz="2000" b="0">
                <a:solidFill>
                  <a:srgbClr val="1A1A1A"/>
                </a:solidFill>
                <a:latin typeface="Microsoft YaHei"/>
              </a:defRPr>
            </a:pPr>
            <a:r>
              <a:t>建立了示踪支撑剂领域首个释放-输运-BTC分解的完整物理模型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C(t) = cb + w(t)×高斯(关井段塞) + [1-w(t)]×erfc(持续释放) | tanh平滑过渡 | 6自由参数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二、怎么验证的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① Q自校准: 拟合0.46 vs 泵设0.50 mL/min → 误差8%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② MRT: 37.4 vs 38.6 min → 误差3%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③ Pe=0.934≈1 → 与K-P异常输运(n=0.45-0.85)独立一致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④ AICc/BIC/F-test: 双组分压倒性优于单组分 (ΔAICc=32.7, p&lt;10⁻⁶)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三、发现了什么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47%信号来自持续释放(erfc拖尾) — σ从2→12min变化&lt;1pp — 不是参数选择造成的假象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cb~3.6倍温度可预测 — K(T)与BTC耦合的定量证据</a:t>
            </a:r>
          </a:p>
          <a:p>
            <a:pPr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FO通量法: 两相流中不受水稀释 — r=0.97, RMSD=8.3%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四、与已有工作的本质区别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已有: BTC被当作"需要拟合的曲线" (K-P拟合 + 单组分ADE) | 本文: BTC被理解为"两个物理过程的叠加"并实验证明这种理解能自校准恢复流量</a:t>
            </a:r>
          </a:p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五、工程价值</a:t>
            </a:r>
          </a:p>
          <a:p>
            <a:pPr>
              <a:defRPr sz="1800" b="1">
                <a:solidFill>
                  <a:srgbClr val="C0392B"/>
                </a:solidFill>
                <a:latin typeface="Microsoft YaHei"/>
              </a:defRPr>
            </a:pPr>
            <a:r>
              <a:t>多元素化学编码(含稀土) → 一次焖井 → 定期井口采样 → 模型分解 → 逐段产量 → 无需井下工具 → 全生命周期可监测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谢谢！请老师批评指正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DEE"/>
                </a:solidFill>
                <a:latin typeface="Microsoft YaHei"/>
              </a:defRPr>
            </a:pPr>
            <a:r>
              <a:t>Piecewise Advection-Dispersion Modeling of Sustained Tracer Release</a:t>
            </a:r>
            <a:br/>
            <a:r>
              <a:t>from an Oleophilic Epoxy/Fe₃O₄ Proppant for Production Allocation</a:t>
            </a:r>
            <a:br/>
            <a:r>
              <a:t>in Multi-Stage Fractured Horizontal Wells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