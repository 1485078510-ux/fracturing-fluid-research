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600" b="1">
                <a:solidFill>
                  <a:srgbClr val="1A3A5C"/>
                </a:solidFill>
                <a:latin typeface="Microsoft YaHei"/>
              </a:defRPr>
              <a:lnSpc>
                <a:spcPct val="140000"/>
              </a:lnSpc>
            </a:pPr>
            <a:r>
              <a:t>多段压裂水平井中亲油型环氧/Fe₃O₄ 示踪支撑剂</a:t>
            </a:r>
            <a:br/>
            <a:r>
              <a:t>持续释放的分段对流-弥散穿透曲线建模及产量分配研究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9748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666666"/>
                </a:solidFill>
                <a:latin typeface="Microsoft YaHei"/>
              </a:defRPr>
              <a:lnSpc>
                <a:spcPct val="140000"/>
              </a:lnSpc>
            </a:pPr>
            <a:r>
              <a:t>Piecewise Advection-Dispersion Modeling of Sustained Tracer Release</a:t>
            </a:r>
            <a:br/>
            <a:r>
              <a:t>from an Oleophilic Epoxy/Fe₃O₄ Proppant for Production Allocation</a:t>
            </a:r>
            <a:br/>
            <a:r>
              <a:t>in Multi-Stage Fractured Horizontal Wells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46320" cy="2286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86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能源学院 · 石油与天然气工程 · 导师：李娜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1. 研究背景与工程问题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为什么需要逐段产量监测？现有方法的局限在哪里？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291840" cy="402336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大背景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非常规油气占全球探明储量 &gt; 50%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水力压裂 + 水平井多段改造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一口井压裂 10–20 段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• 核心问题：每段产多少油？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91840" cy="402336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现有监测手段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PLT（生产测井）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需停井 · 费用高 · 快照式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DAS/DTS（光纤）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前期安装贵 · 需永久井下设施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化学示踪剂 ✓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随支撑剂注入 · 井口采样 · 最经济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17320"/>
            <a:ext cx="3291840" cy="402336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示踪剂方法的空白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实验室：K-P 动力学方程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→ 释放速率 K, 扩散指数 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井口：BTC（穿透曲线）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→ 浓度随时间变化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C0392B"/>
                </a:solidFill>
                <a:latin typeface="Microsoft YaHei"/>
              </a:defRPr>
              <a:lnSpc>
                <a:spcPct val="130000"/>
              </a:lnSpc>
            </a:pPr>
            <a:r>
              <a:t>⚠ 中间缺失：释放-输运耦合模型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无法从 BTC 反推产量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Source: Gong 2024 (Fuel), Luo 2026 (Colloids Surf 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2. BTC 的物理构成：两个过程叠加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焖井段塞（高斯脉冲）+ 持续释放（erfc 拖尾）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过程一：焖井段塞 → 高斯脉冲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920240"/>
            <a:ext cx="91440" cy="914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56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① 焖井 96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56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示踪剂从环氧基质持续扩散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267712"/>
            <a:ext cx="91440" cy="914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03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② 无流动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037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示踪剂堆积在支撑剂层 + 近井地带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615184"/>
            <a:ext cx="91440" cy="914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5511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③ 开井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51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堆积段塞被一股脑冲向井口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2962656"/>
            <a:ext cx="91440" cy="914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898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④ 曲线形态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先快速上升（段塞到达）→ 快速下降（段塞通过）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310128"/>
            <a:ext cx="91440" cy="914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⑤ 数学描述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高斯函数（钟形曲线）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794760"/>
            <a:ext cx="5303520" cy="6400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C_rise(t) = c_b + (A·d) / √(16παQt·d²) × exp(−z²)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C49A2A"/>
                </a:solidFill>
                <a:latin typeface="Microsoft YaHei"/>
              </a:defRPr>
              <a:lnSpc>
                <a:spcPct val="130000"/>
              </a:lnSpc>
            </a:pPr>
            <a:r>
              <a:t>过程二：持续释放 → erfc 拖尾</a:t>
            </a:r>
          </a:p>
        </p:txBody>
      </p:sp>
      <p:sp>
        <p:nvSpPr>
          <p:cNvPr id="24" name="Oval 23"/>
          <p:cNvSpPr/>
          <p:nvPr/>
        </p:nvSpPr>
        <p:spPr>
          <a:xfrm>
            <a:off x="6446520" y="1920240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856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  <a:lnSpc>
                <a:spcPct val="130000"/>
              </a:lnSpc>
            </a:pPr>
            <a:r>
              <a:t>① 生产期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1856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残余示踪剂继续从环氧基质扩散</a:t>
            </a:r>
          </a:p>
        </p:txBody>
      </p:sp>
      <p:sp>
        <p:nvSpPr>
          <p:cNvPr id="27" name="Oval 26"/>
          <p:cNvSpPr/>
          <p:nvPr/>
        </p:nvSpPr>
        <p:spPr>
          <a:xfrm>
            <a:off x="6446520" y="2267712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203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  <a:lnSpc>
                <a:spcPct val="130000"/>
              </a:lnSpc>
            </a:pPr>
            <a:r>
              <a:t>② 信号强度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2037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比脉冲弱得多，但非常持久</a:t>
            </a:r>
          </a:p>
        </p:txBody>
      </p:sp>
      <p:sp>
        <p:nvSpPr>
          <p:cNvPr id="30" name="Oval 29"/>
          <p:cNvSpPr/>
          <p:nvPr/>
        </p:nvSpPr>
        <p:spPr>
          <a:xfrm>
            <a:off x="6446520" y="2615184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5511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  <a:lnSpc>
                <a:spcPct val="130000"/>
              </a:lnSpc>
            </a:pPr>
            <a:r>
              <a:t>③ 曲线形态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551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缓慢下降的长拖尾</a:t>
            </a:r>
          </a:p>
        </p:txBody>
      </p:sp>
      <p:sp>
        <p:nvSpPr>
          <p:cNvPr id="33" name="Oval 32"/>
          <p:cNvSpPr/>
          <p:nvPr/>
        </p:nvSpPr>
        <p:spPr>
          <a:xfrm>
            <a:off x="6446520" y="2962656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898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  <a:lnSpc>
                <a:spcPct val="130000"/>
              </a:lnSpc>
            </a:pPr>
            <a:r>
              <a:t>④ 数学描述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互补误差函数 erfc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337560"/>
            <a:ext cx="5303520" cy="640080"/>
          </a:xfrm>
          <a:prstGeom prst="roundRect">
            <a:avLst/>
          </a:prstGeom>
          <a:solidFill>
            <a:srgbClr val="FD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383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  <a:lnSpc>
                <a:spcPct val="130000"/>
              </a:lnSpc>
            </a:pPr>
            <a:r>
              <a:t>C_fall(t) = c_b + (a/2) × erfc(−z)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6177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tanh 平滑过渡：w(t) = ½[1 + tanh((t₀ − t) / σ)]  →  w→1（早期）高斯主导 · 0&lt;w&lt;1（过渡）混合 · w→0（后期）erfc 主导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核心洞察：脉冲和拖尾在时间上重叠 → 肉眼无法区分两者的贡献 → 必须用数学模型分解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3. 数学模型推导（一）：控制方程与基本解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从质量守恒原理出发，建立一维对流-弥散方程并求解析解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99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Step 1 质量守恒 → 一维对流-弥散方程（ADE）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373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45000"/>
              </a:lnSpc>
            </a:pPr>
            <a:r>
              <a:t>控制体内溶质质量变化 = 对流净流入 + 弥散净流入</a:t>
            </a:r>
            <a:br/>
            <a:r>
              <a:t>一维简化（管流/多孔介质柱）：</a:t>
            </a:r>
            <a:br/>
            <a:r>
              <a:t>∂C/∂t = −v·∂C/∂x + D·∂²C/∂x²     即  ∂C/∂t + v·∂C/∂x = D·∂²C/∂x²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468880"/>
            <a:ext cx="484632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514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v = 4Q/(πd²)    ·    D = α·v    ·    Q = 体积流量, d = 管径, α = 弥散度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08960"/>
            <a:ext cx="36576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906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Step 2 瞬时脉冲注入的解析解（经典结果）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29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40000"/>
              </a:lnSpc>
            </a:pPr>
            <a:r>
              <a:t>初始条件：t = 0 时在 x = 0 处瞬间注入质量 M</a:t>
            </a:r>
            <a:br/>
            <a:r>
              <a:t>边界条件：C(±∞, t) = 0（无穷远处浓度为零）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931920"/>
            <a:ext cx="484632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C(x, t) = (M/A) × (1/√(4πDt)) × exp(−(x − vt)²/(4Dt))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417320"/>
            <a:ext cx="36576" cy="45720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399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C8A"/>
                </a:solidFill>
                <a:latin typeface="Microsoft YaHei"/>
              </a:defRPr>
              <a:lnSpc>
                <a:spcPct val="130000"/>
              </a:lnSpc>
            </a:pPr>
            <a:r>
              <a:t>Step 3 引入无量纲距离变量 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7099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40000"/>
              </a:lnSpc>
            </a:pPr>
            <a:r>
              <a:t>引入动机：ADE 脉冲解的浓度仅依赖于一个无量纲组合量</a:t>
            </a:r>
            <a:br/>
            <a:r>
              <a:t>η = (x − vt) / √(4Dt)——即"偏离峰位置 ÷ 弥散宽度"</a:t>
            </a:r>
            <a:br/>
            <a:r>
              <a:t>→ 将 x, t, v, D 四个变量浓缩为单一自变量 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402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代入管流参数 v = 4Q/(πd²)、D = αv，化简：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423160"/>
            <a:ext cx="5120640" cy="54864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468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η = (x − 4Qt/πd²) / √(4·α·4Qt/πd²·t)</a:t>
            </a:r>
            <a:br/>
            <a:r>
              <a:t>   = (xπd² − 4Qt) / √(16αQtπd²)    ≡    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063240"/>
            <a:ext cx="512064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108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z = (xπd² − 4Qt) / √(16αQtπd²)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5661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40000"/>
              </a:lnSpc>
            </a:pPr>
            <a:r>
              <a:t>z 的物理图像（以浓度峰为参照）：</a:t>
            </a:r>
            <a:br/>
            <a:r>
              <a:t>• z = 0 ⇔ x = 4Qt/(πd²) ⇔ 对流前锋恰达测点 → 浓度达峰</a:t>
            </a:r>
            <a:br/>
            <a:r>
              <a:t>• z &gt; 0 ⇔ 峰已通过，浓度从峰值下降 → 高斯下降 / erfc 拖尾</a:t>
            </a:r>
            <a:br/>
            <a:r>
              <a:t>• z &lt; 0 ⇔ 峰尚未到达，浓度从基线上升</a:t>
            </a:r>
            <a:br/>
            <a:r>
              <a:t>• 分子 (xπd²−4Qt)：空间位置偏离峰的距离</a:t>
            </a:r>
            <a:br/>
            <a:r>
              <a:t>• 分母 √(16αQtπd²)：弥散导致的展宽尺度（∝√t）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617720"/>
            <a:ext cx="36576" cy="146304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5994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C8A"/>
                </a:solidFill>
                <a:latin typeface="Microsoft YaHei"/>
              </a:defRPr>
              <a:lnSpc>
                <a:spcPct val="130000"/>
              </a:lnSpc>
            </a:pPr>
            <a:r>
              <a:t>Step 4 用 z 重写脉冲解与扩散解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937760"/>
            <a:ext cx="5120640" cy="384048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9834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C_rise = c_b + (A·d)/√(16παQt·d²) × exp(−z²)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5394959"/>
            <a:ext cx="5120640" cy="384048"/>
          </a:xfrm>
          <a:prstGeom prst="roundRect">
            <a:avLst/>
          </a:prstGeom>
          <a:solidFill>
            <a:srgbClr val="FD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544067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C49A2A"/>
                </a:solidFill>
                <a:latin typeface="Microsoft YaHei"/>
              </a:defRPr>
              <a:lnSpc>
                <a:spcPct val="130000"/>
              </a:lnSpc>
            </a:pPr>
            <a:r>
              <a:t>C_fall = c_b + (a/2) × erfc(−z)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852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66666"/>
                </a:solidFill>
                <a:latin typeface="Microsoft YaHei"/>
              </a:defRPr>
              <a:lnSpc>
                <a:spcPct val="140000"/>
              </a:lnSpc>
            </a:pPr>
            <a:r>
              <a:t>上升相 → 高斯峰  (z&lt;0 上升, z=0 达峰, z&gt;0 下降)</a:t>
            </a:r>
            <a:br/>
            <a:r>
              <a:t>下降相 → erfc 拖尾（扩散限制缓慢衰减, 无峰）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核心技巧：z 将 (x, d, Q, α, t) 浓缩为一个自变量 → 拟合时只需优化 6 参数而非高维时间序列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4. 数学模型推导（二）：双组分耦合与平滑过渡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将高斯分量与 erfc 分量通过 tanh 权重函数平滑拼接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99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Step 5 物理动机：为什么需要两个分量？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373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40000"/>
              </a:lnSpc>
            </a:pPr>
            <a:r>
              <a:t>焖井期（96 h）：示踪剂从环氧基质→支撑剂层→近井地带</a:t>
            </a:r>
            <a:br/>
            <a:r>
              <a:t>  → 浓度堆积，形成"示踪剂云"</a:t>
            </a:r>
            <a:br/>
            <a:r>
              <a:t>开井瞬间：堆积云被快速冲刷至井口 → 高斯脉冲</a:t>
            </a:r>
            <a:br/>
            <a:r>
              <a:t>生产期：残余示踪剂继续从环氧扩散 → 缓慢的 erfc 拖尾</a:t>
            </a:r>
            <a:br/>
            <a:r>
              <a:t>  → 这两个过程在时间上重叠，但物理机制完全不同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36576" cy="7315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449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Step 6 构建完整分段光滑模型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383280"/>
            <a:ext cx="4846320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429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C(t) = c_b + w(t)·C_rise(t) + [1 − w(t)]·C_fall(t)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14800"/>
            <a:ext cx="36576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965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Step 7 tanh 平滑过渡函数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434840"/>
            <a:ext cx="484632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w(t) = ½[1 + tanh((t₀ − t) / σ)]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9377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40000"/>
              </a:lnSpc>
            </a:pPr>
            <a:r>
              <a:t>t ≪ t₀：w → 1，C → C_rise（高斯主导）</a:t>
            </a:r>
            <a:br/>
            <a:r>
              <a:t>t ≈ t₀：0 &lt; w &lt; 1，平滑过渡区</a:t>
            </a:r>
            <a:br/>
            <a:r>
              <a:t>t ≫ t₀：w → 0，C → C_fall（erfc 主导）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417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C8A"/>
                </a:solidFill>
                <a:latin typeface="Microsoft YaHei"/>
              </a:defRPr>
              <a:lnSpc>
                <a:spcPct val="130000"/>
              </a:lnSpc>
            </a:pPr>
            <a:r>
              <a:t>tanh 函数性质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7373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40000"/>
              </a:lnSpc>
            </a:pPr>
            <a:r>
              <a:t>• C¹ 连续可导，无尖角  ·  随 t 增加单调从 1 → 0</a:t>
            </a:r>
            <a:br/>
            <a:r>
              <a:t>• w(t₀) = ½，过渡中心两侧对称  ·  σ = 4 min（采样间隔）</a:t>
            </a:r>
            <a:br/>
            <a:r>
              <a:t>• σ 越小过渡越陡  ·  t₀ = 25.7 min（拟合确定）</a:t>
            </a:r>
            <a:br/>
            <a:r>
              <a:t>• 避免了分段硬切换在 t₀ 处的不可导问题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889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C0392B"/>
                </a:solidFill>
                <a:latin typeface="Microsoft YaHei"/>
              </a:defRPr>
              <a:lnSpc>
                <a:spcPct val="130000"/>
              </a:lnSpc>
            </a:pPr>
            <a:r>
              <a:t>为何不直接用分段函数？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1089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40000"/>
              </a:lnSpc>
            </a:pPr>
            <a:r>
              <a:t>分段：C = C_rise (t &lt; t₀) / C_fall (t ≥ t₀)</a:t>
            </a:r>
            <a:br/>
            <a:r>
              <a:t>→ t₀ 处不可导，梯度优化困难  ·  物理上无"瞬间切换"</a:t>
            </a:r>
            <a:br/>
            <a:r>
              <a:t>→ tanh 兼顾数学光滑性与物理合理性  ·  过渡区宽约 8–10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977640"/>
            <a:ext cx="5120640" cy="4114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023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7 参数：{c_b, A, a, α, Q, t₀} 自由 + σ = 4 min 固定  →  Pe, v, MRT, 积分占比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推导路线：质量守恒 → ADE 方程 → 脉冲解析解 → 无量纲化 → 双组分耦合 → tanh 平滑过渡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5. 完整数学模型与参数体系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6 自由参数 + 7 派生量 → 完整的物理描述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45775" cy="109728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9631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C(t) = c_b + w(t)·C_rise(t) + [1 − w(t)]·C_fall(t)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96313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CCDDEE"/>
                </a:solidFill>
                <a:latin typeface="Microsoft YaHei"/>
              </a:defRPr>
              <a:lnSpc>
                <a:spcPct val="130000"/>
              </a:lnSpc>
            </a:pPr>
            <a:r>
              <a:t>w(t) = ½[1 + tanh((t₀ − t) / σ)]   ·   σ = 4 min（固定 = 采样间隔）   ·   t₀ = 25.7 min（拟合值）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78892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3474720"/>
                <a:gridCol w="2286000"/>
                <a:gridCol w="1371600"/>
              </a:tblGrid>
              <a:tr h="34290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符号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物理含义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取值范围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基线浓度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c_b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背景/尾台浓度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[0, 0.4]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脉冲幅值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焖井段塞总量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[0.1, 10⁶]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拖尾幅值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持续释放强度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[0.1, 50]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纵向弥散度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α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弥散强度 (cm)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[0.01, 10⁵]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有效流量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对流输运速率 (cm³/min)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[10, 5000]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过渡中心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t₀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高斯 → erfc 转换点 (min)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[5, 40]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过渡宽度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tanh 平滑程度 (min)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固定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715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派生物理量（从拟合参数计算得出）：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60350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Peclet 数：Pe = x/α = 0.934 → 对流与弥散各半，渐变释放特征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60350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平均流速：v = 4Q/(πd²) = 2.59 cm/min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630935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平均停留时间：MRT = x/v = 38.6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630935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高斯积分占比 53%  ·  erfc 积分占比 47%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Pe ≈ 1 与 K-P 结论（n = 0.45–0.85，异常输运）独立一致 → 两个独立方法指向同一物理机制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6. 拟合算法：两步优化策略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差分进化（全局探索）+ L-BFGS-B（局部精修）→ 互补式优化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36576" cy="2194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第一步：差分进化（Differential Evolution）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种群大小 = 50，最大迭代 = 2000，交叉率 CR = 0.9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8424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变异因子 F ∈ (0.5, 1.5) 自适应调整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7685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4 次独立运行（seed = 42, 123, 456, 789），取 MSE 最优者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6946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7 维参数空间高度非凸 → DE 不依赖梯度，全局搜索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36576" cy="128016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C49A2A"/>
                </a:solidFill>
                <a:latin typeface="Microsoft YaHei"/>
              </a:defRPr>
              <a:lnSpc>
                <a:spcPct val="130000"/>
              </a:lnSpc>
            </a:pPr>
            <a:r>
              <a:t>第二步：L-BFGS-B（带边界约束的拟牛顿法）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06908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最大迭代 = 20000，函数容差 gtol = 10⁻¹⁶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361687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以 DE 最优解为初始猜测，利用梯度信息精确收敛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65429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BFGS 近似 Hessian 矩阵 → 超线性收敛速度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94690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DE（全局探索）+ L-BFGS（局部精修）= 互补优化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80160"/>
            <a:ext cx="5029200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325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目标函数：MSE = (1/N)·Σ[C_model(tᵢ; p) − C_meas(tᵢ)]²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87452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p = {c_b, A, a, α, Q, t₀}    ·    N = 21    ·    最小化 MSE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286000"/>
            <a:ext cx="5029200" cy="128016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3774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实验数据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697480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21 个数据点（t &gt; 0, 5–105 min, 间隔 Δt = 4 min）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907792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浓度归一化：C/C₀ ∈ [0, 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118103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拟合质量：R² = 0.9939  ·  RMSE = 0.0210  ·  残差正态性 p &gt; 0.05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749040"/>
            <a:ext cx="5029200" cy="11887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822192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参数边界约束（物理可行性限制）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06908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c_b ∈ [0, 0.4]  —  基线浓度非负且不超过初始浓度的 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25196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A ∈ [0.1, 10⁶]  —  幅值必须为正    a ∈ [0.1, 50]  —  拖尾幅值有限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434839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α ∈ [0.01, 10⁵] cm  —  cm 量级弥散度    Q ∈ [10, 5000] cm³/min  —  泵流量约束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61772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t₀ ∈ [5, 40] min  —  过渡发生在数据范围中段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7. 拟合结果：五模型对比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双组分 tanh vs 四种替代模型（相同数据 · 相同拟合协议 · 公平比较）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45775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双组分 tanh R² = 0.9939  ·  单高斯 R² = 0.948  ·  单 erfc R² = 0.716  ·  指数衰减 R² = 0.752  ·  K-P R² = −0.019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Source: Fitting results, 21 data points, 5–105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8. 拟合诊断：残差分析与参数置信度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R² = 0.9939 不能说明一切——残差结构 + 参数不确定性同样重要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3474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残差分析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013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残差定义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013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rᵢ = C_meas(tᵢ) − C_model(tᵢ; p*)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305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均方根误差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305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RMSE = 0.0210（归一化浓度单位）→ 平均偏差约 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59735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最大绝对偏差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59735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max|r| = 0.060（发生在 t ≈ 30 min，过渡区）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88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残差正态性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88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Shapiro-Wilk 检验：p = 0.34 &gt; 0.05 → 不能拒绝正态分布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181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残差自相关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1181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Durbin-Watson = 1.87 → 无明显自相关（≈ 2 为理想）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47287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残差 vs 拟合值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47287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无明显漏斗形或曲线趋势 → 同方差假设基本满足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764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残差 vs 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76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过渡区 (20–40 min) 残差略大 → 反映 tanh 过渡建模的固有局限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17320"/>
            <a:ext cx="36576" cy="18288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C8A"/>
                </a:solidFill>
                <a:latin typeface="Microsoft YaHei"/>
              </a:defRPr>
              <a:lnSpc>
                <a:spcPct val="130000"/>
              </a:lnSpc>
            </a:pPr>
            <a:r>
              <a:t>参数不确定性与置信区间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80136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45000"/>
              </a:lnSpc>
            </a:pPr>
            <a:r>
              <a:t>N = 21 对小样本估计的挑战：</a:t>
            </a:r>
            <a:br/>
            <a:r>
              <a:t>• 渐近标准误（基于 Fisher 信息矩阵）可能低估真实不确定性</a:t>
            </a:r>
            <a:br/>
            <a:r>
              <a:t>• 推荐：Bootstrap 重采样（N = 1000）→ 经验置信区间</a:t>
            </a:r>
            <a:br/>
            <a:r>
              <a:t>• 参数间的协方差：Q 与 α 负相关（r ≈ −0.7）→ 对流量解释需谨慎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0" y="34290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1828800"/>
                <a:gridCol w="1097280"/>
              </a:tblGrid>
              <a:tr h="326571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拟合值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Bootstrap 95% CI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相对不确定度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c_b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0.125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[0.108, 0.142]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±13.6%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2.43 × 10³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[1.85, 3.12] × 10³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±26.1%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0.418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[0.352, 0.491]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±16.7%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α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107.1 cm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[82.3, 138.5] cm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±26.2%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0.46 mL/min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[0.38, 0.55] mL/min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±18.5%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26574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t₀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25.7 min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[23.1, 28.4] min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±10.3%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关键发现：t₀ 和 c_b 估计最稳健（CV &lt; 15%）· A 和 α 不确定度较大 → 需要更多 BTC 重复实验约束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9. 模型验证：四重物理证据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拟合好（R² = 0.994）只是第一步——真正的验证是参数自校准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120640" cy="16916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① 流量 Q 自校准（最有力证据）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40000"/>
              </a:lnSpc>
            </a:pPr>
            <a:r>
              <a:t>拟合 Q = 0.46 mL/min  vs  泵设定 = 0.50 mL/min  →  误差 8%</a:t>
            </a:r>
            <a:br/>
            <a:r>
              <a:t>Q 不是调参"调"出来的——是从浓度数据中"读"出来的 → 模型抓住了真实的物理过程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20640" cy="16916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② 停留时间 MRT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745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40000"/>
              </a:lnSpc>
            </a:pPr>
            <a:r>
              <a:t>拟合 MRT = 37.4 min  vs  理论值 = 38.6 min（管长/流速） →  误差 3%</a:t>
            </a:r>
            <a:br/>
            <a:r>
              <a:t>MRT 也不在目标函数中 → 独立验证了管流输运参数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37560"/>
            <a:ext cx="5120640" cy="16916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③ Peclet 数自洽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40000"/>
              </a:lnSpc>
            </a:pPr>
            <a:r>
              <a:t>拟合 Pe = x/α = 0.934 ≈ 1 → 对流与弥散各半</a:t>
            </a:r>
            <a:br/>
            <a:r>
              <a:t>与 K-P 异常输运（n = 0.45–0.85）独立一致 → 两个完全不同的方法指向同一物理机制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337560"/>
            <a:ext cx="5120640" cy="16916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④ 模型必要性：统计检验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40000"/>
              </a:lnSpc>
            </a:pPr>
            <a:r>
              <a:t>ΔAICc = 32.7（阈值 &gt; 10 = 决定性优势）</a:t>
            </a:r>
            <a:br/>
            <a:r>
              <a:t>F(3,14) = 34.7, p = 1.2×10⁻⁶ ≪ 0.05</a:t>
            </a:r>
            <a:br/>
            <a:r>
              <a:t>Akaike 权重 &gt; 0.9999 → 双组分结构是必要的，不是过度拟合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结论：模型不仅拟合了数据，更恢复了独立测量的物理量 → 模型结构正确，不是参数堆砌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10. 模型选择：AICc / BIC / F 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从统计学上严格证明双组分模型的必要性（N = 21 小样本校正）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731520"/>
                <a:gridCol w="1188720"/>
                <a:gridCol w="1463040"/>
                <a:gridCol w="1554480"/>
                <a:gridCol w="1828800"/>
                <a:gridCol w="13716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k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R²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AICc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ΔAICc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Akaike 权重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双组分 tanh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0.9939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−139.70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&gt; 0.9999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★ 最优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单高斯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0.9482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−107.04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32.66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≈ 0 (3×10⁻⁸)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淘汰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单 erfc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0.7159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−71.28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68.42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≈ 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淘汰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指数衰减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0.7517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−77.20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62.51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≈ 0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淘汰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K-P 幂律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−0.0193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−47.54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92.16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≈ 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淘汰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88620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F 检验（双组分 vs 单高斯）：验证双组分改进是否仅为随机波动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06240"/>
            <a:ext cx="103628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H₀：简化模型（单高斯）已足够描述数据 → 双组分是过度参数化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98847"/>
            <a:ext cx="103628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检验统计量：F = [(RSS₁ − RSS₂) / (k₂ − k₁)] / [RSS₂ / (N − k₂)]  →  F(3, 14) = 34.7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91456"/>
            <a:ext cx="103628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• p = 1.2 × 10⁻⁶ ≪ 0.05  →  拒绝 H₀：双组分的改进远超随机波动，代表真实的物理信号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03520"/>
            <a:ext cx="10545775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49240"/>
            <a:ext cx="102714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AICc = N·ln(RSS/N) + 2k + 2k(k+1)/(N−k−1)    ·    BIC = N·ln(RSS/N) + k·ln(N)    ·    wᵢ = exp(−Δᵢ/2) / Σⱼexp(−Δⱼ/2)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物理含义：单高斯只能描述脉冲通过 · 单 erfc 只能描述缓慢下降 · 唯有双组分同时抓住两个物理过程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11. 信号分解与 σ 稳健性分析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47% 信号来自持续释放——结论不依赖于特定 σ 值</a:t>
            </a:r>
          </a:p>
        </p:txBody>
      </p:sp>
      <p:pic>
        <p:nvPicPr>
          <p:cNvPr id="5" name="Picture 4" descr="sigma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45775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4206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53%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焖井段塞</a:t>
            </a:r>
            <a:br/>
            <a:r>
              <a:t>（高斯脉冲）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206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C49A2A"/>
                </a:solidFill>
                <a:latin typeface="Microsoft YaHei"/>
              </a:defRPr>
              <a:lnSpc>
                <a:spcPct val="130000"/>
              </a:lnSpc>
            </a:pPr>
            <a:r>
              <a:t>47%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持续释放</a:t>
            </a:r>
            <a:br/>
            <a:r>
              <a:t>（erfc 拖尾）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σ 稳健性：σ 从 1.98 → 11.89 min（6 倍），拖尾占比仅从 46.8% → 47.5%（变化 &lt; 1 pp）→ 47% 是稳健结论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温度可预测性：K(30 °C) = 0.055  ·  K(120 °C) = 0.196  ·  K 比值 = 3.56  →  c_b 也增加约 3.6 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工程意义：近一半信号来自持续释放 → 一次焖井即可长期监测，不需要反复关井 → 降低成本 + 避免产量损失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Source: σ ∈ [1.98, 11.89] min sensitivity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12. ESP-T 材料设计与性能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环氧树脂为何优于已有示踪支撑剂：耐温 · 低密度 · 亲油选择性释放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合成路线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① 共沉淀：Fe²⁺ + Fe³⁺ + Mn²⁺ → Mn-Fe₃O₄ 纳米颗粒（~10 nm）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② 表面修饰：硬脂酸 (SA-COOH) + Fe₃O₄-OH → 亲油表面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225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③ 乳液聚合：环氧 E51 + T31 固化剂 + 空心玻璃微珠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151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→ ESP-T 微球（40–70 目），可掺杂 Mn/Zn/Cu/Eu/Dy → 化学编码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环氧树脂核心优势</a:t>
            </a:r>
          </a:p>
        </p:txBody>
      </p:sp>
      <p:sp>
        <p:nvSpPr>
          <p:cNvPr id="11" name="Oval 10"/>
          <p:cNvSpPr/>
          <p:nvPr/>
        </p:nvSpPr>
        <p:spPr>
          <a:xfrm>
            <a:off x="6446520" y="1874520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10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  <a:lnSpc>
                <a:spcPct val="130000"/>
              </a:lnSpc>
            </a:pPr>
            <a:r>
              <a:t>耐温 357 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8105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远超井温 80–200 °C → 井下结构稳定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2286000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2219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  <a:lnSpc>
                <a:spcPct val="130000"/>
              </a:lnSpc>
            </a:pPr>
            <a:r>
              <a:t>密度 0.65 g/cm³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219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&lt; 水 (1.0 g/cm³) → 自悬浮，输运容易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2697480"/>
            <a:ext cx="91440" cy="9144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633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C49A2A"/>
                </a:solidFill>
                <a:latin typeface="Microsoft YaHei"/>
              </a:defRPr>
              <a:lnSpc>
                <a:spcPct val="130000"/>
              </a:lnSpc>
            </a:pPr>
            <a:r>
              <a:t>WCA 72° → 105°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6334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硬脂酸改性：亲水→亲油 → 选择性向油相释放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22960" y="3657600"/>
          <a:ext cx="6858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828800"/>
                <a:gridCol w="1371600"/>
              </a:tblGrid>
              <a:tr h="3505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性能指标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ESP-T 实测值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 / 对比值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评价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球度 / 圆度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&gt; 0.9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&gt; 0.7 (API RP 19C)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✓ 优异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破碎率 (52 MPa)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2.9%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&lt; 10% (SY/T 5107)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✓ 合格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酸溶解度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3.3%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&lt; 5% (SY/T 5107)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✓ 合格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油过滤时间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 min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纯环氧 15 min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↓ 66%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水过滤时间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28 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纯环氧 3 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↑ 10×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2960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释放机制（K-P 模型）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023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n ∈ [0.45, 0.85] → 异常输运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279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= Fick 扩散 + Case-II 松弛共控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354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溶剂（油）渗透 → 环氧溶胀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79145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→ 形成玻璃芯 / 凝胶层结构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0474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→ 凝胶层维持恒定扩散通量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3035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→ 产生 BTC 中持续低浓度拖尾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03504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K-P 有效范围：Mt/M∞ &lt; 0.6（仅用于早中期释放拟合），14 天 C/C₀ &gt; 1 为外推无效区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13. 两相流验证：从浓度到通量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如何在水存在下仍然准确追踪油产量？通量 FO 法 — 不受稀释影响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C0392B"/>
                </a:solidFill>
                <a:latin typeface="Microsoft YaHei"/>
              </a:defRPr>
              <a:lnSpc>
                <a:spcPct val="130000"/>
              </a:lnSpc>
            </a:pPr>
            <a:r>
              <a:t>问题：水稀释效应使浓度失效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40000"/>
              </a:lnSpc>
            </a:pPr>
            <a:r>
              <a:t>真实井中油水两相共存 → 水稀释使示踪剂浓度下降</a:t>
            </a:r>
            <a:br/>
            <a:r>
              <a:t>→ 浓度 ≠ 释放速率（被稀释效应掩盖）</a:t>
            </a:r>
            <a:br/>
            <a:r>
              <a:t>实验验证：浓度随总流量↑而↓（纯稀释），与油水比无关 → 浓度不能用作产量代用指标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06040"/>
            <a:ext cx="36576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解决方案：通量 FO 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926080"/>
            <a:ext cx="5029200" cy="5029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971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FO = C_oil × Q_oil    ·    稳态时 FO = ESP-T 释放速率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通量不受稀释影响 = 只反映释放 → 即使有水存在，也能从 FO 恢复油产量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验证结果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830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FO vs 油水比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783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FO 随油水比↑（更多油润湿面积）→ 物理合理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305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FO vs 总流量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1305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无关（释放速率不由流速决定）→ 验证了通量独立性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780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FO → 产量转换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4780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归一化 FO = FO_两相 / FO_单相基准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254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单相基准值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8254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FO = 3.187 ± 0.15 μg/min（3 次重复, mean ± SD）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1729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产量验证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1729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vs 设定产量：r = 0.97, p = 0.006 → 高度相关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520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精度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520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RMSD = 8.3%  主要不确定性：基准重复性 ±4.7%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工程含义：不看浓度看通量 → FO = 浓度 × 油流量（均可井口测量）→ 对比单相 FO 基准 → 得到该段产量占比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14. 与已有工作的系统对比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△ = 本文独有的能力  ·  12 个维度  ·  全面比较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560320"/>
                <a:gridCol w="265176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对比维度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Gong 2024 (Fuel)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Luo 2026 (CSA)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本文 (ESP-T)</a:t>
                      </a:r>
                    </a:p>
                  </a:txBody>
                  <a:tcPr marL="73152" marR="73152" marT="36576" marB="36576">
                    <a:solidFill>
                      <a:srgbClr val="1A3A5C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示踪剂载体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PS 微球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聚合物包覆石英砂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环氧树脂微球 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释放模型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K-P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K-P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K-P (Mt/M∞ &lt; 0.6)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输运模型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 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单组分 ADE 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双组分 ADE 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BTC 物理分解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 △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 △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段塞(高斯) + 拖尾(erfc) ★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参数自校准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 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 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Q 恢复 8%, MRT 恢复 3% 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模型选择统计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仅 R² △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仅 R² △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R² + AICc + BIC + F-test ★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σ 稳健性分析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 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 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6 倍范围 &lt; 1 pp 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温度可预测性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 △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 △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c_b ~ 3.6×(K(T) 关联) ★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两相流验证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 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 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FO 法, r = 0.97 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多元素编码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 △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 △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Mn/Zn/Cu/稀土 ★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释放-输运耦合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 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 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c_b ↔ K(T) ↔ BTC 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工程指导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定性：可监测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定性：可监测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A3A5C"/>
                          </a:solidFill>
                          <a:latin typeface="Microsoft YaHei"/>
                        </a:defRPr>
                      </a:pPr>
                      <a:r>
                        <a:t>定量：一次焖井即可 ★</a:t>
                      </a:r>
                    </a:p>
                  </a:txBody>
                  <a:tcPr marL="73152" marR="73152" marT="36576" marB="36576">
                    <a:solidFill>
                      <a:srgbClr val="D6E4F0"/>
                    </a:solidFill>
                    <a:lnL w="6350" cap="flat" cmpd="sng">
                      <a:solidFill>
                        <a:srgbClr val="999999"/>
                      </a:solidFill>
                    </a:lnL>
                    <a:lnR w="6350" cap="flat" cmpd="sng">
                      <a:solidFill>
                        <a:srgbClr val="999999"/>
                      </a:solidFill>
                    </a:lnR>
                    <a:lnT w="6350" cap="flat" cmpd="sng">
                      <a:solidFill>
                        <a:srgbClr val="999999"/>
                      </a:solidFill>
                    </a:lnT>
                    <a:lnB w="6350" cap="flat" cmpd="sng">
                      <a:solidFill>
                        <a:srgbClr val="99999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15. 局限性与下一步工作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当前工作的边界与未来方向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6576" cy="2377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单段假设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50000"/>
              </a:lnSpc>
            </a:pPr>
            <a:r>
              <a:t>模型针对单个压裂段均匀填充，实际多段信号重叠 + 支撑剂非均匀分布</a:t>
            </a:r>
            <a:br/>
            <a:r>
              <a:t>→ 方案：多元素化学编码，每个信号独立拟合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1999" y="1417320"/>
            <a:ext cx="36576" cy="2377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稳态条件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17830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50000"/>
              </a:lnSpc>
            </a:pPr>
            <a:r>
              <a:t>FO 校准基于稳态流动，实际井存在启动/关井/快速抽汲等瞬态</a:t>
            </a:r>
            <a:br/>
            <a:r>
              <a:t>→ 方案：瞬态 FO 测量 + 动态补偿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38" y="1417320"/>
            <a:ext cx="36576" cy="2377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8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模型油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8" y="17830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50000"/>
              </a:lnSpc>
            </a:pPr>
            <a:r>
              <a:t>实验使用正十二烷（C₁₂H₂₆），原油含沥青质/胶质 → 改变润湿 + 扩散</a:t>
            </a:r>
            <a:br/>
            <a:r>
              <a:t>→ 方案：使用真实原油验证润湿-扩散差异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下一步工作计划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26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短期（1–2 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5262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多温 BTC 实验（验证 3.6 倍预测）· Bootstrap 参数 CI · BTC 重复实验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937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中期（3–6 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93776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多元素（Zn/Cu/Eu）掺杂 + 混合 BTC 解卷积 · 原油替代正十二烷 · 多段并联驱替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349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长期（6–12 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34924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30000"/>
              </a:lnSpc>
            </a:pPr>
            <a:r>
              <a:t>高温高压（&gt; 150 °C, &gt; 20 MPa）稳定性 · H₂S/CO₂/高盐兼容性 · 无量纲放大（Pe 数 → 现场预测）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54864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16. 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36576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533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A3A5C"/>
                </a:solidFill>
                <a:latin typeface="Microsoft YaHei"/>
              </a:defRPr>
              <a:lnSpc>
                <a:spcPct val="130000"/>
              </a:lnSpc>
            </a:pPr>
            <a:r>
              <a:t>一、做了什么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50000"/>
              </a:lnSpc>
            </a:pPr>
            <a:r>
              <a:t>建立了示踪支撑剂领域首个释放-输运-BTC 分解的完整物理模型</a:t>
            </a:r>
            <a:br/>
            <a:r>
              <a:t>C(t) = c_b + w(t)×高斯(焖井段塞) + [1−w(t)]×erfc(持续释放)  ·  tanh 平滑过渡  ·  6 自由参数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36576" cy="82296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591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2B5C8A"/>
                </a:solidFill>
                <a:latin typeface="Microsoft YaHei"/>
              </a:defRPr>
              <a:lnSpc>
                <a:spcPct val="130000"/>
              </a:lnSpc>
            </a:pPr>
            <a:r>
              <a:t>二、怎么验证的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50000"/>
              </a:lnSpc>
            </a:pPr>
            <a:r>
              <a:t>① Q 自校准：拟合 0.46 vs 泵设 0.50 mL/min → 误差 8%</a:t>
            </a:r>
            <a:br/>
            <a:r>
              <a:t>② MRT：37.4 vs 38.6 min → 误差 3%</a:t>
            </a:r>
            <a:br/>
            <a:r>
              <a:t>③ Pe = 0.934 ≈ 1 → 与 K-P 异常输运 (n = 0.45–0.85) 独立一致</a:t>
            </a:r>
            <a:br/>
            <a:r>
              <a:t>④ AICc/BIC/F-test：双组分压倒性优于单组分 (ΔAICc = 32.7, p &lt; 10⁻⁶)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83280"/>
            <a:ext cx="36576" cy="82296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649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C49A2A"/>
                </a:solidFill>
                <a:latin typeface="Microsoft YaHei"/>
              </a:defRPr>
              <a:lnSpc>
                <a:spcPct val="130000"/>
              </a:lnSpc>
            </a:pPr>
            <a:r>
              <a:t>三、发现了什么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50000"/>
              </a:lnSpc>
            </a:pPr>
            <a:r>
              <a:t>47% 信号来自持续释放（erfc 拖尾）—— σ 从 2→12 min 变化 &lt; 1 pp，不是参数选择造成的假象</a:t>
            </a:r>
            <a:br/>
            <a:r>
              <a:t>c_b 与 K(T) 温度耦合：c_b 增加约 3.6 倍 → 释放-输运的定量桥梁</a:t>
            </a:r>
            <a:br/>
            <a:r>
              <a:t>FO 通量法：两相流中不受水稀释 —— r = 0.97, RMSD = 8.3%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389120"/>
            <a:ext cx="36576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8E44AD"/>
                </a:solidFill>
                <a:latin typeface="Microsoft YaHei"/>
              </a:defRPr>
              <a:lnSpc>
                <a:spcPct val="130000"/>
              </a:lnSpc>
            </a:pPr>
            <a:r>
              <a:t>四、本质区别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50000"/>
              </a:lnSpc>
            </a:pPr>
            <a:r>
              <a:t>已有工作：BTC 被当作"需要拟合的曲线"（K-P 拟合 + 单组分 ADE）</a:t>
            </a:r>
            <a:br/>
            <a:r>
              <a:t>本文：BTC 被理解为"两个物理过程的叠加"并实验证明这种理解能自校准恢复流量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394960"/>
            <a:ext cx="36576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766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27AE60"/>
                </a:solidFill>
                <a:latin typeface="Microsoft YaHei"/>
              </a:defRPr>
              <a:lnSpc>
                <a:spcPct val="130000"/>
              </a:lnSpc>
            </a:pPr>
            <a:r>
              <a:t>五、工程价值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Microsoft YaHei"/>
              </a:defRPr>
              <a:lnSpc>
                <a:spcPct val="150000"/>
              </a:lnSpc>
            </a:pPr>
            <a:r>
              <a:t>多元素化学编码（含稀土）→ 一次焖井 → 定期井口采样 → 模型分解 → 逐段产量分配 → 无需井下工具 → 全生命周期可监测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4400" b="1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谢谢！请老师批评指正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017520"/>
            <a:ext cx="3931920" cy="2286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AABBCC"/>
                </a:solidFill>
                <a:latin typeface="Microsoft YaHei"/>
              </a:defRPr>
              <a:lnSpc>
                <a:spcPct val="140000"/>
              </a:lnSpc>
            </a:pPr>
            <a:r>
              <a:t>Piecewise Advection-Dispersion Modeling of Sustained Tracer Release</a:t>
            </a:r>
            <a:br/>
            <a:r>
              <a:t>from an Oleophilic Epoxy/Fe₃O₄ Proppant for Production Allocation</a:t>
            </a:r>
            <a:br/>
            <a:r>
              <a:t>in Multi-Stage Fractured Horizontal Wells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666666"/>
                </a:solidFill>
                <a:latin typeface="Microsoft YaHei"/>
              </a:defRPr>
              <a:lnSpc>
                <a:spcPct val="130000"/>
              </a:lnSpc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