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77" r:id="rId9"/>
    <p:sldId id="275" r:id="rId10"/>
    <p:sldId id="262" r:id="rId11"/>
    <p:sldId id="263" r:id="rId12"/>
    <p:sldId id="264" r:id="rId13"/>
    <p:sldId id="278" r:id="rId14"/>
    <p:sldId id="276" r:id="rId15"/>
    <p:sldId id="265" r:id="rId16"/>
    <p:sldId id="279" r:id="rId17"/>
    <p:sldId id="266" r:id="rId18"/>
    <p:sldId id="267" r:id="rId19"/>
    <p:sldId id="268" r:id="rId20"/>
    <p:sldId id="269" r:id="rId21"/>
    <p:sldId id="283" r:id="rId22"/>
    <p:sldId id="270" r:id="rId23"/>
    <p:sldId id="28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17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开场白：各位老师好，我今天汇报的题目是多段压裂水平井中亲油型环氧/四氧化三铁示踪支撑剂持续释放的分段对流-弥散穿透曲线建模及产量分配研究。</a:t>
            </a:r>
            <a:br/>
            <a:br/>
            <a:r>
              <a:t>本研究针对一个非常实际的工程问题：多段压裂水平井中，每一段究竟产了多少油？我们通过建立数学模型，从井口采样的示踪剂浓度信号中反推出各段产量。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在进入具体内容之前，我先用这张路线图帮大家建立全局框架。</a:t>
            </a:r>
            <a:br/>
            <a:br/>
            <a:r>
              <a:t>整个汇报分六步走，形成一个完整的逻辑闭环：</a:t>
            </a:r>
            <a:br/>
            <a:r>
              <a:t>第1步，从实际工程问题出发——多段压裂井不知道每段产量，这是行业痛点。</a:t>
            </a:r>
            <a:br/>
            <a:r>
              <a:t>第2步，建立物理模型——我们发现BTC实际上是两个过程的叠加：焖井段塞（高斯脉冲）和持续释放（erfc拖尾）。</a:t>
            </a:r>
            <a:br/>
            <a:r>
              <a:t>第3步，数学推导——从质量守恒建立ADE方程，引入无量纲变量z，构建双组分耦合模型。</a:t>
            </a:r>
            <a:br/>
            <a:r>
              <a:t>第4步，拟合验证——用DE加L-BFGS两步优化拟合6个参数，然后通过四重物理证据自校准验证模型正确性。</a:t>
            </a:r>
            <a:br/>
            <a:r>
              <a:t>第5步，信号分解——发现47%信号来自持续释放，且这一结论对参数选择不敏感。</a:t>
            </a:r>
            <a:br/>
            <a:r>
              <a:t>第6步，工程应用——FO通量法解决两相流问题，多元素编码实现逐段监测。</a:t>
            </a:r>
            <a:br/>
            <a:br/>
            <a:r>
              <a:t>请注意箭头的颜色变化：前三步是建立模型（蓝色），后三步是验证和应用（金色）——这体现了从理论构建到实践检验的完整科学范式。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这一页介绍研究背景。核心问题是：一口水平井压裂10到20段，但我们不知道每段贡献了多少产量。</a:t>
            </a:r>
            <a:br/>
            <a:br/>
            <a:r>
              <a:t>现有手段各有缺陷：PLT需要停井、费用高；光纤前期安装贵；化学示踪剂最经济——随支撑剂注入、井口采样就行。</a:t>
            </a:r>
            <a:br/>
            <a:br/>
            <a:r>
              <a:t>但示踪剂方法有个空白：实验室能做释放动力学（K-P方程），井口能测穿透曲线（BTC），但中间缺少一个模型把两者连起来——这就是我们要解决的问题。</a:t>
            </a:r>
            <a:br/>
            <a:br/>
            <a:r>
              <a:t>简单类比：你知道水龙头出水速度，也知道水池水位变化，但不知道水管参数——就无法从水位反推水龙头开度。我们的模型就是把这根“水管”算清楚。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这一页是核心物理图像。BTC不是单一过程，而是两个过程的叠加。</a:t>
            </a:r>
            <a:br/>
            <a:br/>
            <a:r>
              <a:t>过程一：焖井96小时期间，示踪剂从环氧树脂里扩散出来，堆积在支撑剂层和近井地带。开井瞬间，这个堆积的'示踪剂云'被一股脑冲向井口——形成高斯脉冲，先快速上升再快速下降。</a:t>
            </a:r>
            <a:br/>
            <a:br/>
            <a:r>
              <a:t>过程二：生产期间，残余示踪剂继续从环氧缓慢扩散——形成erfc拖尾，比脉冲弱但非常持久。</a:t>
            </a:r>
            <a:br/>
            <a:br/>
            <a:r>
              <a:t>关键点：这两个过程在时间上重叠，肉眼无法区分。因此必须用数学模型把它们分离开。</a:t>
            </a:r>
            <a:br/>
            <a:r>
              <a:t>我们使用tanh函数作为平滑过渡的'调音台推子'——早期高斯主导，后期erfc主导，中间平滑过渡。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rPr dirty="0" err="1"/>
              <a:t>这一页开始数学推导的第一部分。我们分四步走</a:t>
            </a:r>
            <a:r>
              <a:rPr dirty="0"/>
              <a:t>：</a:t>
            </a:r>
            <a:br>
              <a:rPr dirty="0"/>
            </a:br>
            <a:br>
              <a:rPr dirty="0"/>
            </a:br>
            <a:r>
              <a:rPr dirty="0" err="1"/>
              <a:t>第一步，从质量守恒出发建立一维对流-弥散方程（ADE</a:t>
            </a:r>
            <a:r>
              <a:rPr dirty="0"/>
              <a:t>）。</a:t>
            </a:r>
            <a:r>
              <a:rPr dirty="0" err="1"/>
              <a:t>控制体内溶质变化等于对流净流入加弥散净流入。对于我们的管流系统，流速v</a:t>
            </a:r>
            <a:r>
              <a:rPr dirty="0"/>
              <a:t>=4Q/πd²，弥散系数D=αv。</a:t>
            </a:r>
            <a:br>
              <a:rPr dirty="0"/>
            </a:br>
            <a:br>
              <a:rPr dirty="0"/>
            </a:br>
            <a:r>
              <a:rPr dirty="0" err="1"/>
              <a:t>第二步，ADE对瞬时脉冲注入有经典解析解</a:t>
            </a:r>
            <a:r>
              <a:rPr dirty="0"/>
              <a:t>——</a:t>
            </a:r>
            <a:r>
              <a:rPr dirty="0" err="1"/>
              <a:t>高斯函数。这个解告诉我们：在x处、t时刻的浓度正比于exp</a:t>
            </a:r>
            <a:r>
              <a:rPr dirty="0"/>
              <a:t>(-(x-</a:t>
            </a:r>
            <a:r>
              <a:rPr dirty="0" err="1"/>
              <a:t>vt</a:t>
            </a:r>
            <a:r>
              <a:rPr dirty="0"/>
              <a:t>)²/4Dt)，</a:t>
            </a:r>
            <a:r>
              <a:rPr dirty="0" err="1"/>
              <a:t>即一个以vt为中心、以</a:t>
            </a:r>
            <a:r>
              <a:rPr dirty="0"/>
              <a:t>√(4Dt)</a:t>
            </a:r>
            <a:r>
              <a:rPr dirty="0" err="1"/>
              <a:t>为宽度的钟形曲线</a:t>
            </a:r>
            <a:r>
              <a:rPr dirty="0"/>
              <a:t>。</a:t>
            </a:r>
            <a:br>
              <a:rPr dirty="0"/>
            </a:br>
            <a:br>
              <a:rPr dirty="0"/>
            </a:br>
            <a:r>
              <a:rPr dirty="0" err="1"/>
              <a:t>第三步很关键</a:t>
            </a:r>
            <a:r>
              <a:rPr dirty="0"/>
              <a:t>——</a:t>
            </a:r>
            <a:r>
              <a:rPr dirty="0" err="1"/>
              <a:t>引入无量纲变量z。为什么要这么做？因为脉冲解的浓度实际上只依赖一个组合量η</a:t>
            </a:r>
            <a:r>
              <a:rPr dirty="0"/>
              <a:t>=(x-</a:t>
            </a:r>
            <a:r>
              <a:rPr dirty="0" err="1"/>
              <a:t>vt</a:t>
            </a:r>
            <a:r>
              <a:rPr dirty="0"/>
              <a:t>)/√(4Dt)，</a:t>
            </a:r>
            <a:r>
              <a:rPr dirty="0" err="1"/>
              <a:t>我们称为相似变量。代入管流参数后化简得到z的表达式。z的物理含义是'偏离峰的距离除以弥散宽度</a:t>
            </a:r>
            <a:r>
              <a:rPr dirty="0"/>
              <a:t>'。</a:t>
            </a:r>
            <a:br>
              <a:rPr dirty="0"/>
            </a:br>
            <a:br>
              <a:rPr dirty="0"/>
            </a:br>
            <a:r>
              <a:rPr dirty="0" err="1"/>
              <a:t>第四步，用z重写两个分量：上升相是exp</a:t>
            </a:r>
            <a:r>
              <a:rPr dirty="0"/>
              <a:t>(-z²)</a:t>
            </a:r>
            <a:r>
              <a:rPr dirty="0" err="1"/>
              <a:t>的高斯型，下降相是erfc</a:t>
            </a:r>
            <a:r>
              <a:rPr dirty="0"/>
              <a:t>(-z)</a:t>
            </a:r>
            <a:r>
              <a:rPr dirty="0" err="1"/>
              <a:t>的误差函数型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这一页是推导的第二部分，解释为什么需要两个分量以及如何把它们拼接起来。</a:t>
            </a:r>
            <a:br/>
            <a:br/>
            <a:r>
              <a:t>Step 5：物理动机。焖井期形成的示踪剂云在开井瞬间被冲刷→高斯脉冲；生产期残余扩散→erfc拖尾。两个过程在时间上重叠但机制不同，必须用两个数学分量分别描述。</a:t>
            </a:r>
            <a:br/>
            <a:br/>
            <a:r>
              <a:t>Step 6：完整模型。C(t)=c_b + w·C_rise + (1-w)·C_fall。</a:t>
            </a:r>
            <a:br/>
            <a:br/>
            <a:r>
              <a:t>Step 7：tanh平滑过渡。为什么不直接用分段函数（t&lt;t₀用高斯，t≥t₀用erfc）？因为分段函数在t₀处不可导，梯度优化会出问题；而且物理上不存在'瞬间切换'的时刻。tanh提供了数学上光滑、物理上合理的过渡。σ=4min（采样间隔）控制过渡宽度。</a:t>
            </a:r>
            <a:br/>
            <a:br/>
            <a:r>
              <a:t>右列补充了tanh的性质和为什么不用分段函数的详细论证。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这一页展示完整模型和参数体系。</a:t>
            </a:r>
            <a:br/>
            <a:br/>
            <a:r>
              <a:t>核心方程：C(t)=c_b + w(t)·C_rise + [1-w(t)]·C_fall，其中w(t)=½[1+tanh((t₀-t)/σ)]。</a:t>
            </a:r>
            <a:br/>
            <a:br/>
            <a:r>
              <a:t>7个参数：6个自由（c_b基线、A脉冲幅值、a拖尾幅值、α弥散度、Q流量、t₀过渡中心）+1个固定（σ=4min=采样间隔）。</a:t>
            </a:r>
            <a:br/>
            <a:br/>
            <a:r>
              <a:t>从这些拟合参数可以派生出7个物理量，最关键的是Peclet数Pe=x/α=0.934≈1——说明对流和弥散各占一半，这是渐变释放的特征，与K-P模型的异常输运结论独立一致。</a:t>
            </a:r>
            <a:br/>
            <a:br/>
            <a:r>
              <a:t>参数表的每一行都标注了物理含义和取值范围，方便查阅。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这一页是专门为帮助理解而设计的——不需要记任何公式，理解物理直觉就够了。</a:t>
            </a:r>
            <a:br/>
            <a:br/>
            <a:r>
              <a:t>三个类比：</a:t>
            </a:r>
            <a:br/>
            <a:r>
              <a:t>1. 高斯脉冲 = 水库开闸——第一波最猛，迅速消退。对应焖井96小时后堆积的示踪剂云被冲刷。</a:t>
            </a:r>
            <a:br/>
            <a:r>
              <a:t>2. erfc拖尾 = 湿海绵渗水——缓慢、持续、不会干。对应残余示踪剂的持续扩散。</a:t>
            </a:r>
            <a:br/>
            <a:r>
              <a:t>3. tanh推子 = 调音台——平滑切换，没有'咔嗒'声。对应数学光滑性和物理合理性。</a:t>
            </a:r>
            <a:br/>
            <a:br/>
            <a:r>
              <a:t>关于z：用高速公路等车的类比。z=0就是车到你面前，z&lt;0车在后面，z&gt;0车过去了。浓度只依赖于z这个单一变量，这就是无量纲化的威力——把5个参数浓缩成1个。</a:t>
            </a:r>
            <a:br/>
            <a:br/>
            <a:r>
              <a:t>如果后面的推导听不懂，记住这页的三个类比就够了。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这一页介绍拟合算法。我们使用两步优化策略，全局探索加局部精修。</a:t>
            </a:r>
            <a:br/>
            <a:br/>
            <a:r>
              <a:t>第一步：差分进化（DE）。这是一个不依赖梯度的全局优化算法。种群大小50个候选解，迭代2000代，每代通过变异和交叉产生新解。为什么用DE？因为我们的7维参数空间高度非凸——有很多局部极小值，基于梯度的方法会陷进去。DE随机搜索整个空间，找到全局最优区域。4次独立运行（不同随机种子）确保可复现性。</a:t>
            </a:r>
            <a:br/>
            <a:br/>
            <a:r>
              <a:t>第二步：L-BFGS-B。拿到DE的粗解后，用拟牛顿法做精修。BFGS利用梯度信息逼近Hessian矩阵，收敛速度超线性。L表示有限内存版本，效率高。函数容差设到10⁻¹⁶，确保收敛到机器精度。</a:t>
            </a:r>
            <a:br/>
            <a:br/>
            <a:r>
              <a:t>目标函数是最小化均方误差MSE。右列给出了实验数据的详细信息和参数边界约束。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这一页展示拟合结果的核心证据——五模型对比图。</a:t>
            </a:r>
            <a:br/>
            <a:br/>
            <a:r>
              <a:t>请大家看这张图：蓝色圆点是实验测得的21个数据点，红色实线是我们的双组分tanh模型。可以看到模型几乎完美穿过所有数据点，R²=0.9939。</a:t>
            </a:r>
            <a:br/>
            <a:br/>
            <a:r>
              <a:t>关键对比在另外四条虚线：单高斯（绿色）峰值拟合尚可但完全没有拖尾；单erfc（橙色）有拖尾但没有峰；指数衰减（紫色）和K-P幂律（灰色）根本不适用。</a:t>
            </a:r>
            <a:br/>
            <a:br/>
            <a:r>
              <a:t>这说明BTC确实是两个物理过程的叠加，缺一个都不行。特别请关注过渡区（20-40分钟），只有tanh模型能同时抓住峰和拖尾的过渡。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拟合好不能只看R²——这一页做拟合诊断。</a:t>
            </a:r>
            <a:br/>
            <a:br/>
            <a:r>
              <a:t>左列是残差分析：残差定义为测量值减模型值。RMSE=0.021，平均偏差仅2%。最大偏差0.06发生在过渡区（t≈30min），这是tanh过渡建模的固有局限——过渡区最复杂所以拟合难度最大。Shapiro-Wilk检验p=0.34，不能拒绝残差正态分布；Durbin-Watson=1.87，无明显自相关；残差无明显漏斗趋势，同方差假设基本满足。</a:t>
            </a:r>
            <a:br/>
            <a:br/>
            <a:r>
              <a:t>右列是参数置信度。N=21是小样本，渐近标准误可能低估不确定性。推荐Bootstrap重采样（1000次）得到经验置信区间。参数间Q和α有负相关（r≈-0.7），解释流量时需要谨慎。表格给出6个参数Bootstrap 95%置信区间，t₀和c_b估计最稳健（CV&lt;15%），A和α不确定度较大。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这一页是整个拟合-验证体系的'总控面板'，帮助大家建立全局理解。</a:t>
            </a:r>
            <a:br/>
            <a:br/>
            <a:r>
              <a:t>上面那条流程图概括了从数据到参数的四个步骤：</a:t>
            </a:r>
            <a:br/>
            <a:r>
              <a:t>1. 21个数据点输入</a:t>
            </a:r>
            <a:br/>
            <a:r>
              <a:t>2. DE全局搜索——像在全中国找最高的山，先在每个省撒50个探子</a:t>
            </a:r>
            <a:br/>
            <a:r>
              <a:t>3. L-BFGS精修——找到最高的省后，爬山爬到山顶</a:t>
            </a:r>
            <a:br/>
            <a:r>
              <a:t>4. 输出最优参数——但这只完成了工作的一半</a:t>
            </a:r>
            <a:br/>
            <a:br/>
            <a:r>
              <a:t>后面才是真正的验证：Q自校准（拟合的流量和泵设定差8%）——这是最有力的证据，因为Q不在目标函数里，是从浓度数据中'读'出来的。</a:t>
            </a:r>
            <a:br/>
            <a:br/>
            <a:r>
              <a:t>为什么DE+L-BFGS是最优组合？用一个比喻：DE是在全中国范围内找最高的山脉（全局），L-BFGS是从山脚爬到山顶（局部）。单独用梯度法就像闭着眼睛爬山——如果初始位置在山脚，你只能爬到最近的小山丘，而找不到喜马拉雅。</a:t>
            </a:r>
            <a:br/>
            <a:br/>
            <a:r>
              <a:t>最后的验证逻辑链特别重要——拟合好只是必要条件，物理自校准才是充分条件。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这一页是模型验证最有力的部分——四重物理证据。</a:t>
            </a:r>
            <a:br/>
            <a:br/>
            <a:r>
              <a:t>第一重（最强）：流量Q自校准。模型拟合的Q=0.46 mL/min，泵设定是0.50 mL/min，误差仅8%。注意Q是模型从浓度数据中'读'出来的——不是调参调出来的！这说明模型抓住了真实的物理过程。</a:t>
            </a:r>
            <a:br/>
            <a:br/>
            <a:r>
              <a:t>第二重：平均停留时间MRT。拟合值37.4min，理论值38.6min，误差3%。MRT也不在目标函数中，独立验证了管流参数。</a:t>
            </a:r>
            <a:br/>
            <a:br/>
            <a:r>
              <a:t>第三重：Peclet数自洽。Pe=0.934≈1，对流弥散各半。这与K-P模型的异常输运结论（n=0.45-0.85）独立一致——两个完全不同的方法指向同一物理机制，相互印证。</a:t>
            </a:r>
            <a:br/>
            <a:br/>
            <a:r>
              <a:t>第四重：统计检验。AICc/BIC/F-test一致表明双组分结构是必要的，不是过度拟合。ΔAICc=32.7，远超阈值10。</a:t>
            </a:r>
            <a:br/>
            <a:br/>
            <a:r>
              <a:t>总结：模型不仅拟合了数据，更恢复了独立测量的物理量——这是模型结构正确的铁证。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这一页从统计学上严格证明双组分模型的必要性。</a:t>
            </a:r>
            <a:br/>
            <a:br/>
            <a:r>
              <a:t>核心看AICc——赤池信息准则的小样本校正版。它不仅衡量拟合优度（RSS），还对参数个数施加惩罚，防止过拟合。AICc越小越好。</a:t>
            </a:r>
            <a:br/>
            <a:br/>
            <a:r>
              <a:t>结果很清楚：双组分tanh的AICc=-139.70，单高斯是-107.04，差了32.66。ΔAICc&gt;10被认为具有决定性优势。Akaike权重&gt;0.9999——意味着在五个候选模型中，双组分几乎可以确定是最优模型。</a:t>
            </a:r>
            <a:br/>
            <a:br/>
            <a:r>
              <a:t>F检验直接回答'双组分是否只是过度参数化'这个问题。F(3,14)=34.7，p=1.2×10⁻⁶——双组分的改进远超随机波动。</a:t>
            </a:r>
            <a:br/>
            <a:br/>
            <a:r>
              <a:t>物理含义：单高斯只能描述脉冲通过，单erfc只能描述缓慢下降——唯有双组分同时抓住两个物理过程，印证了BTC=段塞+拖尾的物理假设。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这一页展示信号分解结果和稳健性分析。</a:t>
            </a:r>
            <a:br/>
            <a:br/>
            <a:r>
              <a:t>核心发现：积分C_rise（高斯分量）占53%，积分C_fall（erfc分量）占47%。</a:t>
            </a:r>
            <a:br/>
            <a:br/>
            <a:r>
              <a:t>这意味着什么？井口检测到的示踪剂中，将近一半不是焖井期间积攒的段塞，而是生产期间持续从支撑剂里扩散出来的！</a:t>
            </a:r>
            <a:br/>
            <a:br/>
            <a:r>
              <a:t>有人会问：47%这个数靠谱吗？是不是调参调出来的？</a:t>
            </a:r>
            <a:br/>
            <a:r>
              <a:t>我们做了σ稳健性分析——把σ从2min变到12min（6倍范围），拖尾占比仅从46.8%变到47.5%，变化不到1个百分点。说明47%的结论不依赖于特定σ值。</a:t>
            </a:r>
            <a:br/>
            <a:br/>
            <a:r>
              <a:t>温度可预测性：K(30°C)=0.055，K(120°C)=0.196，比值3.56——预测cb也增加约3.6倍。这意味着高温井中示踪信号更强，更容易监测。</a:t>
            </a:r>
            <a:br/>
            <a:br/>
            <a:r>
              <a:t>工程意义：一次焖井就能长期监测，不需要反复关井——降低成本，避免产量损失。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这一页介绍我们用的示踪支撑剂材料ESP-T。</a:t>
            </a:r>
            <a:br/>
            <a:br/>
            <a:r>
              <a:t>合成分三步：共沉淀制纳米Fe₃O₄、硬脂酸修饰让表面亲油、乳液聚合包覆环氧树脂。可以掺杂Mn/Zn/Cu/Eu/Dy多种元素实现化学编码——每段压裂用不同元素的示踪剂，井口采样就能区分各段信号。</a:t>
            </a:r>
            <a:br/>
            <a:br/>
            <a:r>
              <a:t>环氧树脂的核心优势：耐温357°C远超井温、密度0.65低于水可以自悬浮、硬脂酸改性后接触角从72°升到105°——亲水变亲油，示踪剂只往油相释放不往水相。</a:t>
            </a:r>
            <a:br/>
            <a:br/>
            <a:r>
              <a:t>性能表数据：球度&gt;0.9、破碎率2.9%、酸溶解度3.3%均优于行业标准。油过滤时间5min（纯环氧15min，快了66%），水过滤时间28min（纯环氧3min，慢了10倍）——说明材料确实选择性亲油。</a:t>
            </a:r>
            <a:br/>
            <a:br/>
            <a:r>
              <a:t>释放机制：K-P模型的n在0.45到0.85之间，属于异常输运——Fick扩散和Case-II松弛共同控制。溶剂渗透→环氧溶胀→形成玻璃芯/凝胶层→维持恒定扩散通量→产生BTC中的持续低浓度拖尾。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t>这一页解决一个实际问题：真实井中有水，水会稀释示踪剂浓度，怎么办？</a:t>
            </a:r>
            <a:br/>
            <a:br/>
            <a:r>
              <a:t>实验验证了浓度随总流量增加而下降（纯稀释效应），与油水比无关——说明浓度不能直接用作产量的代用指标。</a:t>
            </a:r>
            <a:br/>
            <a:br/>
            <a:r>
              <a:t>我们的解决方案是通量FO法：FO=C_oil×Q_oil。稳态下FO等于ESP-T的释放速率，不受水稀释影响。因为水稀释让浓度降低，但油流量没变，两者的乘积（通量）保持不变——这就是通量法的核心逻辑。</a:t>
            </a:r>
            <a:br/>
            <a:br/>
            <a:r>
              <a:t>验证结果：FO随油水比增加（更多油润湿面积，物理合理），FO与总流量无关（释放不由流速决定，验证了通量独立性）。归一化FO与设定产量的相关系数r=0.97,p=0.006，RMSD=8.3%。</a:t>
            </a:r>
            <a:br/>
            <a:br/>
            <a:r>
              <a:t>工程含义：不看浓度看通量。FO=浓度×油流量，两者均可井口测量。对比单相FO基准，就能得到该段产量占比——方法自包含，不需要知道井下参数。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Microsoft YaHei"/>
              </a:defRPr>
            </a:pPr>
            <a:r>
              <a:rPr dirty="0"/>
              <a:t>这一页是全面系统对比。我们从12个维度将本文与Gong 2024和Luo 2026两篇最新文献做了比较。</a:t>
            </a:r>
            <a:br>
              <a:rPr dirty="0"/>
            </a:br>
            <a:br>
              <a:rPr dirty="0"/>
            </a:br>
            <a:r>
              <a:rPr dirty="0" err="1"/>
              <a:t>标△的是已有工作不具备的能力</a:t>
            </a:r>
            <a:r>
              <a:rPr dirty="0"/>
              <a:t>——从输运模型、BTC物理分解、参数自校准、模型选择统计、稳健性分析、温度可预测性、两相流验证、多元素编码到释放-输运耦合，本文填补了多个空白。</a:t>
            </a:r>
            <a:br>
              <a:rPr dirty="0"/>
            </a:br>
            <a:br>
              <a:rPr dirty="0"/>
            </a:br>
            <a:r>
              <a:rPr dirty="0" err="1"/>
              <a:t>最核心的区别：已有工作把BTC当作'需要拟合的曲线</a:t>
            </a:r>
            <a:r>
              <a:rPr dirty="0"/>
              <a:t>'——</a:t>
            </a:r>
            <a:r>
              <a:rPr dirty="0" err="1"/>
              <a:t>只是用K-P拟合释放、用单组分ADE描述输运；本文把BTC理解为'两个物理过程的叠加</a:t>
            </a:r>
            <a:r>
              <a:rPr dirty="0"/>
              <a:t>'——</a:t>
            </a:r>
            <a:r>
              <a:rPr dirty="0" err="1"/>
              <a:t>并实验证明了这种理解能自校准恢复流量。这是从曲线拟合到物理建模的范式转变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多段压裂中亲油型环氧</a:t>
            </a:r>
            <a:r>
              <a:rPr dirty="0"/>
              <a:t>/</a:t>
            </a:r>
            <a:r>
              <a:rPr dirty="0" err="1"/>
              <a:t>Fe₃O</a:t>
            </a:r>
            <a:r>
              <a:rPr dirty="0"/>
              <a:t>₄ </a:t>
            </a:r>
            <a:r>
              <a:rPr dirty="0" err="1"/>
              <a:t>示踪支撑剂持续释放的分段对流-弥散穿透曲线建模及产量分配研究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408883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Piecewise Advection-Dispersion Modeling of Sustained Tracer Release</a:t>
            </a:r>
            <a:br>
              <a:rPr dirty="0"/>
            </a:br>
            <a:r>
              <a:rPr dirty="0"/>
              <a:t>from an Oleophilic Epoxy/</a:t>
            </a:r>
            <a:r>
              <a:rPr dirty="0" err="1"/>
              <a:t>Fe₃O</a:t>
            </a:r>
            <a:r>
              <a:rPr dirty="0"/>
              <a:t>₄ Proppant for Production Allocation</a:t>
            </a:r>
            <a:br>
              <a:rPr dirty="0"/>
            </a:br>
            <a:r>
              <a:rPr dirty="0"/>
              <a:t>in Multi-Stage Fractured Horizontal Wells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69003"/>
            <a:ext cx="4846320" cy="228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597603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能源学院 · 石油与天然气工程 · 导师：李娜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  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汇报路线图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从工程问题 → 物理模型 → 数学推导 → 拟合验证 → 工程应用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50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38147" y="1645920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94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工程问题</a:t>
            </a:r>
            <a:br/>
            <a:r>
              <a:t>背景与空白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94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多段压裂井</a:t>
            </a:r>
            <a:br/>
            <a:r>
              <a:t>逐段产量未知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6227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114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29787" y="1645920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258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物理模型</a:t>
            </a:r>
            <a:br/>
            <a:r>
              <a:t>BTC双组分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258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焖井段塞(高斯)</a:t>
            </a:r>
            <a:br/>
            <a:r>
              <a:t>+持续释放(erfc)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391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7278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1427" y="1645920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22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数学推导</a:t>
            </a:r>
            <a:br/>
            <a:r>
              <a:t>ADE →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422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质量守恒→对流弥散</a:t>
            </a:r>
            <a:br/>
            <a:r>
              <a:t>→无量纲化→耦合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4555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6442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13067" y="1645920"/>
            <a:ext cx="457200" cy="4572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拟合验证</a:t>
            </a:r>
            <a:br/>
            <a:r>
              <a:t>6参数 + 4证据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DE+L-BFGS优化</a:t>
            </a:r>
            <a:br/>
            <a:r>
              <a:t>物理自校准验证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3719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5606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04707" y="1645920"/>
            <a:ext cx="457200" cy="4572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750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信号分解</a:t>
            </a:r>
            <a:br/>
            <a:r>
              <a:t>47% + 稳健性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750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erfc拖尾占比</a:t>
            </a:r>
            <a:br/>
            <a:r>
              <a:t>σ不敏感 + 温度预测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28835" y="2322576"/>
            <a:ext cx="10058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47707" y="1554480"/>
            <a:ext cx="1554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96347" y="1645920"/>
            <a:ext cx="457200" cy="4572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147" y="2194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工程应用</a:t>
            </a:r>
            <a:br/>
            <a:r>
              <a:t>FO通量 + 编码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9147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两相流产量追踪</a:t>
            </a:r>
            <a:br/>
            <a:r>
              <a:t>多元素逐段监测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429000"/>
            <a:ext cx="105457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逻辑主线：实际工程需求驱动 → 物理机制分析 → 数学模型建立 → 数据拟合验证 → 物理自校准证明正确性 → 工程应用落地</a:t>
            </a:r>
            <a:br/>
            <a:r>
              <a:t>每步的逻辑递进：前者为后者提供动机和约束，后者为前者提供定量验证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  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1. 研究背景与工程问题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为什么需要逐段产量监测？现有方法的局限在哪里？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大背景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非常规油气占全球探明储量 &gt; 50%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水力压裂 + 水平井多段改造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一口井压裂 10–20 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• 核心问题：每段产多少油？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现有监测手段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PLT（生产测井）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需停井 · 费用高 · 快照式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DAS/DTS（光纤）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前期安装贵 · 需永久井下设施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化学示踪剂 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随支撑剂注入 · 井口采样 · 最经济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示踪剂方法的空白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实验室：K-P 动力学方程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→ 释放速率 K, 扩散指数 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井口：BTC（穿透曲线）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→ 浓度随时间变化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⚠ 中间缺失：释放-输运耦合模型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无法从 BTC 反推产量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Source: Gong 2024 (Fuel), Luo 2026 (Colloids Surf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  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2. BTC 的物理构成：两个过程叠加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焖井段塞（高斯脉冲）+ 持续释放（erfc 拖尾）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A3A5C"/>
                </a:solidFill>
                <a:latin typeface="Microsoft YaHei"/>
              </a:defRPr>
            </a:pPr>
            <a:r>
              <a:t>过程一：焖井段塞 → 高斯脉冲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① 焖井 96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示踪剂从环氧基质持续扩散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② 无流动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示踪剂堆积在支撑剂层 + 近井地带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15184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551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③ 开井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堆积段塞被一股脑冲向井口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962656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④ 曲线形态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先快速上升（段塞到达）→ 快速下降（段塞通过）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310128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⑤ 数学描述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高斯函数（钟形曲线）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94760"/>
            <a:ext cx="5303520" cy="6400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C_rise(t) = c_b + (A·d) / √(16παQt·d²) × exp(−z²)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t>过程二：持续释放 → erfc 拖尾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192024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① 生产期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残余示踪剂继续从环氧基质扩散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2267712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② 信号强度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比脉冲弱得多，但非常持久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2615184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551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③ 曲线形态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缓慢下降的长拖尾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2962656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④ 数学描述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互补误差函数 erfc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337560"/>
            <a:ext cx="5303520" cy="640080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C_fall(t) = c_b + (a/2) × erfc(−z)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6177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tanh 平滑过渡：w(t) = ½[1 + tanh((t₀ − t) / σ)]  →  w→1（早期）高斯主导 · 0&lt;w&lt;1（过渡）混合 · w→0（后期）erfc 主导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核心洞察：脉冲和拖尾在时间上重叠 → 肉眼无法区分两者的贡献 → 必须用数学模型分解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3  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3. 数学模型推导（一）：控制方程与基本解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从质量守恒原理出发，建立一维对流-弥散方程并求解析解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1 质量守恒 → 一维对流-弥散方程（ADE）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控制体内溶质质量变化 = 对流净流入 + 弥散净流入</a:t>
            </a:r>
            <a:br/>
            <a:r>
              <a:t>一维简化（管流/多孔介质柱）：</a:t>
            </a:r>
            <a:br/>
            <a:r>
              <a:t>∂C/∂t = −v·∂C/∂x + D·∂²C/∂x²     即  ∂C/∂t + v·∂C/∂x = D·∂²C/∂x²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543815"/>
            <a:ext cx="4754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v = 4Q/(πd²)    ·    D = α·v    ·    Q = </a:t>
            </a:r>
            <a:r>
              <a:rPr dirty="0" err="1"/>
              <a:t>体积流量</a:t>
            </a:r>
            <a:r>
              <a:rPr dirty="0"/>
              <a:t>, d = </a:t>
            </a:r>
            <a:r>
              <a:rPr dirty="0" err="1"/>
              <a:t>管径</a:t>
            </a:r>
            <a:r>
              <a:rPr dirty="0"/>
              <a:t>, α = </a:t>
            </a:r>
            <a:r>
              <a:rPr dirty="0" err="1"/>
              <a:t>弥散度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2 瞬时脉冲注入的解析解（经典结果）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29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初始条件：t = 0 时在 x = 0 处瞬间注入质量 M</a:t>
            </a:r>
            <a:br/>
            <a:r>
              <a:t>边界条件：C(±∞, t) = 0（无穷远处浓度为零）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93192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C(x, t) = (M/A) × (1/√(4πDt)) × exp(−(x − vt)²/(4Dt))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36576" cy="45720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Step 3 引入无量纲距离变量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7099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引入动机：ADE</a:t>
            </a:r>
            <a:r>
              <a:rPr dirty="0"/>
              <a:t> </a:t>
            </a:r>
            <a:r>
              <a:rPr dirty="0" err="1"/>
              <a:t>脉冲解的浓度仅依赖于一个无量纲组合量</a:t>
            </a:r>
            <a:br>
              <a:rPr dirty="0"/>
            </a:br>
            <a:r>
              <a:rPr dirty="0"/>
              <a:t>η = (x − </a:t>
            </a:r>
            <a:r>
              <a:rPr dirty="0" err="1"/>
              <a:t>vt</a:t>
            </a:r>
            <a:r>
              <a:rPr dirty="0"/>
              <a:t>) / √(4Dt)——</a:t>
            </a:r>
            <a:r>
              <a:rPr dirty="0" err="1"/>
              <a:t>即"偏离峰位置</a:t>
            </a:r>
            <a:r>
              <a:rPr dirty="0"/>
              <a:t> ÷ </a:t>
            </a:r>
            <a:r>
              <a:rPr dirty="0" err="1"/>
              <a:t>弥散宽度</a:t>
            </a:r>
            <a:r>
              <a:rPr dirty="0"/>
              <a:t>"</a:t>
            </a:r>
            <a:br>
              <a:rPr dirty="0"/>
            </a:br>
            <a:r>
              <a:rPr dirty="0"/>
              <a:t>→ 将 x, t, v, D </a:t>
            </a:r>
            <a:r>
              <a:rPr dirty="0" err="1"/>
              <a:t>四个变量浓缩为单一自变量</a:t>
            </a:r>
            <a:r>
              <a:rPr dirty="0"/>
              <a:t> 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代入管流参数 v = 4Q/(πd²)、D = αv，化简：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423160"/>
            <a:ext cx="5120640" cy="54864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η = (x − 4Qt/πd²) / √(4·α·4Qt/πd²·t)</a:t>
            </a:r>
            <a:br/>
            <a:r>
              <a:t>   = (xπd² − 4Qt) / √(16αQtπd²)    ≡    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063240"/>
            <a:ext cx="512064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z = (xπd² − 4Qt) / √(16αQtπd²)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566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z 的物理图像（以浓度峰为参照）：</a:t>
            </a:r>
            <a:br/>
            <a:r>
              <a:t>• z = 0 ⇔ x = 4Qt/(πd²) ⇔ 对流前锋恰达测点 → 浓度达峰</a:t>
            </a:r>
            <a:br/>
            <a:r>
              <a:t>• z &gt; 0 ⇔ 峰已通过，浓度从峰值下降 → 高斯下降 / erfc 拖尾</a:t>
            </a:r>
            <a:br/>
            <a:r>
              <a:t>• z &lt; 0 ⇔ 峰尚未到达，浓度从基线上升</a:t>
            </a:r>
            <a:br/>
            <a:r>
              <a:t>• 分子 (xπd²−4Qt)：空间位置偏离峰的距离</a:t>
            </a:r>
            <a:br/>
            <a:r>
              <a:t>• 分母 √(16αQtπd²)：弥散导致的展宽尺度（∝√t）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617720"/>
            <a:ext cx="36576" cy="146304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99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Step 4 用 z 重写脉冲解与扩散解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937760"/>
            <a:ext cx="512064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49834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C_rise</a:t>
            </a:r>
            <a:r>
              <a:rPr dirty="0"/>
              <a:t> = </a:t>
            </a:r>
            <a:r>
              <a:rPr dirty="0" err="1"/>
              <a:t>c_b</a:t>
            </a:r>
            <a:r>
              <a:rPr dirty="0"/>
              <a:t> + (</a:t>
            </a:r>
            <a:r>
              <a:rPr dirty="0" err="1"/>
              <a:t>A·d</a:t>
            </a:r>
            <a:r>
              <a:rPr dirty="0"/>
              <a:t>)/√(16παQt·d²) × exp(−z²)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394959"/>
            <a:ext cx="5120640" cy="384048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54406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C49A2A"/>
                </a:solidFill>
                <a:latin typeface="Microsoft YaHei"/>
              </a:defRPr>
            </a:pPr>
            <a:r>
              <a:t>C_fall = c_b + (a/2) × erfc(−z)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852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上升相 → 高斯峰  (z&lt;0 上升, z=0 达峰, z&gt;0 下降)</a:t>
            </a:r>
            <a:br/>
            <a:r>
              <a:t>下降相 → erfc 拖尾（扩散限制缓慢衰减, 无峰）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核心技巧：z 将 (x, d, Q, α, t) 浓缩为一个自变量 → 拟合时只需优化 6 参数而非高维时间序列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4   / 27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562855"/>
            <a:ext cx="3238805" cy="858429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16152" y="4590288"/>
            <a:ext cx="350946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 dirty="0"/>
              <a:t>x: </a:t>
            </a:r>
            <a:r>
              <a:rPr sz="1200" dirty="0" err="1"/>
              <a:t>测点位置</a:t>
            </a:r>
            <a:r>
              <a:rPr sz="1200" dirty="0"/>
              <a:t>=100 cm | d: </a:t>
            </a:r>
            <a:r>
              <a:rPr sz="1200" dirty="0" err="1"/>
              <a:t>管内径</a:t>
            </a:r>
            <a:r>
              <a:rPr sz="1200" dirty="0"/>
              <a:t>=5 mm</a:t>
            </a:r>
            <a:br>
              <a:rPr sz="1200" dirty="0"/>
            </a:br>
            <a:r>
              <a:rPr sz="1200" dirty="0"/>
              <a:t>v = 4Q/(πd²): </a:t>
            </a:r>
            <a:r>
              <a:rPr sz="1200" dirty="0" err="1"/>
              <a:t>平均流速</a:t>
            </a:r>
            <a:r>
              <a:rPr sz="1200" dirty="0"/>
              <a:t> (cm/min)</a:t>
            </a:r>
            <a:br>
              <a:rPr sz="1200" dirty="0"/>
            </a:br>
            <a:r>
              <a:rPr sz="1200" dirty="0"/>
              <a:t>D = αv: </a:t>
            </a:r>
            <a:r>
              <a:rPr sz="1200" dirty="0" err="1"/>
              <a:t>纵向弥散系数</a:t>
            </a:r>
            <a:r>
              <a:rPr sz="1200" dirty="0"/>
              <a:t> (cm²/min)</a:t>
            </a:r>
            <a:br>
              <a:rPr sz="1200" dirty="0"/>
            </a:br>
            <a:r>
              <a:rPr sz="1200" dirty="0"/>
              <a:t>α: </a:t>
            </a:r>
            <a:r>
              <a:rPr sz="1200" dirty="0" err="1"/>
              <a:t>纵向弥散度</a:t>
            </a:r>
            <a:r>
              <a:rPr sz="1200" dirty="0"/>
              <a:t> (cm) — </a:t>
            </a:r>
            <a:r>
              <a:rPr sz="1200" dirty="0" err="1"/>
              <a:t>介质固有属性</a:t>
            </a:r>
            <a:endParaRPr sz="1200" dirty="0"/>
          </a:p>
        </p:txBody>
      </p:sp>
      <p:sp>
        <p:nvSpPr>
          <p:cNvPr id="36" name="Rounded Rectangle 35"/>
          <p:cNvSpPr/>
          <p:nvPr/>
        </p:nvSpPr>
        <p:spPr>
          <a:xfrm>
            <a:off x="1143000" y="5605272"/>
            <a:ext cx="4544568" cy="6858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16152" y="5632704"/>
            <a:ext cx="4544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 dirty="0"/>
              <a:t>Q: </a:t>
            </a:r>
            <a:r>
              <a:rPr sz="1200" dirty="0" err="1"/>
              <a:t>体积流量</a:t>
            </a:r>
            <a:r>
              <a:rPr sz="1200" dirty="0"/>
              <a:t> (cm³/min) — </a:t>
            </a:r>
            <a:r>
              <a:rPr sz="1200" dirty="0" err="1"/>
              <a:t>拟合参数</a:t>
            </a:r>
            <a:r>
              <a:rPr sz="1200" dirty="0"/>
              <a:t>, </a:t>
            </a:r>
            <a:r>
              <a:rPr sz="1200" dirty="0" err="1"/>
              <a:t>可自校准验证</a:t>
            </a:r>
            <a:br>
              <a:rPr sz="1200" dirty="0"/>
            </a:br>
            <a:r>
              <a:rPr sz="1200" dirty="0"/>
              <a:t>z: </a:t>
            </a:r>
            <a:r>
              <a:rPr sz="1200" dirty="0" err="1"/>
              <a:t>无量纲距离</a:t>
            </a:r>
            <a:r>
              <a:rPr sz="1200" dirty="0"/>
              <a:t> | z=0⇔峰到达, z&gt;0⇔峰已过, z&lt;0⇔峰未到</a:t>
            </a:r>
            <a:br>
              <a:rPr sz="1200" dirty="0"/>
            </a:br>
            <a:r>
              <a:rPr sz="1200" dirty="0" err="1"/>
              <a:t>分子</a:t>
            </a:r>
            <a:r>
              <a:rPr sz="1200" dirty="0"/>
              <a:t>(xπd²−4Qt): </a:t>
            </a:r>
            <a:r>
              <a:rPr sz="1200" dirty="0" err="1"/>
              <a:t>偏离峰距离</a:t>
            </a:r>
            <a:r>
              <a:rPr sz="1200" dirty="0"/>
              <a:t> | </a:t>
            </a:r>
            <a:r>
              <a:rPr sz="1200" dirty="0" err="1"/>
              <a:t>分母</a:t>
            </a:r>
            <a:r>
              <a:rPr sz="1200" dirty="0"/>
              <a:t>√(16αQtπd²): </a:t>
            </a:r>
            <a:r>
              <a:rPr sz="1200" dirty="0" err="1"/>
              <a:t>弥散展宽</a:t>
            </a:r>
            <a:r>
              <a:rPr sz="1200" dirty="0"/>
              <a:t>∝√t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4. 数学模型推导（二）：双组分耦合与平滑过渡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将高斯分量与 erfc 分量通过 tanh 权重函数平滑拼接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5 物理动机：为什么需要两个分量？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焖井期（96 h）：</a:t>
            </a:r>
            <a:r>
              <a:rPr dirty="0" err="1"/>
              <a:t>示踪剂从环氧基质→支撑剂层→近井地带</a:t>
            </a:r>
            <a:br>
              <a:rPr dirty="0"/>
            </a:br>
            <a:r>
              <a:rPr dirty="0"/>
              <a:t>  → </a:t>
            </a:r>
            <a:r>
              <a:rPr dirty="0" err="1"/>
              <a:t>浓度堆积，形成"示踪剂云</a:t>
            </a:r>
            <a:r>
              <a:rPr dirty="0"/>
              <a:t>"</a:t>
            </a:r>
            <a:br>
              <a:rPr dirty="0"/>
            </a:br>
            <a:r>
              <a:rPr dirty="0" err="1"/>
              <a:t>开井瞬间：堆积云被快速冲刷至井口</a:t>
            </a:r>
            <a:r>
              <a:rPr dirty="0"/>
              <a:t> → </a:t>
            </a:r>
            <a:r>
              <a:rPr dirty="0" err="1"/>
              <a:t>高斯脉冲</a:t>
            </a:r>
            <a:br>
              <a:rPr dirty="0"/>
            </a:br>
            <a:r>
              <a:rPr dirty="0" err="1"/>
              <a:t>生产期：残余示踪剂继续从环氧扩散</a:t>
            </a:r>
            <a:r>
              <a:rPr dirty="0"/>
              <a:t> → </a:t>
            </a:r>
            <a:r>
              <a:rPr dirty="0" err="1"/>
              <a:t>缓慢的</a:t>
            </a:r>
            <a:r>
              <a:rPr dirty="0"/>
              <a:t> </a:t>
            </a:r>
            <a:r>
              <a:rPr dirty="0" err="1"/>
              <a:t>erfc</a:t>
            </a:r>
            <a:r>
              <a:rPr dirty="0"/>
              <a:t> </a:t>
            </a:r>
            <a:r>
              <a:rPr dirty="0" err="1"/>
              <a:t>拖尾</a:t>
            </a:r>
            <a:br>
              <a:rPr dirty="0"/>
            </a:br>
            <a:r>
              <a:rPr dirty="0"/>
              <a:t>  → </a:t>
            </a:r>
            <a:r>
              <a:rPr dirty="0" err="1"/>
              <a:t>这两个过程在时间上重叠，但物理机制完全不同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36576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044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6 构建完整分段光滑模型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383280"/>
            <a:ext cx="484632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3584" y="3465310"/>
            <a:ext cx="46451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C(t) = </a:t>
            </a:r>
            <a:r>
              <a:rPr dirty="0" err="1"/>
              <a:t>c_b</a:t>
            </a:r>
            <a:r>
              <a:rPr dirty="0"/>
              <a:t> + w(t)·</a:t>
            </a:r>
            <a:r>
              <a:rPr dirty="0" err="1"/>
              <a:t>C_rise</a:t>
            </a:r>
            <a:r>
              <a:rPr dirty="0"/>
              <a:t>(t) + [1 −</a:t>
            </a:r>
            <a:r>
              <a:rPr lang="zh-CN" altLang="en-US" dirty="0"/>
              <a:t> </a:t>
            </a:r>
            <a:r>
              <a:rPr dirty="0"/>
              <a:t>w(t)]·C_fall(t)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36576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096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Step 7 tanh 平滑过渡函数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43484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w(t) = ½[1 + tanh((t₀ − t) / σ)]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37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 ≪ t₀：w → 1，C → C_rise（高斯主导）</a:t>
            </a:r>
            <a:br/>
            <a:r>
              <a:t>t ≈ t₀：0 &lt; w &lt; 1，平滑过渡区</a:t>
            </a:r>
            <a:br/>
            <a:r>
              <a:t>t ≫ t₀：w → 0，C → C_fall（erfc 主导）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tanh 函数性质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37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C¹ 连续可导，无尖角  ·  随 t 增加单调从 1 → 0</a:t>
            </a:r>
            <a:br/>
            <a:r>
              <a:t>• w(t₀) = ½，过渡中心两侧对称  ·  σ = 4 min（采样间隔）</a:t>
            </a:r>
            <a:br/>
            <a:r>
              <a:t>• σ 越小过渡越陡  ·  t₀ = 25.7 min（拟合确定）</a:t>
            </a:r>
            <a:br/>
            <a:r>
              <a:t>• 避免了分段硬切换在 t₀ 处的不可导问题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为何不直接用分段函数？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108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分段：C = C_rise (t &lt; t₀) / C_fall (t ≥ t₀)</a:t>
            </a:r>
            <a:br/>
            <a:r>
              <a:t>→ t₀ 处不可导，梯度优化困难  ·  物理上无"瞬间切换"</a:t>
            </a:r>
            <a:br/>
            <a:r>
              <a:t>→ tanh 兼顾数学光滑性与物理合理性  ·  过渡区宽约 8–10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977640"/>
            <a:ext cx="512064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4023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7 参数：{c_b, A, a, α, Q, t₀} 自由 + σ = 4 min 固定  →  Pe, v, MRT, 积分占比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推导路线：质量守恒 → ADE 方程 → 脉冲解析解 → 无量纲化 → 双组分耦合 → tanh 平滑过渡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5  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840834"/>
            <a:ext cx="5029200" cy="795528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4868266"/>
            <a:ext cx="4882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/>
              <a:t>c_b: 基线/尾台浓度 [C/C₀] — 无穷长时间后残余水平</a:t>
            </a:r>
            <a:br>
              <a:rPr sz="1200"/>
            </a:br>
            <a:r>
              <a:rPr sz="1200"/>
              <a:t>A: 脉冲幅值 [C/C₀·cm²] — 焖井期堆积的示踪剂总量, A↑→峰↑</a:t>
            </a:r>
            <a:br>
              <a:rPr sz="1200"/>
            </a:br>
            <a:r>
              <a:rPr sz="1200"/>
              <a:t>a: 拖尾幅值 [C/C₀] — 持续释放强度, a∝K(T), 温度越高a越大</a:t>
            </a:r>
            <a:br>
              <a:rPr sz="1200"/>
            </a:br>
            <a:r>
              <a:rPr sz="1200"/>
              <a:t>t₀: 过渡中心 [min] — 高斯→erfc转换时刻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610612"/>
            <a:ext cx="5029200" cy="466344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2638044"/>
            <a:ext cx="4882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200" dirty="0"/>
              <a:t>σ = 4 min (</a:t>
            </a:r>
            <a:r>
              <a:rPr sz="1200" dirty="0" err="1"/>
              <a:t>固定</a:t>
            </a:r>
            <a:r>
              <a:rPr sz="1200" dirty="0"/>
              <a:t>): </a:t>
            </a:r>
            <a:r>
              <a:rPr sz="1200" dirty="0" err="1"/>
              <a:t>tanh过渡宽度</a:t>
            </a:r>
            <a:r>
              <a:rPr sz="1200" dirty="0"/>
              <a:t> = </a:t>
            </a:r>
            <a:r>
              <a:rPr sz="1200" dirty="0" err="1"/>
              <a:t>采样间隔Δt</a:t>
            </a:r>
            <a:br>
              <a:rPr sz="1200" dirty="0"/>
            </a:br>
            <a:r>
              <a:rPr sz="1200" dirty="0"/>
              <a:t>w(t)=½[1+tanh((t₀−t)/σ)]: </a:t>
            </a:r>
            <a:r>
              <a:rPr sz="1200" dirty="0" err="1"/>
              <a:t>t≪t</a:t>
            </a:r>
            <a:r>
              <a:rPr sz="1200" dirty="0"/>
              <a:t>₀→w≈1高斯, </a:t>
            </a:r>
            <a:r>
              <a:rPr sz="1200" dirty="0" err="1"/>
              <a:t>t≫t</a:t>
            </a:r>
            <a:r>
              <a:rPr sz="1200" dirty="0"/>
              <a:t>₀→w≈0 </a:t>
            </a:r>
            <a:r>
              <a:rPr sz="1200" dirty="0" err="1"/>
              <a:t>erfc</a:t>
            </a:r>
            <a:endParaRPr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5. 完整数学模型与参数体系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6 自由参数 + 7 派生量 → 完整的物理描述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45775" cy="916229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9631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C(t) = c_b + w(t)·C_rise(t) + [1 − w(t)]·C_fall(t)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9631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w(t) = ½[1 + tanh((t₀ − t) / σ)]   ·   σ = 4 min（固定 = 采样间隔）   ·   t₀ = 25.7 min（拟合值）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471094"/>
              </p:ext>
            </p:extLst>
          </p:nvPr>
        </p:nvGraphicFramePr>
        <p:xfrm>
          <a:off x="822960" y="2582266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物理含义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取值范围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基线浓度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背景/尾台浓度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[0, 0.4]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脉冲幅值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焖井段塞总量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[0.1, 10⁶]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拖尾幅值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持续释放强度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[0.1, 50]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纵向弥散度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弥散强度 (cm)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[0.01, 10⁵]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有效流量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对流输运速率 (cm³/min)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[10, 5000]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过渡中心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t₀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高斯 → erfc 转换点 (min)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[5, 40]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过渡宽度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tanh 平滑程度 (min)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固定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508346"/>
            <a:ext cx="347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派生物理量（从拟合参数计算得出</a:t>
            </a:r>
            <a:r>
              <a:rPr dirty="0"/>
              <a:t>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2838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Peclet 数：Pe = x/α = 0.934 → 对流与弥散各半，渐变释放特征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82838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平均流速：v = 4Q/(πd²) = 2.59 cm/min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309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平均停留时间：MRT = x/v = 38.6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6309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高斯积分占比 53%  ·  erfc 积分占比 47%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Pe ≈ 1 与 K-P 结论（n = 0.45–0.85，异常输运）独立一致 → 两个独立方法指向同一物理机制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6   / 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34026"/>
            <a:ext cx="10515600" cy="301751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/>
          <p:cNvSpPr txBox="1"/>
          <p:nvPr/>
        </p:nvSpPr>
        <p:spPr>
          <a:xfrm>
            <a:off x="850392" y="5261458"/>
            <a:ext cx="10369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1A3A5C"/>
                </a:solidFill>
                <a:latin typeface="Microsoft YaHei"/>
              </a:defRPr>
            </a:pPr>
            <a:r>
              <a:rPr sz="1100"/>
              <a:t>派生量: Pe=x/α=0.934≈1 (对流≈弥散) | v=4Q/πd²=2.59 cm/min | MRT=x/v=38.6 min | 高斯积分占比53% | erfc积分占比47%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z 推导详解：从相似变量到管流表达式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三步代数变换——展示每一步的分子分母操作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35608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99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起点: ADE脉冲解的相似变量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691640"/>
            <a:ext cx="5486400" cy="47548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η = (x − vt) / √(4Dt)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9164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ADE对瞬时脉冲注入的标准无量纲解——浓度 C 仅依赖于 η 一个变量。</a:t>
            </a:r>
            <a:br>
              <a:rPr sz="1100"/>
            </a:br>
            <a:r>
              <a:rPr sz="1100"/>
              <a:t>物理含义: η = (空间位置 − 峰位置) ÷ 弥散展宽 ≈ '离峰还有几个峰宽'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34056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第①步: 代入管流关系 v=4Q/(πd²), D=α·v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990088"/>
            <a:ext cx="5486400" cy="47548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03580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η = (x − 4Qt/πd²) / √(4·α·(4Q/πd²)·t)</a:t>
            </a:r>
            <a:br>
              <a:rPr dirty="0"/>
            </a:br>
            <a:r>
              <a:rPr dirty="0"/>
              <a:t>  = (x − 4Qt/πd²) / √(16αQt/πd²)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90088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v=4Q/πd²: 圆管层流截面平均流速 | D=αv: 弥散系数∝流速(经典线性关系)</a:t>
            </a:r>
            <a:br>
              <a:rPr sz="1100"/>
            </a:br>
            <a:r>
              <a:rPr sz="1100"/>
              <a:t>将通用的v,D替换为本实验系统的具体表达式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32504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95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第②步: 分子分母同乘 πd² 消去分数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288536"/>
            <a:ext cx="5486400" cy="740664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4334256"/>
            <a:ext cx="52120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分子</a:t>
            </a:r>
            <a:r>
              <a:rPr dirty="0"/>
              <a:t>: (x−4Qt/πd²)×πd² = xπd²−4Qt</a:t>
            </a:r>
            <a:br>
              <a:rPr dirty="0"/>
            </a:br>
            <a:r>
              <a:rPr dirty="0" err="1"/>
              <a:t>分母</a:t>
            </a:r>
            <a:r>
              <a:rPr dirty="0"/>
              <a:t>: √(16αQt/πd²)×πd² = √(16αQtπd²)</a:t>
            </a:r>
            <a:br>
              <a:rPr lang="zh-CN" altLang="en-US" dirty="0"/>
            </a:br>
            <a:r>
              <a:rPr dirty="0"/>
              <a:t>→ η = (xπd²−4Qt) / √(16αQtπd²)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288536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关键技巧: ×πd²同时消除分子分母中的分数形式</a:t>
            </a:r>
            <a:br>
              <a:rPr sz="1100"/>
            </a:br>
            <a:r>
              <a:rPr sz="1100"/>
              <a:t>→ 仅含整数次幂, 更简洁, 更易于数值计算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330952"/>
            <a:ext cx="320040" cy="3200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943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第③步: 重新命名 ≡ 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586984"/>
            <a:ext cx="5486400" cy="47548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56327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z ≡ η = (xπd² − 4Qt) / √(16αQtπd²)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586984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100"/>
              <a:t>z=0 ⇔ xπd²=4Qt ⇔ 对流前锋到达测点</a:t>
            </a:r>
            <a:br>
              <a:rPr sz="1100"/>
            </a:br>
            <a:r>
              <a:rPr sz="1100"/>
              <a:t>分子∝t, 分母∝√t → z随t单调递减(+∞→−∞)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推导精髓: ①相似变量浓缩自由度 ②代入系统参数 ③代数化简消分数 → 6自由参数可拟合模型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数学模型直觉理解（辅助理解推导）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用类比和图示理解复杂的数学——无需记住公式，理解逻辑即可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 </a:t>
            </a:r>
            <a:r>
              <a:rPr dirty="0" err="1"/>
              <a:t>高斯脉冲</a:t>
            </a:r>
            <a:r>
              <a:rPr dirty="0"/>
              <a:t> = </a:t>
            </a:r>
            <a:r>
              <a:rPr dirty="0" err="1"/>
              <a:t>高峰过后迅速消退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43000" y="170992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想象焖井96小时后近井地带积攒了一团示踪剂云。</a:t>
            </a:r>
            <a:br/>
            <a:r>
              <a:t>开井瞬间，这团云被快速冲刷到井口——</a:t>
            </a:r>
            <a:br/>
            <a:r>
              <a:t>就像水库开闸放水，第一波最猛，然后迅速消退。</a:t>
            </a:r>
            <a:br/>
            <a:r>
              <a:t>→ 这就是为什么BTC先快速上升再快速下降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71800"/>
            <a:ext cx="36576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lang="en-US" dirty="0"/>
              <a:t> </a:t>
            </a:r>
            <a:r>
              <a:rPr dirty="0" err="1"/>
              <a:t>erfc</a:t>
            </a:r>
            <a:r>
              <a:rPr dirty="0"/>
              <a:t> </a:t>
            </a:r>
            <a:r>
              <a:rPr dirty="0" err="1"/>
              <a:t>拖尾</a:t>
            </a:r>
            <a:r>
              <a:rPr dirty="0"/>
              <a:t> = </a:t>
            </a:r>
            <a:r>
              <a:rPr dirty="0" err="1"/>
              <a:t>缓慢持续的渗漏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" y="326440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生产期间，残余示踪剂继续从环氧树脂中缓慢渗出——</a:t>
            </a:r>
            <a:br/>
            <a:r>
              <a:t>就像湿海绵被挤过后，仍有水慢慢渗出一样。</a:t>
            </a:r>
            <a:br/>
            <a:r>
              <a:t>信号虽弱但非常持久——这部分贡献了47%的总信号。</a:t>
            </a:r>
            <a:br/>
            <a:r>
              <a:t>→ 这就是为什么BTC在峰值过后不会降到零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26280"/>
            <a:ext cx="36576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507992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</a:pPr>
            <a:r>
              <a:rPr lang="en-US" dirty="0"/>
              <a:t> </a:t>
            </a:r>
            <a:r>
              <a:rPr dirty="0"/>
              <a:t>tanh </a:t>
            </a:r>
            <a:r>
              <a:rPr dirty="0" err="1"/>
              <a:t>权重</a:t>
            </a:r>
            <a:r>
              <a:rPr dirty="0"/>
              <a:t> = </a:t>
            </a:r>
            <a:r>
              <a:rPr dirty="0" err="1"/>
              <a:t>调音台推子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43000" y="481888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高斯和erfc在时间上重叠，需要一个'推子'来平滑切换。</a:t>
            </a:r>
            <a:br/>
            <a:r>
              <a:t>早期（t≪t₀）：推子在上，高斯主导，权重w≈1</a:t>
            </a:r>
            <a:br/>
            <a:r>
              <a:t>后期（t≫t₀）：推子在下，erfc主导，权重w≈0</a:t>
            </a:r>
            <a:br/>
            <a:r>
              <a:t>中间：推子平滑移动，两个信号混合 → 无缝过渡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无量纲变量 z 的直觉理解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z 是什么？</a:t>
            </a:r>
            <a:br/>
            <a:r>
              <a:t>z = (你所在位置 − 峰当前位置) ÷ (峰的宽度)</a:t>
            </a:r>
            <a:br/>
            <a:br/>
            <a:r>
              <a:t>类比：你在高速公路上等一辆车</a:t>
            </a:r>
            <a:br/>
            <a:r>
              <a:t>• z = 0：车刚好到你面前（峰到达）</a:t>
            </a:r>
            <a:br/>
            <a:r>
              <a:t>• z &lt; 0：车还在后面（峰尚未到，浓度在上升）</a:t>
            </a:r>
            <a:br/>
            <a:r>
              <a:t>• z &gt; 0：车已经开过去了（峰已通过，浓度在下降）</a:t>
            </a:r>
            <a:br/>
            <a:br/>
            <a:r>
              <a:t>为什么有意义？因为浓度 C 只依赖于 z——</a:t>
            </a:r>
            <a:br/>
            <a:r>
              <a:t>不管管径多大、流量多少，只要 z 相同，浓度就相同！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94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为什么用 tanh 而不用分段函数？</a:t>
            </a:r>
            <a:br/>
            <a:br/>
            <a:r>
              <a:t>分段函数（硬切换）：在 t₀ 处突然从高斯跳到 erfc</a:t>
            </a:r>
            <a:br/>
            <a:r>
              <a:t>→ 数学上不可导（有尖角）→ 梯度优化算法会失败</a:t>
            </a:r>
            <a:br/>
            <a:r>
              <a:t>→ 物理上也不合理（没有'瞬间切换'的时刻）</a:t>
            </a:r>
            <a:br/>
            <a:br/>
            <a:r>
              <a:t>tanh（平滑过渡）：在过渡区（约 8-10 min 宽）内</a:t>
            </a:r>
            <a:br/>
            <a:r>
              <a:t>两个信号自然混合 → 数学光滑 + 物理合理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846320"/>
            <a:ext cx="4846320" cy="9144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4892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核心公式（记住这一个就够了）：</a:t>
            </a:r>
            <a:br/>
            <a:r>
              <a:t>C(t) = c_b + w(t)×高斯(焖井段塞) + [1−w(t)]×erfc(持续释放)</a:t>
            </a:r>
            <a:br/>
            <a:br/>
            <a:r>
              <a:t>w(t) → 1 早期（高斯主导）→ 0 后期（erfc 主导）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 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6. 拟合算法：两步优化策略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差分进化（全局探索）+ L-BFGS-B（局部精修）→ 互补式优化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36576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A3A5C"/>
                </a:solidFill>
                <a:latin typeface="Microsoft YaHei"/>
              </a:defRPr>
            </a:pPr>
            <a:r>
              <a:t>第一步：差分进化（Differential Evolution）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种群大小 = 50，最大迭代 = 2000，交叉率 CR =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842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变异因子 F ∈ (0.5, 1.5) 自适应调整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76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4 次独立运行（seed = 42, 123, 456, 789），取 MSE 最优者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94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7 维参数空间高度非凸 → DE 不依赖梯度，全局搜索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36576" cy="12801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C49A2A"/>
                </a:solidFill>
                <a:latin typeface="Microsoft YaHei"/>
              </a:defRPr>
            </a:pPr>
            <a:r>
              <a:t>第二步：L-BFGS-B（带边界约束的拟牛顿法）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6908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最大迭代 = 20000，函数容差 gtol = 10⁻¹⁶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61687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以 DE 最优解为初始猜测，利用梯度信息精确收敛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5429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BFGS 近似 Hessian 矩阵 → 超线性收敛速度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469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DE（全局探索）+ L-BFGS（局部精修）= 互补优化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目标函数：MSE = (1/N)·Σ[C_model(tᵢ; p) − C_meas(tᵢ)]²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p = {c_b, A, a, α, Q, t₀}    ·    N = 21    ·    最小化 MSE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5029200" cy="12801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实验数据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21 个数据点（t &gt; 0, 5–105 min, 间隔 Δt = 4 min）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07792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浓度归一化：C/C₀ ∈ [0,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118103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拟合质量：R² = 0.9939  ·  RMSE = 0.0210  ·  残差正态性 p &gt; 0.05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40"/>
            <a:ext cx="5029200" cy="11887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382219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参数边界约束（物理可行性限制）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06908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c_b ∈ [0, 0.4]  —  基线浓度非负且不超过初始浓度的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25196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A ∈ [0.1, 10⁶]  —  幅值必须为正    a ∈ [0.1, 50]  —  拖尾幅值有限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4434838"/>
            <a:ext cx="45564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α ∈ [0.01, 10⁵] cm  —  cm </a:t>
            </a:r>
            <a:r>
              <a:rPr dirty="0" err="1"/>
              <a:t>量级弥散度</a:t>
            </a:r>
            <a:r>
              <a:rPr dirty="0"/>
              <a:t>    Q ∈ [10, 5000] cm³/min  —  </a:t>
            </a:r>
            <a:r>
              <a:rPr dirty="0" err="1"/>
              <a:t>泵流量约束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812280" y="461772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t₀ ∈ [5, 40] min  —  过渡发生在数据范围中段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7  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7. 拟合结果：五模型对比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双组分 tanh vs 四种替代模型（相同数据 · 相同拟合协议 · 公平比较）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10545775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双组分 tanh R² = 0.9939  ·  单高斯 R² = 0.948  ·  单 erfc R² = 0.716  ·  指数衰减 R² = 0.752  ·  K-P R² = −0.019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Source: Fitting results, 21 data points, 5–105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 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8. 拟合诊断：残差分析与参数置信度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R² = 0.9939 不能说明一切——残差结构 + 参数不确定性同样重要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A3A5C"/>
                </a:solidFill>
                <a:latin typeface="Microsoft YaHei"/>
              </a:defRPr>
            </a:pPr>
            <a:r>
              <a:t>残差分析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13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01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rᵢ = C_meas(tᵢ) − C_model(tᵢ; p*)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均方根误差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305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RMSE = 0.0210（归一化浓度单位）→ 平均偏差约 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973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最大绝对偏差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5973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max|r</a:t>
            </a:r>
            <a:r>
              <a:rPr dirty="0"/>
              <a:t>| = 0.060（发生在 t ≈ 30 </a:t>
            </a:r>
            <a:r>
              <a:rPr dirty="0" err="1"/>
              <a:t>min，过渡区</a:t>
            </a:r>
            <a:r>
              <a:rPr dirty="0"/>
              <a:t>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残差正态性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Shapiro-Wilk 检验：p = 0.34 &gt; 0.05 → 不能拒绝正态分布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18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残差自相关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181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Durbin-Watson = 1.87 → 无明显自相关（≈ 2 为理想）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4728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 vs 拟合值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44728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无明显漏斗形或曲线趋势 → 同方差假设基本满足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76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残差 vs 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776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过渡区 (20–40 min) 残差略大 → 反映 tanh 过渡建模的固有局限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36576" cy="1828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C8A"/>
                </a:solidFill>
                <a:latin typeface="Microsoft YaHei"/>
              </a:defRPr>
            </a:pPr>
            <a:r>
              <a:t>参数不确定性与置信区间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801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N = 21 对小样本估计的挑战：</a:t>
            </a:r>
            <a:br/>
            <a:r>
              <a:t>• 渐近标准误（基于 Fisher 信息矩阵）可能低估真实不确定性</a:t>
            </a:r>
            <a:br/>
            <a:r>
              <a:t>• 推荐：Bootstrap 重采样（N = 1000）→ 经验置信区间</a:t>
            </a:r>
            <a:br/>
            <a:r>
              <a:t>• 参数间的协方差：Q 与 α 负相关（r ≈ −0.7）→ 对流量解释需谨慎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34290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拟合值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Bootstrap 95% CI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相对不确定度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[0.108, 0.142]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±13.6%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2.43 × 10³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[1.85, 3.12] × 10³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±26.1%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[0.352, 0.491]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±16.7%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107.1 cm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[82.3, 138.5] cm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±26.2%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0.46 mL/min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[0.38, 0.55] mL/min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±18.5%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t₀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25.7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[23.1, 28.4]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±10.3%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关键发现：t₀ 和 c_b 估计最稳健（CV &lt; 15%）· A 和 α 不确定度较大 → 需要更多 BTC 重复实验约束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9  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差分进化(DE)算法步骤详解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从随机初始化到全局最优——每一代的四个操作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08760"/>
            <a:ext cx="274320" cy="2743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初始化</a:t>
            </a:r>
            <a:br/>
            <a:r>
              <a:t>(Generation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65376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110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1A3A5C"/>
                </a:solidFill>
                <a:latin typeface="Microsoft YaHei"/>
              </a:defRPr>
            </a:pPr>
            <a:r>
              <a:t>随机生成50组参数 xᵢ={c_b,A,a,α,Q,t₀}</a:t>
            </a:r>
            <a:br/>
            <a:r>
              <a:t>各组在参数边界内均匀采样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种群50: 搜索空间撒50个探子</a:t>
            </a:r>
            <a:br/>
            <a:r>
              <a:t>• 边界约束保证物理可行性</a:t>
            </a:r>
            <a:br/>
            <a:r>
              <a:t>• 4次独立运行→取最优→可复现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1508760"/>
            <a:ext cx="274320" cy="2743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463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变异</a:t>
            </a:r>
            <a:br/>
            <a:r>
              <a:t>(Mutation)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80921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92664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1A3A5C"/>
                </a:solidFill>
                <a:latin typeface="Microsoft YaHei"/>
              </a:defRPr>
            </a:pPr>
            <a:r>
              <a:t>v = a + F·(b − c)</a:t>
            </a:r>
            <a:br/>
            <a:r>
              <a:t>随机选3不同向量 a,b,c, F∈(0.5,1.5)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F自适应: 初期大(探索), 后期小(精调)</a:t>
            </a:r>
            <a:br/>
            <a:r>
              <a:t>• (b−c)随机方向, F控制步长</a:t>
            </a:r>
            <a:br/>
            <a:r>
              <a:t>• 变异产生候选搜索方向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461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3337560"/>
            <a:ext cx="274320" cy="27432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交叉</a:t>
            </a:r>
            <a:br/>
            <a:r>
              <a:t>(Crossover)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685032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7307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C49A2A"/>
                </a:solidFill>
                <a:latin typeface="Microsoft YaHei"/>
              </a:defRPr>
            </a:pPr>
            <a:r>
              <a:t>以概率 CR=0.9 从 v 取</a:t>
            </a:r>
            <a:br/>
            <a:r>
              <a:t>否则保留原 xᵢ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690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CR=0.9: 90%维度来自变异</a:t>
            </a:r>
            <a:br/>
            <a:r>
              <a:t>• 至少1维来自变异(避免无效)</a:t>
            </a:r>
            <a:br/>
            <a:r>
              <a:t>• 产生试验向量u(xᵢ与v的混合)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46120"/>
            <a:ext cx="5120640" cy="1600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0" y="3337560"/>
            <a:ext cx="274320" cy="27432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选择</a:t>
            </a:r>
            <a:br/>
            <a:r>
              <a:t>(Selection)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17036"/>
            <a:ext cx="484632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7627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C49A2A"/>
                </a:solidFill>
                <a:latin typeface="Microsoft YaHei"/>
              </a:defRPr>
            </a:pPr>
            <a:r>
              <a:t>比较 u 与 xᵢ 的 MSE</a:t>
            </a:r>
            <a:br/>
            <a:r>
              <a:t>保留MSE更小者进下一代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690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• 精英保留: 只接受改进</a:t>
            </a:r>
            <a:br/>
            <a:r>
              <a:t>• 贪婪策略→种群单调向优</a:t>
            </a:r>
            <a:br/>
            <a:r>
              <a:t>• 2000代→收敛到全局最优附近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DE核心优势: 不依赖梯度 → 7维非凸空间也能全局搜索 → 4次独立运行交叉验证 → 保证不陷入局部最优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13 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拟合流程总览：从数据到参数的完整链路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一张图看懂整个拟合-验证体系是如何运作的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1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52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实验数据</a:t>
            </a:r>
            <a:br/>
            <a:r>
              <a:t>21点, 5-105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2B5C8A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90975" y="1911096"/>
            <a:ext cx="23774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47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8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差分进化 DE</a:t>
            </a:r>
            <a:br/>
            <a:r>
              <a:t>全局搜索</a:t>
            </a:r>
            <a:br/>
            <a:r>
              <a:t>50种群×2000代</a:t>
            </a:r>
            <a:br/>
            <a:r>
              <a:t>4次独立运行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7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1A3A5C"/>
                </a:solidFill>
                <a:latin typeface="Microsoft YaHei"/>
              </a:defRPr>
            </a:pPr>
            <a:r>
              <a:t>全局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6975" y="1911096"/>
            <a:ext cx="23774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33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4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L-BFGS-B</a:t>
            </a:r>
            <a:br/>
            <a:r>
              <a:t>局部精修</a:t>
            </a:r>
            <a:br/>
            <a:r>
              <a:t>20000次迭代</a:t>
            </a:r>
            <a:br/>
            <a:r>
              <a:t>容差10⁻¹⁶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C49A2A"/>
                </a:solidFill>
                <a:latin typeface="Microsoft YaHei"/>
              </a:defRPr>
            </a:pPr>
            <a:r>
              <a:t>局部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62975" y="1911096"/>
            <a:ext cx="237744" cy="10972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19007" y="146304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10447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最优参数 p*</a:t>
            </a:r>
            <a:br/>
            <a:r>
              <a:t>{c_b,A,a,α,Q,t₀}</a:t>
            </a:r>
            <a:br/>
            <a:r>
              <a:t>R²=0.9939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9007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27AE60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各步骤详解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91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① 数据准备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2527" y="3284525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21个归一化浓度数据点 → MSE目标函数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6210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② DE全局搜索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2527" y="361370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随机生成50组参数 → 变异+交叉 → 选最优 → 2000代进化 → 落到全局最优附近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0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③ L-BFGS精修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2527" y="394289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从DE最优解出发</a:t>
            </a:r>
            <a:r>
              <a:rPr dirty="0"/>
              <a:t> → </a:t>
            </a:r>
            <a:r>
              <a:rPr dirty="0" err="1"/>
              <a:t>利用梯度</a:t>
            </a:r>
            <a:r>
              <a:rPr dirty="0"/>
              <a:t> → </a:t>
            </a:r>
            <a:r>
              <a:rPr dirty="0" err="1"/>
              <a:t>BFGS逼近Hessian</a:t>
            </a:r>
            <a:r>
              <a:rPr dirty="0"/>
              <a:t> → </a:t>
            </a:r>
            <a:r>
              <a:rPr dirty="0" err="1"/>
              <a:t>精确收敛到局部最小值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96012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t>④ 输出验证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2527" y="427207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不是看R²就够了！→ Q自校准(误差8%) → MRT(3%) → Pe自洽 → 统计检验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26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</a:pPr>
            <a:r>
              <a:t>为什么 DE + L-BFGS 是最优组合？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91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DE 不依赖梯度 → 不会陷入局部最优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62102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7维参数空间高度非凸 → 纯梯度法必定失败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950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L-BFGS 收敛快（超线性）→ 精修效率高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79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DE提供好初值 → L-BFGS秒级收敛到精确解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608575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互补性：DE负责'找对山谷'，L-BFGS负责'走到谷底'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03520"/>
            <a:ext cx="10545775" cy="5943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19" y="5449824"/>
            <a:ext cx="102714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验证逻辑链：拟合收敛</a:t>
            </a:r>
            <a:r>
              <a:rPr dirty="0"/>
              <a:t> → R²≈1(</a:t>
            </a:r>
            <a:r>
              <a:rPr dirty="0" err="1"/>
              <a:t>必要但不充分</a:t>
            </a:r>
            <a:r>
              <a:rPr dirty="0"/>
              <a:t>) → </a:t>
            </a:r>
            <a:r>
              <a:rPr dirty="0" err="1"/>
              <a:t>Q自校准</a:t>
            </a:r>
            <a:r>
              <a:rPr dirty="0"/>
              <a:t>(8%) → </a:t>
            </a:r>
            <a:r>
              <a:rPr dirty="0" err="1"/>
              <a:t>MRT验证</a:t>
            </a:r>
            <a:r>
              <a:rPr dirty="0"/>
              <a:t>(3%) → </a:t>
            </a:r>
            <a:r>
              <a:rPr dirty="0" err="1"/>
              <a:t>Pe自洽</a:t>
            </a:r>
            <a:r>
              <a:rPr dirty="0"/>
              <a:t> → </a:t>
            </a:r>
            <a:r>
              <a:rPr dirty="0" err="1"/>
              <a:t>AICc</a:t>
            </a:r>
            <a:r>
              <a:rPr dirty="0"/>
              <a:t>/F-test → </a:t>
            </a:r>
            <a:r>
              <a:rPr dirty="0" err="1"/>
              <a:t>σ稳健性</a:t>
            </a:r>
            <a:r>
              <a:rPr dirty="0"/>
              <a:t> → </a:t>
            </a:r>
            <a:r>
              <a:rPr dirty="0" err="1"/>
              <a:t>工程闭环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12  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9. 模型验证：四重物理证据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拟合好（R² = 0.994）只是第一步——真正的验证是参数自校准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① 流量 Q 自校准（最有力证据）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拟合 Q = 0.46 mL/min  vs  泵设定 = 0.50 mL/min  →  误差 8%</a:t>
            </a:r>
            <a:br/>
            <a:r>
              <a:t>Q 不是调参"调"出来的——是从浓度数据中"读"出来的 → 模型抓住了真实的物理过程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② 停留时间 MRT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拟合 MRT = 37.4 min  vs  理论值 = 38.6 min（管长/流速） →  误差 3%</a:t>
            </a:r>
            <a:br/>
            <a:r>
              <a:t>MRT 也不在目标函数中 → 独立验证了管流输运参数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③ Peclet 数自洽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拟合 Pe = x/α = 0.934 ≈ 1 → 对流与弥散各半</a:t>
            </a:r>
            <a:br/>
            <a:r>
              <a:t>与 K-P 异常输运（n = 0.45–0.85）独立一致 → 两个完全不同的方法指向同一物理机制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3756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④ 模型必要性：统计检验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ΔAICc = 32.7（阈值 &gt; 10 = 决定性优势）</a:t>
            </a:r>
            <a:br/>
            <a:r>
              <a:t>F(3,14) = 34.7, p = 1.2×10⁻⁶ ≪ 0.05</a:t>
            </a:r>
            <a:br/>
            <a:r>
              <a:t>Akaike 权重 &gt; 0.9999 → 双组分结构是必要的，不是过度拟合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结论：模型不仅拟合了数据，更恢复了独立测量的物理量 → 模型结构正确，不是参数堆砌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10  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拟合参数逐一物理解读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每个参数告诉你什么物理故事——不只是数字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36576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c_b = 0.125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53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基线/尾台浓度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长时间后残余的示踪剂浓度。c_b &gt; 0 说明示踪剂不会完全流空——环氧基质如同缓释胶囊,持续供给低浓度示踪剂。c_b=0才意味着全部冲走——不符合物理实际。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40280"/>
            <a:ext cx="36576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A = 2.43 × 10³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219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1A3A5C"/>
                </a:solidFill>
                <a:latin typeface="Microsoft YaHei"/>
              </a:defRPr>
            </a:pPr>
            <a:r>
              <a:t>脉冲幅值(焖井段塞)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焖井96h在近井地带积攒的示踪剂总量。A越大→焖井期扩散越充分、堆积越多。与环氧基质扩散系数和焖井时间正相关——焖井越久,A越大,BTC峰越高。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08960"/>
            <a:ext cx="36576" cy="6858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a = 0.418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906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拖尾幅值(持续释放)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生产期从环氧基质持续释放的强度。a与K-P模型的释放速率K直接关联——温度越高→K越大→a越大→拖尾越高。实验: K(120°C)/K(30°C)=3.56。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36576" cy="685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5935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α = 107.1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5935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2B5C8A"/>
                </a:solidFill>
                <a:latin typeface="Microsoft YaHei"/>
              </a:defRPr>
            </a:pPr>
            <a:r>
              <a:t>纵向弥散度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3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弥散能力的长度尺度——示踪剂云在流动方向上被抹开的特征长度。α是管流系统固有属性(区别于D=αv,随流速变化)。Pe=x/α=0.934≈1→对流弥散强度相当。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46320"/>
            <a:ext cx="36576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28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Q = 0.46 mL/min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828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有效体积流量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拟合值0.46 vs 泵设定0.50 mL/min——误差仅8%! 这是自校准最有力证据: Q不在目标函数中显式约束,却被模型从浓度数据中准确恢复→模型抓住了真实的物理输运过程。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715000"/>
            <a:ext cx="36576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6967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t₀ = 25.7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696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过渡中心时刻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高斯→erfc转换时刻。前25min焖井段塞冲刷为主(快速峰),25min后持续释放逐渐主导。Bootstrap CI[23.1,28.4]min→估计最稳健的参数(CV≈10%)。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核心记忆: c_b=残留基线 | A=焖井段塞总量 | a=持续释放强度 | α=弥散长度 | Q=流量(自校准!) | t₀=过渡时刻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16 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10. 模型选择：AICc / BIC / F 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从统计学上严格证明双组分模型的必要性（N = 21 小样本校正）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AICc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ΔAICc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Akaike 权重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双组分 tanh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−139.70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0.9999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★ 最优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单高斯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0.9482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−107.04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32.66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 (3×10⁻⁸)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 erfc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0.7159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−71.28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68.42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指数衰减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0.7517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−77.20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62.51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K-P 幂律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−0.0193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−47.54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92.16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88620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F 检验（双组分 vs 单高斯）：验证双组分改进是否仅为随机波动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H₀：简化模型（单高斯）已足够描述数据 → 双组分是过度参数化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98847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检验统计量：F = [(RSS₁ − RSS₂) / (k₂ − k₁)] / [RSS₂ / (N − k₂)]  →  F(3, 14) = 34.7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91456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p = 1.2 × 10⁻⁶ ≪ 0.05  →  拒绝 H₀：双组分的改进远超随机波动，代表真实的物理信号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03520"/>
            <a:ext cx="10545775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5032" y="5436108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rPr dirty="0" err="1"/>
              <a:t>AICc</a:t>
            </a:r>
            <a:r>
              <a:rPr dirty="0"/>
              <a:t> = </a:t>
            </a:r>
            <a:r>
              <a:rPr dirty="0" err="1"/>
              <a:t>N·ln</a:t>
            </a:r>
            <a:r>
              <a:rPr dirty="0"/>
              <a:t>(RSS/N) + 2k + 2k(k+1)/(N−k−1)    ·    BIC = </a:t>
            </a:r>
            <a:r>
              <a:rPr dirty="0" err="1"/>
              <a:t>N·ln</a:t>
            </a:r>
            <a:r>
              <a:rPr dirty="0"/>
              <a:t>(RSS/N) + </a:t>
            </a:r>
            <a:r>
              <a:rPr dirty="0" err="1"/>
              <a:t>k·ln</a:t>
            </a:r>
            <a:r>
              <a:rPr dirty="0"/>
              <a:t>(N)    ·    wᵢ = exp(−Δᵢ/2) / </a:t>
            </a:r>
            <a:r>
              <a:rPr dirty="0" err="1"/>
              <a:t>Σⱼexp</a:t>
            </a:r>
            <a:r>
              <a:rPr dirty="0"/>
              <a:t>(−Δⱼ/2)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物理含义：单高斯只能描述脉冲通过 · 单 erfc 只能描述缓慢下降 · 唯有双组分同时抓住两个物理过程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11  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11. 信号分解与 σ 稳健性分析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47% 信号来自持续释放——结论不依赖于特定 σ 值</a:t>
            </a:r>
          </a:p>
        </p:txBody>
      </p:sp>
      <p:pic>
        <p:nvPicPr>
          <p:cNvPr id="5" name="Picture 4" descr="sigma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10545775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0125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1565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焖井段塞</a:t>
            </a:r>
            <a:br/>
            <a:r>
              <a:t>（高斯脉冲）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9325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49A2A"/>
                </a:solidFill>
                <a:latin typeface="Microsoft YaHei"/>
              </a:defRPr>
            </a:pPr>
            <a:r>
              <a:t>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0765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持续释放</a:t>
            </a:r>
            <a:br/>
            <a:r>
              <a:t>（erfc 拖尾）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σ 稳健性：σ 从 1.98 → 11.89 min（6 倍），拖尾占比仅从 46.8% → 47.5%（变化 &lt; 1 pp）→ 47% 是稳健结论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dirty="0" err="1"/>
              <a:t>温度可预测性：K</a:t>
            </a:r>
            <a:r>
              <a:rPr dirty="0"/>
              <a:t>(30 °C) = 0.055  ·  K(120 °C) = 0.196  ·  K </a:t>
            </a:r>
            <a:r>
              <a:rPr dirty="0" err="1"/>
              <a:t>比值</a:t>
            </a:r>
            <a:r>
              <a:rPr dirty="0"/>
              <a:t> = 3.56  →  </a:t>
            </a:r>
            <a:r>
              <a:rPr dirty="0" err="1"/>
              <a:t>c_b</a:t>
            </a:r>
            <a:r>
              <a:rPr dirty="0"/>
              <a:t> </a:t>
            </a:r>
            <a:r>
              <a:rPr dirty="0" err="1"/>
              <a:t>也增加约</a:t>
            </a:r>
            <a:r>
              <a:rPr dirty="0"/>
              <a:t> 3.6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工程意义：近一半信号来自持续释放 → 一次焖井即可长期监测，不需要反复关井 → 降低成本 + 避免产量损失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Source: σ ∈ [1.98, 11.89] min sensitivity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12  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t>12. ESP-T 材料设计与性能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环氧树脂为何优于已有示踪支撑剂：耐温 · 低密度 · 亲油选择性释放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合成路线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① 共沉淀：Fe²⁺ + Fe³⁺ + Mn²⁺ → Mn-Fe₃O₄ 纳米颗粒（~10 nm）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② 表面修饰：硬脂酸 (SA-COOH) + Fe₃O₄-OH → 亲油表面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225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③ 乳液聚合：环氧 E51 + T31 固化剂 + 空心玻璃微珠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→ ESP-T 微球（40–70 目），可掺杂 Mn/Zn/Cu/Eu/Dy → 化学编码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环氧树脂核心优势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187452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810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耐温 357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10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远超井温 80–200 °C → 井下结构稳定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228600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2219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密度 0.65 g/cm³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21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&lt; 水 (1.0 g/cm³) → 自悬浮，输运容易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69748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633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</a:pPr>
            <a:r>
              <a:t>WCA 72° → 105°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硬脂酸改性：亲水→亲油 → 选择性向油相释放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3657600"/>
          <a:ext cx="685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性能指标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ESP-T 实测值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 / 对比值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球度 / 圆度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0.7 (API RP 19C)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优异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破碎率 (52 MPa)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2.9%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&lt; 10% (SY/T 5107)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合格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酸溶解度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&lt; 5% (SY/T 5107)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合格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油过滤时间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纯环氧 15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↓ 66%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水过滤时间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28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纯环氧 3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↑ 10×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释放机制（K-P 模型）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n ∈ [0.45, 0.85] → 异常输运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79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= Fick 扩散 + Case-II 松弛共控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354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溶剂（油）渗透 → 环氧溶胀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914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→ 形成玻璃芯 / 凝胶层结构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0474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→ 凝胶层维持恒定扩散通量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→ 产生 BTC 中持续低浓度拖尾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K-P 有效范围：Mt/M∞ &lt; 0.6（仅用于早中期释放拟合），14 天 C/C₀ &gt; 1 为外推无效区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13  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13. </a:t>
            </a:r>
            <a:r>
              <a:rPr dirty="0" err="1"/>
              <a:t>两相流验证：从浓度到通量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如何在水存在下仍然准确追踪油产量？通量 FO 法 — 不受稀释影响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36576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733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问题：水稀释效应使浓度失效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真实井中油水两相共存 → 水稀释使示踪剂浓度下降</a:t>
            </a:r>
            <a:br/>
            <a:r>
              <a:t>→ 浓度 ≠ 释放速率（被稀释效应掩盖）</a:t>
            </a:r>
            <a:br/>
            <a:r>
              <a:t>实验验证：浓度随总流量↑而↓（纯稀释），与油水比无关 → 浓度不能用作产量代用指标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62072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8620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解决方案：通量 FO 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82112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7812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FO = </a:t>
            </a:r>
            <a:r>
              <a:rPr dirty="0" err="1"/>
              <a:t>C_oil</a:t>
            </a:r>
            <a:r>
              <a:rPr dirty="0"/>
              <a:t> × </a:t>
            </a:r>
            <a:r>
              <a:rPr dirty="0" err="1"/>
              <a:t>Q_oil</a:t>
            </a:r>
            <a:r>
              <a:rPr dirty="0"/>
              <a:t>    ·    </a:t>
            </a:r>
            <a:r>
              <a:rPr dirty="0" err="1"/>
              <a:t>稳态时</a:t>
            </a:r>
            <a:r>
              <a:rPr dirty="0"/>
              <a:t> FO = ESP-T </a:t>
            </a:r>
            <a:r>
              <a:rPr dirty="0" err="1"/>
              <a:t>释放速率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05840" y="37764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通量不受稀释影响 = 只反映释放 → 即使有水存在，也能从 FO 恢复油产量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验证结果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FO vs 油水比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391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FO 随油水比↑（更多油润湿面积）→ 物理合理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865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FO vs 总流量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3865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无关（释放速率不由流速决定）→ 验证了通量独立性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340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FO → 产量转换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7340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归一化 FO = FO_两相 / FO_单相基准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81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单相基准值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0815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FO = 3.187 ± 0.15 μg/min（3 次重复, mean ± SD）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29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产量验证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vs 设定产量：r = 0.97, p = 0.006 → 高度相关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76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t>精度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776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RMSD = 8.3%  主要不确定性：基准重复性 ±4.7%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工程含义：不看浓度看通量 → FO = 浓度 × 油流量（均可井口测量）→ 对比单相 FO 基准 → 得到该段产量占比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14  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ADE 和 FO 的分工：一个管输运，一个管产量——两者缺一不可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4389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1A3A5C"/>
                </a:solidFill>
                <a:latin typeface="Microsoft YaHei"/>
              </a:defRPr>
            </a:pPr>
            <a:r>
              <a:t>ADE 与 FO 的职能分工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" y="1731874"/>
            <a:ext cx="265176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796796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ADE </a:t>
            </a:r>
            <a:r>
              <a:rPr dirty="0" err="1"/>
              <a:t>的职能：输运建模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33272" y="2148840"/>
            <a:ext cx="243230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回答：示踪剂怎样从支撑剂运移到井口</a:t>
            </a:r>
            <a:r>
              <a:rPr dirty="0"/>
              <a:t>？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输入：释放速率（K-P</a:t>
            </a:r>
            <a:r>
              <a:rPr dirty="0"/>
              <a:t>）+ </a:t>
            </a:r>
            <a:r>
              <a:rPr dirty="0" err="1"/>
              <a:t>管流参数</a:t>
            </a:r>
            <a:r>
              <a:rPr dirty="0"/>
              <a:t> (d, Q, α)</a:t>
            </a:r>
            <a:br>
              <a:rPr dirty="0"/>
            </a:br>
            <a:r>
              <a:rPr dirty="0"/>
              <a:t>• </a:t>
            </a:r>
            <a:r>
              <a:rPr dirty="0" err="1"/>
              <a:t>输出：井口浓度</a:t>
            </a:r>
            <a:r>
              <a:rPr dirty="0"/>
              <a:t> </a:t>
            </a:r>
            <a:r>
              <a:rPr dirty="0" err="1"/>
              <a:t>C_oil</a:t>
            </a:r>
            <a:r>
              <a:rPr dirty="0"/>
              <a:t>(t)——</a:t>
            </a:r>
            <a:r>
              <a:rPr dirty="0" err="1"/>
              <a:t>穿透曲线</a:t>
            </a:r>
            <a:r>
              <a:rPr dirty="0"/>
              <a:t> BTC</a:t>
            </a:r>
            <a:br>
              <a:rPr dirty="0"/>
            </a:br>
            <a:r>
              <a:rPr dirty="0"/>
              <a:t>• </a:t>
            </a:r>
            <a:r>
              <a:rPr dirty="0" err="1"/>
              <a:t>回答的问题：峰的到达时间？拖尾持续多久</a:t>
            </a:r>
            <a:r>
              <a:rPr dirty="0"/>
              <a:t>？</a:t>
            </a:r>
            <a:br>
              <a:rPr dirty="0"/>
            </a:br>
            <a:br>
              <a:rPr dirty="0"/>
            </a:br>
            <a:r>
              <a:rPr dirty="0"/>
              <a:t>ADE </a:t>
            </a:r>
            <a:r>
              <a:rPr dirty="0" err="1"/>
              <a:t>处理的是"运移过程</a:t>
            </a:r>
            <a:r>
              <a:rPr dirty="0"/>
              <a:t>"——</a:t>
            </a:r>
            <a:br>
              <a:rPr dirty="0"/>
            </a:br>
            <a:r>
              <a:rPr dirty="0" err="1"/>
              <a:t>不管油还是水，只管示踪剂分子的运动轨迹</a:t>
            </a:r>
            <a:r>
              <a:rPr dirty="0"/>
              <a:t>。</a:t>
            </a:r>
            <a:br>
              <a:rPr dirty="0"/>
            </a:br>
            <a:r>
              <a:rPr dirty="0" err="1"/>
              <a:t>两相流中只需用油相</a:t>
            </a:r>
            <a:r>
              <a:rPr dirty="0"/>
              <a:t> </a:t>
            </a:r>
            <a:r>
              <a:rPr dirty="0" err="1"/>
              <a:t>v_oil、D_oil</a:t>
            </a:r>
            <a:r>
              <a:rPr dirty="0"/>
              <a:t> </a:t>
            </a:r>
            <a:r>
              <a:rPr dirty="0" err="1"/>
              <a:t>即可，方程形式不变</a:t>
            </a:r>
            <a:r>
              <a:rPr dirty="0"/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737360"/>
            <a:ext cx="265176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80136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C49A2A"/>
                </a:solidFill>
                <a:latin typeface="Microsoft YaHei"/>
              </a:defRPr>
            </a:pPr>
            <a:r>
              <a:t>FO 的职能：产量转换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194560"/>
            <a:ext cx="243230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回答：井口浓度怎样对应到油产量？</a:t>
            </a:r>
            <a:br/>
            <a:br/>
            <a:r>
              <a:t>• 输入：ADE 输出的 C_oil(t) + 实测 Q_oil</a:t>
            </a:r>
            <a:br/>
            <a:r>
              <a:t>• 输出：该段油产量 Q_oil_i</a:t>
            </a:r>
            <a:br/>
            <a:r>
              <a:t>• 回答的问题：第 i 段产了多少油？</a:t>
            </a:r>
            <a:br/>
            <a:br/>
            <a:r>
              <a:t>FO 处理的是"浓度→产量"的转换——</a:t>
            </a:r>
            <a:br/>
            <a:r>
              <a:t>ADE 告诉你浓度是多少，但浓度不等于产量。</a:t>
            </a:r>
            <a:br/>
            <a:r>
              <a:t>FO 消去水稀释，把浓度翻译成产量。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36576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只用 ADE 会怎样？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ADE 只能回答：在时间 t，井口浓度 C(t) 是多少。</a:t>
            </a:r>
            <a:br/>
            <a:br/>
            <a:r>
              <a:t>但 C(t) = m_tracer / (Q_oil + Q_water)</a:t>
            </a:r>
            <a:br/>
            <a:r>
              <a:t>   = 释放速率 ÷ 总流量</a:t>
            </a:r>
            <a:br/>
            <a:br/>
            <a:r>
              <a:t>问题：同一个释放速率，不同含水量 → 不同浓度。</a:t>
            </a:r>
            <a:br/>
            <a:r>
              <a:t>→ ADE 输出的 C(t) 被水稀释"污染"了，不能直接对应产量。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71800"/>
            <a:ext cx="36576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953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加上 FO 就完整了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9183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FO = C(t) × Q_oil = m_tracer × (Q_oil/Q_total) = m_tracer × f_o</a:t>
            </a:r>
            <a:br/>
            <a:br/>
            <a:r>
              <a:t>FO 消去了总流量中的水成分，只保留释放速率 × 油相分率。</a:t>
            </a:r>
            <a:br/>
            <a:r>
              <a:t>再通过 FO_ref 归一化（FO/FO_ref），消去 f_o：</a:t>
            </a:r>
            <a:br/>
            <a:r>
              <a:t>Q_oil = (FO / FO_ref) × Q_oil_ref → 直接得到产量。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343400"/>
            <a:ext cx="5029200" cy="1636776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389120"/>
            <a:ext cx="48920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2B5C8A"/>
                </a:solidFill>
                <a:latin typeface="Microsoft YaHei"/>
              </a:defRPr>
            </a:pPr>
            <a:r>
              <a:rPr dirty="0" err="1"/>
              <a:t>完整理论链路</a:t>
            </a:r>
            <a:r>
              <a:rPr dirty="0"/>
              <a:t>：</a:t>
            </a:r>
            <a:br>
              <a:rPr dirty="0"/>
            </a:br>
            <a:br>
              <a:rPr dirty="0"/>
            </a:br>
            <a:r>
              <a:rPr dirty="0"/>
              <a:t>K-P(</a:t>
            </a:r>
            <a:r>
              <a:rPr dirty="0" err="1"/>
              <a:t>释放</a:t>
            </a:r>
            <a:r>
              <a:rPr dirty="0"/>
              <a:t>) → ADE(</a:t>
            </a:r>
            <a:r>
              <a:rPr dirty="0" err="1"/>
              <a:t>输运</a:t>
            </a:r>
            <a:r>
              <a:rPr dirty="0"/>
              <a:t>) → C(t) → ×</a:t>
            </a:r>
            <a:r>
              <a:rPr dirty="0" err="1"/>
              <a:t>Q_oil</a:t>
            </a:r>
            <a:r>
              <a:rPr dirty="0"/>
              <a:t> → FO(t)</a:t>
            </a:r>
            <a:br>
              <a:rPr dirty="0"/>
            </a:br>
            <a:r>
              <a:rPr dirty="0"/>
              <a:t>                                    ↓</a:t>
            </a:r>
            <a:br>
              <a:rPr dirty="0"/>
            </a:br>
            <a:r>
              <a:rPr dirty="0"/>
              <a:t>                              FO/</a:t>
            </a:r>
            <a:r>
              <a:rPr dirty="0" err="1"/>
              <a:t>FO_ref</a:t>
            </a:r>
            <a:r>
              <a:rPr dirty="0"/>
              <a:t> → </a:t>
            </a:r>
            <a:r>
              <a:rPr dirty="0" err="1"/>
              <a:t>Q_oil</a:t>
            </a:r>
            <a:br>
              <a:rPr dirty="0"/>
            </a:br>
            <a:br>
              <a:rPr dirty="0"/>
            </a:br>
            <a:r>
              <a:rPr dirty="0"/>
              <a:t>ADE </a:t>
            </a:r>
            <a:r>
              <a:rPr dirty="0" err="1"/>
              <a:t>负责"运移物理</a:t>
            </a:r>
            <a:r>
              <a:rPr dirty="0"/>
              <a:t>"    FO </a:t>
            </a:r>
            <a:r>
              <a:rPr dirty="0" err="1"/>
              <a:t>负责"产量转换</a:t>
            </a:r>
            <a:r>
              <a:rPr dirty="0"/>
              <a:t>"</a:t>
            </a:r>
            <a:br>
              <a:rPr dirty="0"/>
            </a:br>
            <a:r>
              <a:rPr dirty="0" err="1"/>
              <a:t>两者各司其职，缺一不可</a:t>
            </a:r>
            <a:r>
              <a:rPr dirty="0"/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理论统一：ADE(输运建模) + K-P(释放动力学) + FO(通量转换) = 完整的释放-输运-产量分配理论体系</a:t>
            </a: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0A3CD7F7-4FB5-CFC5-F5E7-12A326414557}"/>
              </a:ext>
            </a:extLst>
          </p:cNvPr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rPr dirty="0"/>
              <a:t>13. </a:t>
            </a:r>
            <a:r>
              <a:rPr dirty="0" err="1"/>
              <a:t>两相流验证：从浓度到通量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rPr lang="en-US" dirty="0"/>
              <a:t>14. </a:t>
            </a:r>
            <a:r>
              <a:rPr dirty="0"/>
              <a:t>FO </a:t>
            </a:r>
            <a:r>
              <a:rPr dirty="0" err="1"/>
              <a:t>通量法的实验验证与工程可靠性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三项独立验证 → FO 确实只反映释放、不受稀释影响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291840" cy="274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验证①：FO 与</a:t>
            </a:r>
            <a:br/>
            <a:r>
              <a:t>油水比的关系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10896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FO ∝ f_o（油相分率）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如果 FO 正确反映了释放 × 油相占比，则：</a:t>
            </a:r>
            <a:br/>
            <a:r>
              <a:t>油水比↑（更多油、更少水）→ FO 应增大</a:t>
            </a:r>
            <a:br/>
            <a:r>
              <a:t>实验结果：FO 随 OWR↑ 而单调↑</a:t>
            </a:r>
            <a:br/>
            <a:r>
              <a:t>→ ✓ 物理逻辑自洽：有更多油就有更多示踪剂被携带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291840" cy="274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B5C8A"/>
                </a:solidFill>
                <a:latin typeface="Microsoft YaHei"/>
              </a:defRPr>
            </a:pPr>
            <a:r>
              <a:t>验证②：FO 与</a:t>
            </a:r>
            <a:br/>
            <a:r>
              <a:t>总流量的关系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11680"/>
            <a:ext cx="310896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000" b="1">
                <a:solidFill>
                  <a:srgbClr val="2B5C8A"/>
                </a:solidFill>
                <a:latin typeface="Microsoft YaHei"/>
              </a:defRPr>
            </a:pPr>
            <a:r>
              <a:t>FO 与 Q_total 无关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如果 FO 不受稀释影响，则：</a:t>
            </a:r>
            <a:br/>
            <a:r>
              <a:t>总流量↑（水更多）→ FO 应保持不变</a:t>
            </a:r>
            <a:br/>
            <a:r>
              <a:t>实验结果：FO 与 Q_total 无显著相关性</a:t>
            </a:r>
            <a:br/>
            <a:r>
              <a:t>→ ✓ 通量独立性验证：水流量不影响 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291840" cy="274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验证③：FO 恢复</a:t>
            </a:r>
            <a:br/>
            <a:r>
              <a:t>产量的精度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10896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000" b="1">
                <a:solidFill>
                  <a:srgbClr val="27AE60"/>
                </a:solidFill>
                <a:latin typeface="Microsoft YaHei"/>
              </a:defRPr>
            </a:pPr>
            <a:r>
              <a:t>FO → Q_oil</a:t>
            </a:r>
            <a:br/>
            <a:r>
              <a:t>r = 0.97, RMSD = 8.3%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146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归一化 FO = FO_两相 / FO_单相基准</a:t>
            </a:r>
            <a:br/>
            <a:r>
              <a:t>FO_单相基准 = 3.187 ± 0.15 μg/min (n=3)</a:t>
            </a:r>
            <a:br/>
            <a:br/>
            <a:r>
              <a:t>vs 设定产量：r = 0.97, p = 0.006</a:t>
            </a:r>
            <a:br/>
            <a:r>
              <a:t>→ ✓ 可从井口测量的 FO 准确恢复油产量</a:t>
            </a:r>
            <a:br/>
            <a:r>
              <a:t>不确定性主来源：基准重复性 ±4.7%</a:t>
            </a:r>
            <a:br/>
            <a:r>
              <a:t>→ 每批 ESP-T 需单独校准 FO_基准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1054608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343400"/>
            <a:ext cx="1027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验证逻辑：① FO∝油水比（物理正确） + ② FO与总流量无关（排除稀释干扰） + ③ FO→产量 r=0.97（精度可用） = 三项通过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FO 法不依赖任何井下参数（Q_oil 和 C_oil 均可井口测量）→ 方法自包含，无需井下工具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7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800" b="1">
                <a:solidFill>
                  <a:srgbClr val="1A3A5C"/>
                </a:solidFill>
                <a:latin typeface="Microsoft YaHei"/>
              </a:defRPr>
            </a:pPr>
            <a:r>
              <a:rPr lang="en-US" dirty="0"/>
              <a:t>15. </a:t>
            </a:r>
            <a:r>
              <a:rPr dirty="0"/>
              <a:t>FO </a:t>
            </a:r>
            <a:r>
              <a:rPr dirty="0" err="1"/>
              <a:t>法的工程意义：从示踪剂信号到逐段产量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完整的井场工作流——一次焖井即可实现全生命周期监测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46080" cy="8229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27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产量分配核心公式：  Q_oil_i = (FO_i / FO_ref) × Q_oil_ref</a:t>
            </a:r>
            <a:br/>
            <a:br/>
            <a:r>
              <a:t>FO_i = C_oil_i × Q_oil_i（井口测量）    ·    FO_ref = 3.187 μg/min（实验室单相校准）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6576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无需井下工具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所有输入量（C_oil, Q_oil）均可在井口采样 + 流量计获得。</a:t>
            </a:r>
            <a:br/>
            <a:r>
              <a:t>不需要 PLT 测井、不需要永久光纤、不需要停井。</a:t>
            </a:r>
            <a:br/>
            <a:r>
              <a:t>→ 大幅降低监测成本，实现常态化监测。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77440"/>
            <a:ext cx="36576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一次焖井即可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334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47% 信号来自持续释放（erfc 拖尾），不依赖于反复焖井。</a:t>
            </a:r>
            <a:br/>
            <a:r>
              <a:t>一次注入示踪支撑剂 → 长期井口采样 → 持续获得产量信息。</a:t>
            </a:r>
            <a:br/>
            <a:r>
              <a:t>→ 无需反复关井作业，避免产量损失。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377440"/>
            <a:ext cx="36576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多元素逐段编码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3347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每段压裂使用不同金属元素掺杂的 ESP-T（Mn/Zn/Cu/Eu/Dy）。</a:t>
            </a:r>
            <a:br/>
            <a:r>
              <a:t>井口 ICP-MS 分析 → 各元素浓度 → 各段 FO → 各段产量。</a:t>
            </a:r>
            <a:br/>
            <a:r>
              <a:t>→ 一段一码，互不干扰，同时监测所有段。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23360"/>
            <a:ext cx="36576" cy="14173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温度可预测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K-P 释放速率 K 与温度 T 已知关系 → FO_ref 可温学校准。</a:t>
            </a:r>
            <a:br/>
            <a:r>
              <a:t>高温井（120°C）FO_ref 约为低温井（30°C）的 3.6 倍。</a:t>
            </a:r>
            <a:br/>
            <a:r>
              <a:t>→ 不同井温下的 FO_ref 可通过 K(T) 推算，无需逐井实验。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36576" cy="14173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方法自包含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793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FO 法不依赖支撑剂层厚度、裂缝几何、储层渗透率等井下参数。</a:t>
            </a:r>
            <a:br/>
            <a:r>
              <a:t>所有需要的量均在井口测得，模型本身提供校准基准。</a:t>
            </a:r>
            <a:br/>
            <a:r>
              <a:t>→ 适用于任何井型，无需预知井下条件。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023360"/>
            <a:ext cx="36576" cy="141732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1A3A5C"/>
                </a:solidFill>
                <a:latin typeface="Microsoft YaHei"/>
              </a:defRPr>
            </a:pPr>
            <a:r>
              <a:t>全生命周期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793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ESP-T 化学稳定性好（耐温 357°C），一次压裂注入后长期有效。</a:t>
            </a:r>
            <a:br/>
            <a:r>
              <a:t>生产过程中定期采样 → 持续追踪各段产量衰减 → 识别水淹段。</a:t>
            </a:r>
            <a:br/>
            <a:r>
              <a:t>→ 支撑全生命周期的生产管理与调层决策。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工程闭环：一次焖井 → 多元素编码注入 → 定期井口采样 → BTC建模 → FO转换 → 逐段产量 → 全生命周期可监测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7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6967</Words>
  <Application>Microsoft Office PowerPoint</Application>
  <PresentationFormat>宽屏</PresentationFormat>
  <Paragraphs>560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 hao</cp:lastModifiedBy>
  <cp:revision>6</cp:revision>
  <dcterms:created xsi:type="dcterms:W3CDTF">2013-01-27T09:14:16Z</dcterms:created>
  <dcterms:modified xsi:type="dcterms:W3CDTF">2026-07-08T08:29:18Z</dcterms:modified>
  <cp:category/>
</cp:coreProperties>
</file>