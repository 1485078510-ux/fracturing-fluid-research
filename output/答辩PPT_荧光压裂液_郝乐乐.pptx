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3272" y="800000"/>
            <a:ext cx="8777456" cy="12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2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用于压裂裂缝监测的</a:t>
            </a:r>
            <a:br/>
            <a:r>
              <a:rPr>
                <a:latin typeface="Microsoft YaHei"/>
              </a:rPr>
              <a:t>荧光压裂液体系构建与性能研究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00000" y="2400000"/>
            <a:ext cx="4800000" cy="9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0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培养单位：成都理工大学能源学院</a:t>
            </a:r>
            <a:br/>
            <a:r>
              <a:rPr>
                <a:latin typeface="Microsoft YaHei"/>
              </a:rPr>
              <a:t>专    业：石油与天然气工程</a:t>
            </a:r>
            <a:br/>
            <a:r>
              <a:rPr>
                <a:latin typeface="Microsoft YaHei"/>
              </a:rPr>
              <a:t>导    师：李娜</a:t>
            </a:r>
            <a:br/>
            <a:r>
              <a:rPr>
                <a:latin typeface="Microsoft YaHei"/>
              </a:rPr>
              <a:t>研 究 生：郝乐乐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00000" y="3500000"/>
            <a:ext cx="4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硕士学位论文答辩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95600" y="46791"/>
            <a:ext cx="33528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答辩信息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00000" y="900000"/>
            <a:ext cx="6200000" cy="37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论文题目：用于压裂裂缝监测的荧光压裂液体系构建与性能研究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206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0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培养单位：成都理工大学能源学院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专    业：石油与天然气工程（油气田开发方向）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导    师：李娜</a:t>
            </a:r>
          </a:p>
          <a:p>
            <a:pPr algn="l">
              <a:spcAft>
                <a:spcPts val="400"/>
              </a:spcAft>
              <a:defRPr sz="2200" b="0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研 究 生：郝乐乐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206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0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已修学分：已修够学分  |  学位英语：80分</a:t>
            </a:r>
          </a:p>
          <a:p>
            <a:pPr algn="l">
              <a:spcAft>
                <a:spcPts val="400"/>
              </a:spcAft>
              <a:defRPr sz="2000" b="0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研究方向：油田化学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一、选题依据及意义——研究背景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650000"/>
            <a:ext cx="820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水力压裂是非常规油气资源商业化开发的核心技术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全球已完成逾250万次压裂施工，累计为美国新增可采石油储量约30%、天然气约90%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裂缝延伸范围直接决定储层改造体积（SRV）——页岩油气产能的关键控制参数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现有裂缝监测技术的结构性缺陷：缺乏原位实物证据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微地震、DAS/DTS、示踪剂等均属间接测量，依赖反演，多解性强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压后取心作为最直接验证手段，现有技术难以在岩心上留下可辨识标记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裂缝诊断结果始终缺乏"可取证"的实物依据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荧光示踪技术：弥补"信号-实物"鸿沟的可行路径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向压裂液中引入荧光标记材料，压后取心在紫外下直接观察荧光分布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已有探索：Ishida等(2025)荧光树脂、Guryanov等(2019)量子点微球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核心工程问题：如何在常规胍胶压裂液内实现荧光示踪材料的稳定输送与壁面锚定？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一、选题依据及意义——技术方案对比与定位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420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本研究以 SrAl₂O₄:Eu²⁺,Dy³⁺ 无机长余辉荧光粉为示踪介质、</a:t>
            </a:r>
            <a:br/>
            <a:r>
              <a:rPr>
                <a:latin typeface="Microsoft YaHei"/>
              </a:rPr>
              <a:t>HPG胍胶冻胶为压裂液载体，构建与现有压裂工艺完全兼容的</a:t>
            </a:r>
            <a:br/>
            <a:r>
              <a:rPr>
                <a:latin typeface="Microsoft YaHei"/>
              </a:rPr>
              <a:t>压裂液波及范围可视化方法。</a:t>
            </a:r>
            <a:br/>
            <a:br/>
            <a:r>
              <a:rPr>
                <a:latin typeface="Microsoft YaHei"/>
              </a:rPr>
              <a:t>该无机荧光粉的核心优势在于：</a:t>
            </a:r>
            <a:br/>
            <a:r>
              <a:rPr>
                <a:latin typeface="Microsoft YaHei"/>
              </a:rPr>
              <a:t>发光中心（Eu²⁺）受刚性晶格保护，对过硫酸铵破胶剂的</a:t>
            </a:r>
            <a:br/>
            <a:r>
              <a:rPr>
                <a:latin typeface="Microsoft YaHei"/>
              </a:rPr>
              <a:t>氧化环境具有本征化学惰性——确保示踪材料在破胶返排</a:t>
            </a:r>
            <a:br/>
            <a:r>
              <a:rPr>
                <a:latin typeface="Microsoft YaHei"/>
              </a:rPr>
              <a:t>全过程中保持荧光信号完整性。</a:t>
            </a:r>
            <a:br/>
            <a:br/>
            <a:r>
              <a:rPr>
                <a:latin typeface="Microsoft YaHei"/>
              </a:rPr>
              <a:t>技术定位：微地震/DAS等间接监测方法的辅助校准工具</a:t>
            </a:r>
            <a:br/>
            <a:r>
              <a:rPr>
                <a:latin typeface="Microsoft YaHei"/>
              </a:rPr>
              <a:t>——通过压后取心实物证据验证间接反演结果的可靠性。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00000" y="500000"/>
          <a:ext cx="38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0000"/>
                <a:gridCol w="760000"/>
                <a:gridCol w="760000"/>
                <a:gridCol w="760000"/>
                <a:gridCol w="760000"/>
              </a:tblGrid>
              <a:tr h="6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测量方式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原位证据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微裂缝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定量能力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微地震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间接反演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DAS/DTS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间接反演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半定量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化学示踪剂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返排分析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半定量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放射性示踪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返排分析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荧光树脂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直接成像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否</a:t>
                      </a:r>
                    </a:p>
                  </a:txBody>
                  <a:tcPr/>
                </a:tc>
              </a:tr>
              <a:tr h="60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40A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本研究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40A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取心+紫外成像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40A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是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40A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可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40A0"/>
                          </a:solidFill>
                          <a:latin typeface="Microsoft YaHei"/>
                        </a:defRPr>
                      </a:pPr>
                      <a:r>
                        <a:rPr>
                          <a:latin typeface="Microsoft YaHei"/>
                        </a:rPr>
                        <a:t>半定量</a:t>
                      </a:r>
                    </a:p>
                  </a:txBody>
                  <a:tcPr>
                    <a:solidFill>
                      <a:srgbClr val="E8F0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820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裂缝监测技术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DAS/DTS：Molenaar(2012)首次井下应用 → Jin &amp; Roy(2017)低频DAS-裂缝几何定量关系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微地震：Maxwell(2002)Barnett页岩裂缝网络成像 → SRV概念(Mayerhofer 2010)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示踪剂：化学示踪剂返排分析(Salman 2014) → 量子点微球GeoSplit(Guryanov 2019)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共性局限：间接反演多解性强，裂缝真实空间展布难以唯一确定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荧光示踪裂缝可视化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直接可视化路线：荧光树脂(Chen 2014, Takeuchi 2025)——与常规压裂工艺不兼容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返排分析路线：量子点、碳点、介孔硅纳米颗粒——依赖间接信号，无法在壁面留下实物标记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稀土铝酸盐荧光材料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SrAl₂O₄:Eu²⁺,Dy³⁺：Matsuzawa(1996)首次报道 → 余辉亮度比ZnS:Cu,Co高10倍以上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表面包覆：SiO₂(Qi 2017)、ALD Al₂O₃/TiO₂(Karacaoglu 2020)、KH570桥联(Lyu 2020)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研究空白：所有包覆方案均面向涂料/塑料行业，压裂液工程环境的系统验证尚属空白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二、存在的主要问题与研究空白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00000" y="550000"/>
            <a:ext cx="84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当前存在三个层次的技术缺口：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① 材料层面——分散悬浮稳定性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高密度荧光粉(3.6~4.0 g/cm³)在HPG基液(~1.0 g/cm³)中悬浮稳定性未解决；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荧光粉溶出多价阳离子(Al³⁺/Ca²⁺)可能干扰胍胶交联反应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② 工艺层面——"分散-吸附"功能时序切换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注入期需稳定悬浮（亲水分散），关井后需壁面锚定（化学结合），需求截然相反；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缺乏利用压裂施工自身时序（注入→关井→返排）驱动功能切换的工程化方案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③ 评价层面——动态全流程验证缺失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已有研究多采用静态浸泡/简单注入后成像，跳过了注入剪切、关井破胶和返排冲刷三个工程必经环节；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动态驱替模拟"注入—破胶—返排"全过程条件下的荧光示踪效果尚未被验证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8200000" cy="40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2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研究目标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以SrAl₂O₄:Eu²⁺,Dy³⁺为示踪介质、HPG压裂液为载体，以压后取心紫外直接观察为检测手段，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构建一种与现有压裂工艺完全兼容的压裂液波及范围实物验证方法。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研究内容（六部分）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（1）荧光粉基础物性表征与储层环境适应性评价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（2）KH550+PEG4000双层表面改性工艺优化与协同分散机理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（3）高浓度荧光母液研制与压裂液体系标准化性能评价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（4）"分散-吸附"功能切换机制与砂岩壁面吸附规律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（5）动态驱替模拟压裂-返排全过程与荧光信号半定量分析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（6）"母液预配+在线稀释"现场施工工艺方案与经济性评估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▎ 主线：材料改性 → 体系构建 → 动态验证 → 工程转化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三、技术路线图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0000" y="7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染料类型优选</a:t>
            </a:r>
            <a:br/>
            <a:r>
              <a:rPr>
                <a:latin typeface="Microsoft YaHei"/>
              </a:rPr>
              <a:t>（稀土铝酸盐荧光粉）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000" y="18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荧光粉物性研究</a:t>
            </a:r>
            <a:br/>
            <a:r>
              <a:rPr>
                <a:latin typeface="Microsoft YaHei"/>
              </a:rPr>
              <a:t>（热/氧化/耐盐/pH）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9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颗粒表面修饰</a:t>
            </a:r>
            <a:br/>
            <a:r>
              <a:rPr>
                <a:latin typeface="Microsoft YaHei"/>
              </a:rPr>
              <a:t>（KH550+PEG4000双层）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0000" y="5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荧光压裂液研究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0000" y="13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└─ 母液配制（≥40 g/L）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0000" y="20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└─ 基液性能评价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000" y="27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└─ 交联冻胶/悬砂/破胶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000" y="36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岩心吸附研究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00000" y="39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├─ 静态吸附（热力学/动力学）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00000" y="4200000"/>
            <a:ext cx="35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└─ 动态驱替（五步串联流程）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00" y="4000000"/>
            <a:ext cx="3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判读方法建立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00000" y="4500000"/>
            <a:ext cx="35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施工方案设计</a:t>
            </a:r>
            <a:br/>
            <a:r>
              <a:rPr>
                <a:latin typeface="Microsoft YaHei"/>
              </a:rPr>
              <a:t>（母液预配+在线稀释）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0000" y="750000"/>
            <a:ext cx="13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───────▶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0000" y="1850000"/>
            <a:ext cx="13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───────▶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50000" y="2950000"/>
            <a:ext cx="13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───────▶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000" y="4650000"/>
            <a:ext cx="7000000" cy="4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0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性能评价依据：SY/T 6376-2008《压裂液通用技术条件》| SY/T 5107-2016《水基压裂液性能评价方法》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四、荧光粉基础物性——材料表征与环境适应性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600000"/>
            <a:ext cx="8200000" cy="42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基础物性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材料：商用SrAl₂O₄:Eu²⁺,Dy³⁺（固相法合成，1000目，D50≈13μm）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表征：XRD晶相分析 | SEM-EDS形貌与元素 | 激光粒度分布 | 荧光激发/发射光谱+余辉衰减曲线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储层环境适应性评价（实验数据待补充）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热稳定性：60~150°C，0~168h → 获取发光衰减速率常数k和半衰期t₁/₂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化学稳定性：NaCl 0~100 g/L，90°C → 同步监测pH以评估水解程度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氧化稳定性：过硫酸铵0~0.2% w/v，90°C → 关键指标——与有机荧光材料的本质区别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pH适应性：pH 3~11缓冲溶液，90°C</a:t>
            </a:r>
          </a:p>
          <a:p>
            <a:pPr algn="l">
              <a:spcAft>
                <a:spcPts val="400"/>
              </a:spcAft>
              <a:defRPr sz="8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▎ 拟合模型：一级衰减动力学 ln(I/I₀) = -kt（每项实验）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四、双层表面改性方案设计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2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改性目标：构建兼具三重功能的双层结构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内层 — KH550硅烷偶联剂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 • 化学锚固：Si-O-Al共价键锚定荧光粉表面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 • 功能基团：末端-NH₂（氨基）——为岩石壁面Si-OH提供吸附活性位点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 • 耐水解屏障：致密硅氧烷网络阻隔水分子渗透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外层 — PEG4000（聚乙二醇，Mw=4000）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 • 物理屏蔽：长链构象熵+渗透排斥 → 空间位阻分散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  • 可脱附设计：高温+氧化条件下PEG链从颗粒表面脱附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  • 暴露活性位点：脱附后释放KH550氨基 → 与岩石Si-OH锚定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协同分散体系：柠檬酸（螯合屏蔽Al³⁺）+ Triton X-100（界面润湿）+ PEG（空间位阻）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▎ 工艺优化：L9(3⁴)正交实验——KH550用量×PEG分子量×PEG浓度×搅拌时间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四、改性粉在胍胶基液中的分散稳定性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2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六组对照实验设计——量化各组分独立贡献与协同效应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组1：双层改性粉 + HPG基液（空白对照）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组2：空白 + 0.1 wt%柠檬酸（螯合Al³⁺）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组3：空白 + 0.05 wt% Triton X-100（界面润湿）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组4：空白 + 5 wt% PEG4000（额外空间位阻）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组5：空白 + 柠檬酸 + Triton（两两组合）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组6：空白 + 柠檬酸 + Triton + PEG（三者全加）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评估指标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静态沉降曲线：相对浊度保持率 vs 时间（0~120 min）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激光粒度：D50和Span值随时间变化（反映团聚动力学）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Zeta电位-pH曲线（颗粒表面电荷稳定性）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▎ 协同效应量化：协同项 = 组6效果 - (组2+组3+组4 - 3×组1)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▎ 交联影响验证：含/不含荧光粉的HPG冻胶交联时间、G'/G"粘弹性、SEM微观结构对比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五、荧光压裂液体系构建——母液制备与基液评价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2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高浓度荧光母液制备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浓度目标：40~60 g/L（改性荧光粉 + 柠檬酸 + Triton X-100 + 去离子水）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工艺：高速均质机10000~15000 rpm × 5 min → 超声40 kHz × 10 min脱泡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质量指标：7天静置分层≤5% | 离心浊度比TR≥0.90 | 荧光强度保持率≥90%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荧光压裂液终液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配方：0.5 wt% HPG基液 + 0.5% v/v荧光母液 → 复配得终液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基液评价（SY/T 5107-2016）：表观粘度（170 s⁻¹, 25°C）、pH、密度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与空白HPG基液对比 → 验证荧光母液不显著改变基液基础物理性质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交联冻胶性能（SY/T 5107-2016）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交联剂：有机硼延缓交联剂0.3% v/v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耐温耐剪切：25→120°C，170 s⁻¹恒剪 → 表观粘度≥50 mPa·s维持60 min以上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粘弹性：振荡频率扫描0.1~10 Hz → G' &gt; G"弹性主导准则（支撑剂悬浮能力）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五、压裂液性能评价——悬砂/破胶/地层伤害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2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悬砂性能（SY/T 6376-2008）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20/40目陶粒（~2.7 g/cm³, 480 kg/m³），室温/储层温度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标准：储层温度下沉降速度 ≤ 0.5 mm/min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破胶性能（SY/T 5107-2016）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破胶剂：过硫酸铵0.05~0.2% w/v，60~120°C → 破胶至粘度≤10 mPa·s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残渣含量：过滤-干燥-称重法（mg/L），与空白HPG冻胶对比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地层伤害评价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滤饼伤害：HPHT滤失仪，3.5 MPa / 90°C → 滤饼厚度+SEM形貌+EDS分布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岩心驱替伤害（SY/T 6540-2002）：伤害前后煤油渗透率对比，剥离荧光粉增量贡献ΔD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导流能力（SY/T 6302-2009）：API导流室，20/40目陶粒，闭合压力10~60 MPa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核心结论：荧光母液的引入不显著损害压裂液工程性能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六、"分散-吸附"功能切换机制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50000"/>
            <a:ext cx="8200000" cy="4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核心工作假说：利用压裂工程时序驱动表面化学功能切换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注入阶段（分散态）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PEG4000外层充分伸展 → 空间位阻排斥 → 颗粒均匀悬浮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KH550氨基被PEG屏蔽 → 不与HPG/交联剂发生副反应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关井破胶阶段（切换窗口）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过硫酸铵氧化 + 90°C高温 → PEG链从颗粒表面脱附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KH550末端-NH₂暴露 → 质子化为-NH₃⁺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2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返排+取心阶段（锚定态）</a:t>
            </a:r>
          </a:p>
          <a:p>
            <a:pPr algn="l">
              <a:spcAft>
                <a:spcPts val="400"/>
              </a:spcAft>
              <a:defRPr sz="1600" b="1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三级协同锚定机制：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① 静电吸附：-NH₃⁺ ⟷ 砂岩表面Si-O⁻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② 氢键：-NH₂···HO-Si≡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③ 化学缩合：-NH₂ + HO-Si → -NH-Si + H₂O（高温催化）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500" b="0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▎ 化学证据（FTIR + XPS + Zeta电位交叉验证）——实验数据待补充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六、静态吸附实验——热力学与动力学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200000" cy="4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批吸附实验设计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砂岩薄片(10×10×2 mm) + 破胶处理荧光粉悬浮液(0.1~5.0 g/L)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模拟地层水(50 g/L NaCl + 2 g/L CaCl₂)，25/50/80°C恒温振荡至平衡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UV-Vis/荧光光谱仪测定残余浓度 → 计算单位面积吸附量(μg/cm²)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等温吸附模型拟合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Langmuir: q_e = q_max·K_L·C_e/(1+K_L·C_e)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Freundlich: q_e = K_F·C_e^(1/n)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Temkin —— 以R²和AIC准则选择最优模型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热力学参数（Van't Hoff方程）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ΔG° = -RT·ln(K_L)：判断吸附自发性 → 预期ΔG° &lt; 0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ln(K_L) vs 1/T → ΔH°（吸附热）和ΔS°（熵变）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动力学模型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拟一级：ln(q_e-q_t) vs t | 拟二级：t/q_t vs t | 颗粒内扩散：q_t vs t^(1/2)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识别速率控制步骤（膜扩散/颗粒内扩散/表面吸附）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六、动态驱替四阶段实验——工程可行性完整证据链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0000" y="500000"/>
            <a:ext cx="8300000" cy="4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实验装置：可调节裂缝宽度的岩心夹持系统（砂岩/巴西劈裂法造缝/0.1~2.0 mm）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阶段一 ▸ 注入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荧光HPG压裂液+有机硼交联剂在线混配，90°C恒流注入3倍裂缝体积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证据A：注入端压力-注入PV曲线 → 判断颗粒堵塞/架桥（p_in是否单调上升无平台）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阶段二 ▸ 关井破胶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回压5 MPa，90°C密闭12 h，过硫酸铵破胶 → PEG脱附+KH550氨基暴露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此为"分散→吸附"功能切换的静态窗口期，不采集数据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阶段三 ▸ 返排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模拟地层水反向低速驱替5~10倍裂缝体积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证据B：返排液荧光浓度-CPV曲线 → 计算净残留率（目标&gt;90%）→ 验证锚定牢固度</a:t>
            </a:r>
          </a:p>
          <a:p>
            <a:pPr algn="l">
              <a:spcAft>
                <a:spcPts val="400"/>
              </a:spcAft>
              <a:defRPr sz="4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阶段四 ▸ 取心+紫外成像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拆卸岩心，365 nm紫外+520±10 nm带通滤光片成像（所有参数锁定不变）</a:t>
            </a:r>
          </a:p>
          <a:p>
            <a:pPr algn="l">
              <a:spcAft>
                <a:spcPts val="400"/>
              </a:spcAft>
              <a:defRPr sz="14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  证据C：裂缝壁面紫外图像+ImageJ灰度分析 → 验证空间对应性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六、荧光信号与裂缝几何的半定量关系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50000"/>
            <a:ext cx="8200000" cy="44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分析框架：递进式——无论实验结果落在哪个层次，结论都有实证支撑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核心层次：定性空间对应验证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四种裂缝宽度梯度(0.1/0.5/1.0/2.0 mm) × 3平行样 = 12块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信噪比SNR≥3:1判定"可检出"，目标：&gt;90%岩样可检出荧光 → 定性验证成功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探索层次：半定量灰度-裂缝宽度关系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裂缝宽度(横坐标) vs 5个ROI平均灰度值(纵坐标)，Spearman秩相关系数ρ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若ρ≥0.85且p&lt;0.01 → 灰度可作为裂缝宽度的半定量判据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若ρ&lt;0.6 → 荧光信号仅保留"有/无"定性判读功能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重要边界条件（防止不当外推）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该半定量关系受控于：同一砂岩类型 + 同一成像参数 + 同一荧光粉批次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不具备跨条件的绝对定量测量能力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七、"母液预配+在线稀释"现场施工工艺方案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4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工艺设计思路：避免现场干粉直接加入——粉尘污染+分散不均+结块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步骤一：母液预配（配液区）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专用配制罐(5~10 m³) + 高速搅拌500~1000 rpm × 30 min + 工业超声40 kHz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浓度40 g/L，静置2 h分层≤5%方可放行，有效期7天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步骤二：在线稀释（混砂车上游）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隔膜计量泵(精度±1%) → SMX型静态混合器(DN50, ≥1 m) → 0.5% v/v在线注入HPG主路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混合后进入混砂车汇合支撑剂 → 高压泵组注入井筒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步骤三：在线质量控制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每30 min取样：便携式荧光分光光度计(520 nm) + 便携式粘度计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容许偏差：浓度±15%，粘度±10%空白HPG基液值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七、经济性对比分析与环保安全性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50000"/>
            <a:ext cx="8200000" cy="4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18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单井材料估算（四川盆地典型页岩气水平井：8段/16000 m³）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荧光母液：80 m³（0.5% v/v稀释比）→ 荧光粉3200 kg（40 g/L母液浓度）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改性试剂：KH550约64 kg + PEG4000约96 kg + 柠檬酸3.2 kg + Triton X-100 1.6 kg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经济性对比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本方案单井总成本：约100万元（~14万美元）——最大用量方案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化学示踪剂参考价：3~8万美元/井（含材料+注入+实验室分析）</a:t>
            </a:r>
          </a:p>
          <a:p>
            <a:pPr algn="l">
              <a:spcAft>
                <a:spcPts val="400"/>
              </a:spcAft>
              <a:defRPr sz="15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• 经济有利场景：仅需1~2关键段使用 → 成本降至25~50万元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间接效益：实物证据验证可避免错误压裂设计决策，节省成本远超示踪方案本身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环保安全性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Sr²⁺生物毒性类似Ca²⁺，Eu/Dy属轻稀土低毒性(LD50&gt;2000 mg/kg)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返排液处理：絮凝-沉降-过滤(13 μm颗粒) + 化学沉淀(调pH 9~10)或离子交换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含荧光粉岩屑属一般工业固废，SrAl₂O₄基质化学性质稳定、环境浸出风险低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▎ 适用条件：砂岩储层(&gt;0.1 mm裂缝) + HPG压裂液体系 + 需可实施取心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97426" y="70000"/>
            <a:ext cx="5179219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目  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00000" y="1000000"/>
            <a:ext cx="6000000" cy="36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一、选题依据及意义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二、国内外研究现状及存在问题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三、研究目标与技术路线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四、荧光粉基础物性与表面改性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五、荧光压裂液体系构建与性能评价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六、裂缝壁面吸附与动态驱替验证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七、现场施工工艺与经济性评估</a:t>
            </a:r>
          </a:p>
          <a:p>
            <a:pPr algn="l">
              <a:spcAft>
                <a:spcPts val="400"/>
              </a:spcAft>
              <a:defRPr sz="2400" b="1">
                <a:solidFill>
                  <a:srgbClr val="D4A01F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八、创新点与结论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八、创新点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50000"/>
            <a:ext cx="8200000" cy="435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创新点一：面向氧化破胶环境的无机荧光示踪方案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选择无机铝酸盐晶体SrAl₂O₄:Eu²⁺,Dy³⁺为示踪介质——发光中心受刚性晶格保护，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对过硫酸铵氧化破胶剂具有本征化学惰性——区别于有机荧光树脂和半导体量子点。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创新点二："螯合-润湿-位阻"多层次协同分散体系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柠檬酸螯合屏蔽Al³⁺（抑制交联干扰）+ 非离子表面活性剂界面润湿（促进PEG伸展）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+ PEG长链空间位阻（渗透排斥+构象熵效应）——三机制协同解决高密度荧光粉悬浮问题。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创新点三：利用压裂工程时序的功能切换设计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提出"破胶诱导PEG脱附→KH550氨基暴露→砂岩硅羟基锚定"的时序功能切换假说，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将"注入→关井→返排"工程时间序列转化为颗粒表面化学的功能转化序列。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创新点四：动态驱替全流程验证实验方法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构建"注入—关井破胶—返排—取心—成像"五步串联动态实验系统，以驱替压力曲线、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返排浓度曲线和岩心成像三组数据构成完整证据链，区别于已有研究的静态评价方法。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575" y="85235"/>
            <a:ext cx="8141193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八、主要结论与研究展望</a:t>
            </a:r>
          </a:p>
        </p:txBody>
      </p:sp>
      <p:sp>
        <p:nvSpPr>
          <p:cNvPr id="3" name="Rectangle 2"/>
          <p:cNvSpPr/>
          <p:nvPr/>
        </p:nvSpPr>
        <p:spPr>
          <a:xfrm>
            <a:off x="396575" y="550000"/>
            <a:ext cx="8141193" cy="20000"/>
          </a:xfrm>
          <a:prstGeom prst="rect">
            <a:avLst/>
          </a:prstGeom>
          <a:solidFill>
            <a:srgbClr val="004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80000"/>
            <a:ext cx="8200000" cy="430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主要结论（待全部实验完成后撰写）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1. 建立了SrAl₂O₄:Eu²⁺,Dy³⁺荧光粉在模拟储层环境中的适用性边界条件，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获取了热稳定性、化学稳定性和水解动力学的关键参数。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2. 成功开发了"KH550化学锚固+PEG4000物理屏蔽"双层表面改性方案，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建立"柠檬酸+Triton X-100+PEG"多层次协同分散体系，解决了高密度微米粉在HPG基液中的悬浮稳定性问题。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3. 研制了浓度≥40 g/L的高稳定荧光粉悬浮母液，经SY/T标准验证，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荧光母液的引入不显著损害压裂液的基液、交联、悬砂和破胶性能。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4. 揭示了破胶诱导PEG脱附-KH550氨基暴露-砂岩硅羟基锚定的功能切换机制。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5. 通过动态驱替全流程实验验证了荧光压裂液的可注入性、附着牢固度和空间对应性，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   在受控条件下建立了裂缝宽度与荧光灰度值的半定量单调映射关系。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6. 设计了"母液预配+在线稀释"现场施工工艺方案，完成技术经济与环保可行性评估。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000000"/>
                </a:solidFill>
                <a:latin typeface="Microsoft YaHei"/>
              </a:defRPr>
            </a:pPr>
          </a:p>
          <a:p>
            <a:pPr algn="l">
              <a:spcAft>
                <a:spcPts val="400"/>
              </a:spcAft>
              <a:defRPr sz="20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▎ 展望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碳酸盐岩/页岩储层的壁面锚定效果需单独验证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井下紫外探头直接观测可作远期替代检测手段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000000"/>
                </a:solidFill>
                <a:latin typeface="Microsoft YaHei"/>
              </a:defRPr>
            </a:pPr>
            <a:r>
              <a:rPr>
                <a:latin typeface="Microsoft YaHei"/>
              </a:rPr>
              <a:t>• 稀土元素长期环境迁移行为需持续跟踪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70000"/>
            <a:ext cx="9144000" cy="7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00000" y="1500000"/>
            <a:ext cx="5000000" cy="10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3600" b="1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0" y="2600000"/>
            <a:ext cx="5000000" cy="6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0">
                <a:solidFill>
                  <a:srgbClr val="0040A0"/>
                </a:solidFill>
                <a:latin typeface="Microsoft YaHei"/>
              </a:defRPr>
            </a:pPr>
            <a:r>
              <a:rPr>
                <a:latin typeface="Microsoft YaHei"/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0" y="3400000"/>
            <a:ext cx="5000000" cy="5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0">
                <a:solidFill>
                  <a:srgbClr val="002060"/>
                </a:solidFill>
                <a:latin typeface="Microsoft YaHei"/>
              </a:defRPr>
            </a:pPr>
            <a:r>
              <a:rPr>
                <a:latin typeface="Microsoft YaHei"/>
              </a:rPr>
              <a:t>成都理工大学能源学院</a:t>
            </a:r>
            <a:br/>
            <a:r>
              <a:rPr>
                <a:latin typeface="Microsoft YaHei"/>
              </a:rPr>
              <a:t>石油与天然气工程专业</a:t>
            </a:r>
            <a:br/>
            <a:r>
              <a:rPr>
                <a:latin typeface="Microsoft YaHei"/>
              </a:rPr>
              <a:t>郝乐乐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