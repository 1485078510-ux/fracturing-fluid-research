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11884" r:id="rId2"/>
    <p:sldId id="11910" r:id="rId3"/>
    <p:sldId id="11909" r:id="rId4"/>
    <p:sldId id="11914" r:id="rId5"/>
    <p:sldId id="11911" r:id="rId6"/>
    <p:sldId id="11916" r:id="rId7"/>
    <p:sldId id="11915" r:id="rId8"/>
    <p:sldId id="11917" r:id="rId9"/>
    <p:sldId id="11923" r:id="rId10"/>
    <p:sldId id="11924" r:id="rId11"/>
    <p:sldId id="11912" r:id="rId12"/>
    <p:sldId id="11919" r:id="rId13"/>
    <p:sldId id="11925" r:id="rId14"/>
    <p:sldId id="11928" r:id="rId15"/>
    <p:sldId id="11913" r:id="rId16"/>
    <p:sldId id="1192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晶 小" initials="晶小" lastIdx="2" clrIdx="0">
    <p:extLst>
      <p:ext uri="{19B8F6BF-5375-455C-9EA6-DF929625EA0E}">
        <p15:presenceInfo xmlns:p15="http://schemas.microsoft.com/office/powerpoint/2012/main" userId="9c2c8809c2b189d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31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4BB45-DF57-4211-9543-7C1601CC9D7D}" type="datetimeFigureOut">
              <a:rPr lang="zh-CN" altLang="en-US" smtClean="0"/>
              <a:t>2026/7/16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0C9DF0-096A-4B79-9BAC-86BADF4B2AA6}" type="slidenum">
              <a:rPr lang="zh-CN" altLang="en-US" smtClean="0"/>
              <a:t>‹#›</a:t>
            </a:fld>
            <a:endParaRPr lang="zh-CN" altLang="en-US"/>
          </a:p>
        </p:txBody>
      </p:sp>
    </p:spTree>
    <p:extLst>
      <p:ext uri="{BB962C8B-B14F-4D97-AF65-F5344CB8AC3E}">
        <p14:creationId xmlns:p14="http://schemas.microsoft.com/office/powerpoint/2010/main" val="3611071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DACB2-390E-9815-72D3-432DF02822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C6A066-7AD9-B240-3A4A-89421C1B1D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54C41F-0CEF-6F26-F0F5-2FC69CE0B49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E4EFF00-43F4-303D-1430-F88A79DFD92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2627733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27AB8-FD29-CF66-0BEE-7733767372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2C7961-FB39-CE04-3D68-AD94791834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7912A3-6592-B984-F06B-26B979624B1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2D90CF4-9B30-477F-CA43-2A4C4D2B916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4041721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EBD24-04E6-D8A9-6B7D-B23AC16B26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E7BC15-7ADB-F170-2BBC-9574D5331D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47CFA4-76A7-A991-B1B1-DCF9D681BA9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E9552A8-5750-7F7B-5837-3DD418D6091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1177749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AD82C-19A7-64E4-1505-1347A4B864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6267F8-3E59-0E53-E60E-6D71F4E671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A85DEC-0E77-8FBE-13EA-3E5FEADCAE8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117DFE5-7F9C-0404-525B-CCC890872FD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1922865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A082E-4418-210F-54C4-EA17225488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8A73DA-3D02-1555-6A9C-798CAB75D6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A05BF8-0B8D-8E8C-94ED-6E86D2BD435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727E50F-D35C-9B3F-42CD-E49FA328E8D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2661167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C0A2-757E-2297-4FF3-E7C739F2CE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3B9527-4550-4FCD-452B-FA981AB2A3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210367-0A44-6F03-0FD6-BE69EA8A31E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497213B-B2F5-2069-03CA-E61CE74C79A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739359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7FA24-B4F6-AF92-8DBC-EED8EA4EB9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8083AD-E1DF-C58A-1BAA-A305AFC8BD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014CA6-6FDF-CEB1-FB34-67631786767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62F87FF-360F-D074-00E8-B8CEF2BA143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2370513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1BE38-7BE4-597F-4DF0-C3201D8089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8583A7-79EF-F0B3-9152-8F929E027F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37143D-0A4F-56F3-B0A1-562E2027763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3AB17AE-5C18-A371-2DA1-12712177F61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590815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3FF52-4B94-EB03-E574-FC10E193BE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D533F5-E2E8-CC16-5B4C-D290EFF8E8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DA2FDB-3510-F96C-9D9C-0564723F0C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C038CC5-CDDB-5525-F102-11E5135C339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892872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780E4-7FC2-69CB-67A4-8647B8D50E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5BF566-C1FF-D349-0995-A99DC173ED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275DDA-07C4-E973-B56E-4E8B58F609B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F674676-748B-81C5-3844-397B4247ADF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2060839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730CB-356F-4DBE-7BB1-514C696CFB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CB3CF5-83B9-A6A8-5CD5-C526A9FDAC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DD6E52-AFB7-5DFA-E83C-EAEE3ABD32C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E1D65A-B19C-F5EF-74D8-F0E5C65A33A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2050652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E64D7-C3CF-0A3A-CF7F-45C637F5BF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3F1ADC-C873-6C67-BFF5-BADDFCE104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7AEE99-BB20-D6AE-4F43-B78FEC97725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B5988F4-F4F1-9E49-18EE-667FC07AAAE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41306807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01CA4-4C25-36BC-3A17-C74E395177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8B08B2-7872-7D0B-CBB2-E793D443AB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A68C4E-A104-EDB8-24FA-66C75AD4388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B953A16-F220-A466-EC69-3712C77A0A6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80172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C1BD9-38B2-FDCB-3BE3-51BF95AD6D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E5E386-2C69-4EFA-C1A0-D45CEECF9D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95A37B4-CD55-02EC-7AFD-874531A356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ACD4930-0D06-F7BA-28DD-6F2FFCBCC10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441473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00FE-23DD-1DDA-2B78-EE38571AD9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787794-5A3A-D478-81B6-576FF0A5D9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6D9057-FF97-9776-6FC7-FEB2E7A741F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AD09C0-DB8A-A770-9E8A-EAB46276C3B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091275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84D19-1E61-2669-8CBA-072378A03E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0501B2-AB84-8BD2-1093-8A5F06959E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3BFA53-C4BF-7CFC-61FC-ADF2CA3344C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9388DB3-5432-188D-12D1-64BA1100A1A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363704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461884"/>
            <a:ext cx="10972800" cy="1143000"/>
          </a:xfrm>
          <a:prstGeom prst="rect">
            <a:avLst/>
          </a:prstGeom>
        </p:spPr>
        <p:txBody>
          <a:bodyPr anchor="ctr"/>
          <a:lstStyle>
            <a:lvl1pPr algn="ctr">
              <a:defRPr>
                <a:solidFill>
                  <a:srgbClr val="FFFF00"/>
                </a:solidFill>
                <a:latin typeface="方正大黑简体" panose="02010601030101010101" pitchFamily="2" charset="-122"/>
                <a:ea typeface="方正大黑简体" panose="02010601030101010101" pitchFamily="2" charset="-122"/>
              </a:defRPr>
            </a:lvl1pPr>
          </a:lstStyle>
          <a:p>
            <a:r>
              <a:rPr lang="zh-CN" altLang="en-US"/>
              <a:t>单击此处编辑母版标题样式</a:t>
            </a:r>
            <a:endParaRPr lang="zh-CN" altLang="en-US" dirty="0"/>
          </a:p>
        </p:txBody>
      </p:sp>
      <p:sp>
        <p:nvSpPr>
          <p:cNvPr id="6" name="Line 70"/>
          <p:cNvSpPr>
            <a:spLocks noChangeShapeType="1"/>
          </p:cNvSpPr>
          <p:nvPr userDrawn="1"/>
        </p:nvSpPr>
        <p:spPr bwMode="auto">
          <a:xfrm>
            <a:off x="-9096" y="101372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
        <p:nvSpPr>
          <p:cNvPr id="3"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4"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2097501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435429" y="1561606"/>
            <a:ext cx="11249892" cy="1318161"/>
          </a:xfrm>
        </p:spPr>
        <p:txBody>
          <a:bodyPr anchor="ctr">
            <a:normAutofit/>
          </a:bodyPr>
          <a:lstStyle>
            <a:lvl1pPr algn="ctr">
              <a:defRPr sz="4400">
                <a:solidFill>
                  <a:srgbClr val="FF0000"/>
                </a:solidFill>
              </a:defRPr>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4405745"/>
            <a:ext cx="9144000" cy="852055"/>
          </a:xfrm>
        </p:spPr>
        <p:txBody>
          <a:bodyPr anchor="ctr"/>
          <a:lstStyle>
            <a:lvl1pPr marL="0" indent="0" algn="ctr">
              <a:buNone/>
              <a:defRPr sz="2400" b="1">
                <a:solidFill>
                  <a:srgbClr val="0000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5"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1376358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汇报提纲">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8"/>
            <a:ext cx="10515600" cy="721465"/>
          </a:xfrm>
        </p:spPr>
        <p:txBody>
          <a:bodyPr>
            <a:normAutofit/>
          </a:bodyPr>
          <a:lstStyle>
            <a:lvl1pPr algn="ctr">
              <a:defRPr sz="3600" b="0">
                <a:solidFill>
                  <a:srgbClr val="FF0000"/>
                </a:solidFill>
              </a:defRPr>
            </a:lvl1pPr>
          </a:lstStyle>
          <a:p>
            <a:r>
              <a:rPr lang="zh-CN" altLang="en-US"/>
              <a:t>单击此处编辑母版标题样式</a:t>
            </a:r>
            <a:endParaRPr lang="en-US" dirty="0"/>
          </a:p>
        </p:txBody>
      </p:sp>
      <p:sp>
        <p:nvSpPr>
          <p:cNvPr id="7" name="Line 70"/>
          <p:cNvSpPr>
            <a:spLocks noChangeShapeType="1"/>
          </p:cNvSpPr>
          <p:nvPr/>
        </p:nvSpPr>
        <p:spPr bwMode="auto">
          <a:xfrm>
            <a:off x="-9096" y="121659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
        <p:nvSpPr>
          <p:cNvPr id="11"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12"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962001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548640" y="294904"/>
            <a:ext cx="11384280" cy="677258"/>
          </a:xfrm>
        </p:spPr>
        <p:txBody>
          <a:bodyPr>
            <a:noAutofit/>
          </a:bodyPr>
          <a:lstStyle>
            <a:lvl1pPr algn="ctr">
              <a:defRPr sz="3200" b="0">
                <a:solidFill>
                  <a:srgbClr val="FF0000"/>
                </a:solidFill>
              </a:defRPr>
            </a:lvl1pPr>
          </a:lstStyle>
          <a:p>
            <a:r>
              <a:rPr lang="zh-CN" altLang="en-US"/>
              <a:t>单击此处编辑母版标题样式</a:t>
            </a:r>
            <a:endParaRPr lang="en-US" dirty="0"/>
          </a:p>
        </p:txBody>
      </p:sp>
      <p:sp>
        <p:nvSpPr>
          <p:cNvPr id="6" name="Line 70"/>
          <p:cNvSpPr>
            <a:spLocks noChangeShapeType="1"/>
          </p:cNvSpPr>
          <p:nvPr/>
        </p:nvSpPr>
        <p:spPr bwMode="auto">
          <a:xfrm>
            <a:off x="-9096" y="101372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
        <p:nvSpPr>
          <p:cNvPr id="8"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9"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3291082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二级标题">
    <p:spTree>
      <p:nvGrpSpPr>
        <p:cNvPr id="1" name=""/>
        <p:cNvGrpSpPr/>
        <p:nvPr/>
      </p:nvGrpSpPr>
      <p:grpSpPr>
        <a:xfrm>
          <a:off x="0" y="0"/>
          <a:ext cx="0" cy="0"/>
          <a:chOff x="0" y="0"/>
          <a:chExt cx="0" cy="0"/>
        </a:xfrm>
      </p:grpSpPr>
      <p:sp>
        <p:nvSpPr>
          <p:cNvPr id="2" name="Title 1"/>
          <p:cNvSpPr>
            <a:spLocks noGrp="1"/>
          </p:cNvSpPr>
          <p:nvPr>
            <p:ph type="title"/>
          </p:nvPr>
        </p:nvSpPr>
        <p:spPr>
          <a:xfrm>
            <a:off x="472440" y="294904"/>
            <a:ext cx="11437620" cy="677258"/>
          </a:xfrm>
        </p:spPr>
        <p:txBody>
          <a:bodyPr>
            <a:noAutofit/>
          </a:bodyPr>
          <a:lstStyle>
            <a:lvl1pPr algn="l">
              <a:defRPr sz="2600" b="0">
                <a:solidFill>
                  <a:srgbClr val="FF0000"/>
                </a:solidFill>
              </a:defRPr>
            </a:lvl1pPr>
          </a:lstStyle>
          <a:p>
            <a:r>
              <a:rPr lang="zh-CN" altLang="en-US"/>
              <a:t>单击此处编辑母版标题样式</a:t>
            </a:r>
            <a:endParaRPr lang="en-US" dirty="0"/>
          </a:p>
        </p:txBody>
      </p:sp>
      <p:sp>
        <p:nvSpPr>
          <p:cNvPr id="7" name="Line 70"/>
          <p:cNvSpPr>
            <a:spLocks noChangeShapeType="1"/>
          </p:cNvSpPr>
          <p:nvPr userDrawn="1"/>
        </p:nvSpPr>
        <p:spPr bwMode="auto">
          <a:xfrm>
            <a:off x="-9096" y="101372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Tree>
    <p:extLst>
      <p:ext uri="{BB962C8B-B14F-4D97-AF65-F5344CB8AC3E}">
        <p14:creationId xmlns:p14="http://schemas.microsoft.com/office/powerpoint/2010/main" val="3668618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三级标题">
    <p:spTree>
      <p:nvGrpSpPr>
        <p:cNvPr id="1" name=""/>
        <p:cNvGrpSpPr/>
        <p:nvPr/>
      </p:nvGrpSpPr>
      <p:grpSpPr>
        <a:xfrm>
          <a:off x="0" y="0"/>
          <a:ext cx="0" cy="0"/>
          <a:chOff x="0" y="0"/>
          <a:chExt cx="0" cy="0"/>
        </a:xfrm>
      </p:grpSpPr>
      <p:sp>
        <p:nvSpPr>
          <p:cNvPr id="2" name="Title 1"/>
          <p:cNvSpPr>
            <a:spLocks noGrp="1"/>
          </p:cNvSpPr>
          <p:nvPr>
            <p:ph type="title"/>
          </p:nvPr>
        </p:nvSpPr>
        <p:spPr>
          <a:xfrm>
            <a:off x="518160" y="294904"/>
            <a:ext cx="11315700" cy="677258"/>
          </a:xfrm>
        </p:spPr>
        <p:txBody>
          <a:bodyPr>
            <a:noAutofit/>
          </a:bodyPr>
          <a:lstStyle>
            <a:lvl1pPr algn="l">
              <a:defRPr sz="2400" b="0">
                <a:solidFill>
                  <a:srgbClr val="FF0000"/>
                </a:solidFill>
              </a:defRPr>
            </a:lvl1pPr>
          </a:lstStyle>
          <a:p>
            <a:r>
              <a:rPr lang="zh-CN" altLang="en-US"/>
              <a:t>单击此处编辑母版标题样式</a:t>
            </a:r>
            <a:endParaRPr lang="en-US" dirty="0"/>
          </a:p>
        </p:txBody>
      </p:sp>
      <p:sp>
        <p:nvSpPr>
          <p:cNvPr id="7" name="Line 70"/>
          <p:cNvSpPr>
            <a:spLocks noChangeShapeType="1"/>
          </p:cNvSpPr>
          <p:nvPr userDrawn="1"/>
        </p:nvSpPr>
        <p:spPr bwMode="auto">
          <a:xfrm>
            <a:off x="-9096" y="101372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
        <p:nvSpPr>
          <p:cNvPr id="11"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12"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3113519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pic>
        <p:nvPicPr>
          <p:cNvPr id="7" name="Picture 2" descr="G:\院全景_1.jpg"/>
          <p:cNvPicPr>
            <a:picLocks noChangeAspect="1" noChangeArrowheads="1"/>
          </p:cNvPicPr>
          <p:nvPr userDrawn="1"/>
        </p:nvPicPr>
        <p:blipFill rotWithShape="1">
          <a:blip r:embed="rId2" cstate="print"/>
          <a:srcRect t="14307" b="10614"/>
          <a:stretch>
            <a:fillRect/>
          </a:stretch>
        </p:blipFill>
        <p:spPr bwMode="auto">
          <a:xfrm>
            <a:off x="0" y="-7034"/>
            <a:ext cx="12192000" cy="6865034"/>
          </a:xfrm>
          <a:prstGeom prst="rect">
            <a:avLst/>
          </a:prstGeom>
          <a:noFill/>
          <a:ln w="9525">
            <a:noFill/>
            <a:miter lim="800000"/>
            <a:headEnd/>
            <a:tailEnd/>
          </a:ln>
        </p:spPr>
      </p:pic>
      <p:sp>
        <p:nvSpPr>
          <p:cNvPr id="4" name="灯片编号占位符 2"/>
          <p:cNvSpPr>
            <a:spLocks noGrp="1"/>
          </p:cNvSpPr>
          <p:nvPr>
            <p:ph type="sldNum" sz="quarter" idx="10"/>
          </p:nvPr>
        </p:nvSpPr>
        <p:spPr>
          <a:xfrm>
            <a:off x="10512613" y="6409230"/>
            <a:ext cx="1524871" cy="476250"/>
          </a:xfrm>
          <a:prstGeom prst="rect">
            <a:avLst/>
          </a:prstGeom>
        </p:spPr>
        <p:txBody>
          <a:bodyPr vert="horz" wrap="square" lIns="91440" tIns="45720" rIns="91440" bIns="45720" numCol="1" anchor="t" anchorCtr="0" compatLnSpc="1"/>
          <a:lstStyle>
            <a:lvl1pPr algn="ctr">
              <a:lnSpc>
                <a:spcPct val="160000"/>
              </a:lnSpc>
              <a:buClr>
                <a:srgbClr val="FF0000"/>
              </a:buClr>
              <a:buFont typeface="Wingdings" panose="05000000000000000000" pitchFamily="2" charset="2"/>
              <a:buNone/>
              <a:defRPr sz="1400" b="0"/>
            </a:lvl1pPr>
          </a:lstStyle>
          <a:p>
            <a:fld id="{BDC7DFC1-D958-4C13-82A3-7A2165A6C5F3}"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753200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hasCustomPrompt="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编辑母版文本样式</a:t>
            </a:r>
          </a:p>
        </p:txBody>
      </p:sp>
      <p:sp>
        <p:nvSpPr>
          <p:cNvPr id="6"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7"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2973729135"/>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6"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7"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331471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8"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2708880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内容">
    <p:spTree>
      <p:nvGrpSpPr>
        <p:cNvPr id="1" name=""/>
        <p:cNvGrpSpPr/>
        <p:nvPr/>
      </p:nvGrpSpPr>
      <p:grpSpPr>
        <a:xfrm>
          <a:off x="0" y="0"/>
          <a:ext cx="0" cy="0"/>
          <a:chOff x="0" y="0"/>
          <a:chExt cx="0" cy="0"/>
        </a:xfrm>
      </p:grpSpPr>
      <p:sp>
        <p:nvSpPr>
          <p:cNvPr id="6" name="Line 70"/>
          <p:cNvSpPr>
            <a:spLocks noChangeShapeType="1"/>
          </p:cNvSpPr>
          <p:nvPr userDrawn="1"/>
        </p:nvSpPr>
        <p:spPr bwMode="auto">
          <a:xfrm>
            <a:off x="-9096" y="101372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
        <p:nvSpPr>
          <p:cNvPr id="2"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3"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1273918905"/>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/65</a:t>
            </a:r>
            <a:endParaRPr lang="zh-CN" altLang="en-US" dirty="0">
              <a:solidFill>
                <a:prstClr val="black">
                  <a:tint val="75000"/>
                </a:prstClr>
              </a:solidFill>
            </a:endParaRPr>
          </a:p>
        </p:txBody>
      </p:sp>
      <p:sp>
        <p:nvSpPr>
          <p:cNvPr id="8"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28031790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0.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F48D5-1117-9EE9-ECB3-99680AE4BC6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64236E-B36F-8729-8336-BF6B11326A4C}"/>
              </a:ext>
            </a:extLst>
          </p:cNvPr>
          <p:cNvSpPr txBox="1">
            <a:spLocks noChangeArrowheads="1"/>
          </p:cNvSpPr>
          <p:nvPr/>
        </p:nvSpPr>
        <p:spPr bwMode="auto">
          <a:xfrm>
            <a:off x="46990" y="207645"/>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文献调研汇报</a:t>
            </a:r>
          </a:p>
        </p:txBody>
      </p:sp>
      <p:pic>
        <p:nvPicPr>
          <p:cNvPr id="3" name="图片 2">
            <a:extLst>
              <a:ext uri="{FF2B5EF4-FFF2-40B4-BE49-F238E27FC236}">
                <a16:creationId xmlns:a16="http://schemas.microsoft.com/office/drawing/2014/main" id="{64B383D2-B6AB-273B-6FA5-8E41F0E56CC0}"/>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6" name="文本框 5">
            <a:extLst>
              <a:ext uri="{FF2B5EF4-FFF2-40B4-BE49-F238E27FC236}">
                <a16:creationId xmlns:a16="http://schemas.microsoft.com/office/drawing/2014/main" id="{C183B4A7-875D-24BF-56AF-A7191EF93934}"/>
              </a:ext>
            </a:extLst>
          </p:cNvPr>
          <p:cNvSpPr txBox="1"/>
          <p:nvPr/>
        </p:nvSpPr>
        <p:spPr>
          <a:xfrm>
            <a:off x="4872035" y="4404671"/>
            <a:ext cx="2447925" cy="3683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just"/>
            <a:r>
              <a:rPr lang="zh-CN" altLang="en-US"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汇报人：向     晶</a:t>
            </a:r>
          </a:p>
        </p:txBody>
      </p:sp>
      <p:sp>
        <p:nvSpPr>
          <p:cNvPr id="7" name="文本框 6">
            <a:extLst>
              <a:ext uri="{FF2B5EF4-FFF2-40B4-BE49-F238E27FC236}">
                <a16:creationId xmlns:a16="http://schemas.microsoft.com/office/drawing/2014/main" id="{40D3C670-5AA8-DCD1-B881-71369818316D}"/>
              </a:ext>
            </a:extLst>
          </p:cNvPr>
          <p:cNvSpPr txBox="1"/>
          <p:nvPr/>
        </p:nvSpPr>
        <p:spPr>
          <a:xfrm>
            <a:off x="4872035" y="5003503"/>
            <a:ext cx="2363155" cy="369332"/>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日    期：</a:t>
            </a:r>
            <a:r>
              <a:rPr lang="en-US" altLang="zh-CN"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2026</a:t>
            </a:r>
            <a:r>
              <a:rPr lang="zh-CN" altLang="en-US"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月</a:t>
            </a:r>
          </a:p>
        </p:txBody>
      </p:sp>
      <p:sp>
        <p:nvSpPr>
          <p:cNvPr id="8" name="矩形 7">
            <a:extLst>
              <a:ext uri="{FF2B5EF4-FFF2-40B4-BE49-F238E27FC236}">
                <a16:creationId xmlns:a16="http://schemas.microsoft.com/office/drawing/2014/main" id="{8E3A56E8-6700-1EA8-C7D0-49F5061CCB76}"/>
              </a:ext>
            </a:extLst>
          </p:cNvPr>
          <p:cNvSpPr/>
          <p:nvPr/>
        </p:nvSpPr>
        <p:spPr>
          <a:xfrm>
            <a:off x="623827" y="2830640"/>
            <a:ext cx="10991335" cy="972510"/>
          </a:xfrm>
          <a:prstGeom prst="rect">
            <a:avLst/>
          </a:prstGeom>
        </p:spPr>
        <p:txBody>
          <a:bodyPr vert="horz" wrap="square" numCol="1" spcCol="0" rtlCol="0" fromWordArt="0" anchor="t" anchorCtr="0" forceAA="0" compatLnSpc="0">
            <a:spAutoFit/>
          </a:bodyPr>
          <a:lstStyle/>
          <a:p>
            <a:pPr algn="ctr"/>
            <a:r>
              <a:rPr lang="zh-CN" altLang="en-US" sz="4000" b="1" dirty="0">
                <a:solidFill>
                  <a:srgbClr val="C00000"/>
                </a:solidFill>
              </a:rPr>
              <a:t>页岩</a:t>
            </a:r>
            <a:r>
              <a:rPr lang="zh-CN" altLang="zh-CN" sz="4000" b="1" dirty="0">
                <a:solidFill>
                  <a:srgbClr val="C00000"/>
                </a:solidFill>
              </a:rPr>
              <a:t>储层地应力场与裂缝扩展协同演化研究进展</a:t>
            </a:r>
            <a:endParaRPr lang="zh-CN" altLang="zh-CN" sz="4000" dirty="0">
              <a:solidFill>
                <a:srgbClr val="C00000"/>
              </a:solidFill>
            </a:endParaRPr>
          </a:p>
        </p:txBody>
      </p:sp>
    </p:spTree>
    <p:extLst>
      <p:ext uri="{BB962C8B-B14F-4D97-AF65-F5344CB8AC3E}">
        <p14:creationId xmlns:p14="http://schemas.microsoft.com/office/powerpoint/2010/main" val="1584508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760DF-9016-6559-7595-7614B4C02A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9291BF-226B-68FD-F7F7-1868E5BAE0AC}"/>
              </a:ext>
            </a:extLst>
          </p:cNvPr>
          <p:cNvSpPr txBox="1">
            <a:spLocks noChangeArrowheads="1"/>
          </p:cNvSpPr>
          <p:nvPr/>
        </p:nvSpPr>
        <p:spPr bwMode="auto">
          <a:xfrm>
            <a:off x="-178641" y="326398"/>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lang="zh-CN" altLang="en-US" dirty="0">
                <a:sym typeface="+mn-ea"/>
              </a:rPr>
              <a:t>汇报</a:t>
            </a: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提纲</a:t>
            </a:r>
          </a:p>
        </p:txBody>
      </p:sp>
      <p:sp>
        <p:nvSpPr>
          <p:cNvPr id="2" name="文本框 1">
            <a:extLst>
              <a:ext uri="{FF2B5EF4-FFF2-40B4-BE49-F238E27FC236}">
                <a16:creationId xmlns:a16="http://schemas.microsoft.com/office/drawing/2014/main" id="{F9889897-18A7-3ADF-7AC2-24334EA9E014}"/>
              </a:ext>
            </a:extLst>
          </p:cNvPr>
          <p:cNvSpPr txBox="1"/>
          <p:nvPr/>
        </p:nvSpPr>
        <p:spPr>
          <a:xfrm>
            <a:off x="2765029" y="2213499"/>
            <a:ext cx="6661941" cy="3409459"/>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effectLst/>
                <a:uLnTx/>
                <a:uFillTx/>
                <a:ea typeface="方正大黑简体" panose="02010601030101010101" pitchFamily="2" charset="-122"/>
                <a:cs typeface="+mn-cs"/>
              </a:rPr>
              <a:t>一、</a:t>
            </a:r>
            <a:r>
              <a:rPr lang="zh-CN" altLang="en-US" sz="2800" dirty="0"/>
              <a:t>页岩储层地应力表征研究</a:t>
            </a:r>
            <a:endParaRPr kumimoji="0" lang="en-US" altLang="zh-CN" sz="2800" b="1" i="0" u="none" strike="noStrike" kern="1200" cap="none" spc="0" normalizeH="0" baseline="0" noProof="0" dirty="0">
              <a:ln>
                <a:noFill/>
              </a:ln>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lang="zh-CN" altLang="en-US" sz="2800" dirty="0">
                <a:solidFill>
                  <a:schemeClr val="tx1"/>
                </a:solidFill>
              </a:rPr>
              <a:t>二、水力裂缝扩展规律研究</a:t>
            </a:r>
            <a:endParaRPr lang="en-US" altLang="zh-CN" sz="2800" dirty="0">
              <a:solidFill>
                <a:schemeClr val="tx1"/>
              </a:solidFill>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三、</a:t>
            </a:r>
            <a:r>
              <a:rPr lang="zh-CN" altLang="en-US" sz="2800" dirty="0">
                <a:solidFill>
                  <a:schemeClr val="tx1"/>
                </a:solidFill>
              </a:rPr>
              <a:t>地应力演化与裂缝扩展协同演化</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四、存在问题与未来展望</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p:txBody>
      </p:sp>
      <p:pic>
        <p:nvPicPr>
          <p:cNvPr id="3" name="图片 2">
            <a:extLst>
              <a:ext uri="{FF2B5EF4-FFF2-40B4-BE49-F238E27FC236}">
                <a16:creationId xmlns:a16="http://schemas.microsoft.com/office/drawing/2014/main" id="{7A4F1A45-FD22-4412-5208-545B527E31FC}"/>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Tree>
    <p:extLst>
      <p:ext uri="{BB962C8B-B14F-4D97-AF65-F5344CB8AC3E}">
        <p14:creationId xmlns:p14="http://schemas.microsoft.com/office/powerpoint/2010/main" val="4113764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1F933-4966-191B-8F7F-4CEB6B3E27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156CAD-0F05-571F-40C4-7424C1BAFD3A}"/>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effectLst/>
                <a:uLnTx/>
                <a:uFillTx/>
                <a:ea typeface="方正大黑简体" panose="02010601030101010101" pitchFamily="2" charset="-122"/>
                <a:cs typeface="+mn-cs"/>
                <a:sym typeface="+mn-ea"/>
              </a:rPr>
              <a:t>页岩储层地应力表征研究</a:t>
            </a:r>
          </a:p>
        </p:txBody>
      </p:sp>
      <p:pic>
        <p:nvPicPr>
          <p:cNvPr id="3" name="图片 2">
            <a:extLst>
              <a:ext uri="{FF2B5EF4-FFF2-40B4-BE49-F238E27FC236}">
                <a16:creationId xmlns:a16="http://schemas.microsoft.com/office/drawing/2014/main" id="{D37C110A-96BA-F7AC-0A38-B1B4AC2EC0B4}"/>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ACDD6F96-A989-0BE6-9618-D1A4D47B8C97}"/>
              </a:ext>
            </a:extLst>
          </p:cNvPr>
          <p:cNvSpPr txBox="1"/>
          <p:nvPr/>
        </p:nvSpPr>
        <p:spPr>
          <a:xfrm>
            <a:off x="310365" y="1043031"/>
            <a:ext cx="8109240" cy="499432"/>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从技术发展看，页岩储层地应力表征由“单点测试”走向“多源约束”</a:t>
            </a:r>
          </a:p>
        </p:txBody>
      </p:sp>
      <p:grpSp>
        <p:nvGrpSpPr>
          <p:cNvPr id="30" name="组合 29">
            <a:extLst>
              <a:ext uri="{FF2B5EF4-FFF2-40B4-BE49-F238E27FC236}">
                <a16:creationId xmlns:a16="http://schemas.microsoft.com/office/drawing/2014/main" id="{C156F120-E1FF-92D3-F239-28BF61D8A6BC}"/>
              </a:ext>
            </a:extLst>
          </p:cNvPr>
          <p:cNvGrpSpPr/>
          <p:nvPr/>
        </p:nvGrpSpPr>
        <p:grpSpPr>
          <a:xfrm>
            <a:off x="9113763" y="2489844"/>
            <a:ext cx="1803271" cy="2990169"/>
            <a:chOff x="18090460" y="2692853"/>
            <a:chExt cx="3471835" cy="2264051"/>
          </a:xfrm>
        </p:grpSpPr>
        <p:sp>
          <p:nvSpPr>
            <p:cNvPr id="15" name="箭头: 右 14">
              <a:extLst>
                <a:ext uri="{FF2B5EF4-FFF2-40B4-BE49-F238E27FC236}">
                  <a16:creationId xmlns:a16="http://schemas.microsoft.com/office/drawing/2014/main" id="{652B7393-8AE7-0FF7-65BC-0B04E1791295}"/>
                </a:ext>
              </a:extLst>
            </p:cNvPr>
            <p:cNvSpPr/>
            <p:nvPr/>
          </p:nvSpPr>
          <p:spPr>
            <a:xfrm>
              <a:off x="18205887" y="2692853"/>
              <a:ext cx="599704" cy="213154"/>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14F30FC2-5CC7-D55C-CF96-932BC21DC6E5}"/>
                </a:ext>
              </a:extLst>
            </p:cNvPr>
            <p:cNvSpPr/>
            <p:nvPr/>
          </p:nvSpPr>
          <p:spPr>
            <a:xfrm rot="5400000">
              <a:off x="21173371" y="3807863"/>
              <a:ext cx="235846" cy="542002"/>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a:extLst>
                <a:ext uri="{FF2B5EF4-FFF2-40B4-BE49-F238E27FC236}">
                  <a16:creationId xmlns:a16="http://schemas.microsoft.com/office/drawing/2014/main" id="{7448E007-9794-55FA-817C-6BEBAF1D2967}"/>
                </a:ext>
              </a:extLst>
            </p:cNvPr>
            <p:cNvSpPr/>
            <p:nvPr/>
          </p:nvSpPr>
          <p:spPr>
            <a:xfrm rot="10800000">
              <a:off x="18090460" y="4743750"/>
              <a:ext cx="599704" cy="213154"/>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组合 79">
            <a:extLst>
              <a:ext uri="{FF2B5EF4-FFF2-40B4-BE49-F238E27FC236}">
                <a16:creationId xmlns:a16="http://schemas.microsoft.com/office/drawing/2014/main" id="{A932B203-FA8B-BA70-D2FC-5A3FC6BA6D2A}"/>
              </a:ext>
            </a:extLst>
          </p:cNvPr>
          <p:cNvGrpSpPr/>
          <p:nvPr/>
        </p:nvGrpSpPr>
        <p:grpSpPr>
          <a:xfrm>
            <a:off x="6567682" y="1774222"/>
            <a:ext cx="2470068" cy="1661651"/>
            <a:chOff x="6305449" y="2021210"/>
            <a:chExt cx="2470068" cy="1661651"/>
          </a:xfrm>
        </p:grpSpPr>
        <p:grpSp>
          <p:nvGrpSpPr>
            <p:cNvPr id="76" name="组合 75">
              <a:extLst>
                <a:ext uri="{FF2B5EF4-FFF2-40B4-BE49-F238E27FC236}">
                  <a16:creationId xmlns:a16="http://schemas.microsoft.com/office/drawing/2014/main" id="{29E4317A-C29A-0E3C-28EC-CBEFD10D3093}"/>
                </a:ext>
              </a:extLst>
            </p:cNvPr>
            <p:cNvGrpSpPr/>
            <p:nvPr/>
          </p:nvGrpSpPr>
          <p:grpSpPr>
            <a:xfrm>
              <a:off x="6507947" y="2143757"/>
              <a:ext cx="2113941" cy="1497584"/>
              <a:chOff x="746751" y="2623849"/>
              <a:chExt cx="2213898" cy="1820459"/>
            </a:xfrm>
          </p:grpSpPr>
          <p:grpSp>
            <p:nvGrpSpPr>
              <p:cNvPr id="106" name="组合 105">
                <a:extLst>
                  <a:ext uri="{FF2B5EF4-FFF2-40B4-BE49-F238E27FC236}">
                    <a16:creationId xmlns:a16="http://schemas.microsoft.com/office/drawing/2014/main" id="{C8F1A0A8-651D-C9AF-1964-FF8032A9BEEA}"/>
                  </a:ext>
                </a:extLst>
              </p:cNvPr>
              <p:cNvGrpSpPr/>
              <p:nvPr/>
            </p:nvGrpSpPr>
            <p:grpSpPr>
              <a:xfrm>
                <a:off x="1872013" y="2651619"/>
                <a:ext cx="1088636" cy="1712563"/>
                <a:chOff x="4738334" y="1709317"/>
                <a:chExt cx="3862256" cy="3506771"/>
              </a:xfrm>
            </p:grpSpPr>
            <p:sp>
              <p:nvSpPr>
                <p:cNvPr id="87" name="矩形 86">
                  <a:extLst>
                    <a:ext uri="{FF2B5EF4-FFF2-40B4-BE49-F238E27FC236}">
                      <a16:creationId xmlns:a16="http://schemas.microsoft.com/office/drawing/2014/main" id="{8C102D40-2C21-18AD-A094-DC3A3AAF9139}"/>
                    </a:ext>
                  </a:extLst>
                </p:cNvPr>
                <p:cNvSpPr/>
                <p:nvPr/>
              </p:nvSpPr>
              <p:spPr>
                <a:xfrm>
                  <a:off x="6259396" y="1709317"/>
                  <a:ext cx="820132" cy="3506771"/>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任意多边形: 形状 104">
                  <a:extLst>
                    <a:ext uri="{FF2B5EF4-FFF2-40B4-BE49-F238E27FC236}">
                      <a16:creationId xmlns:a16="http://schemas.microsoft.com/office/drawing/2014/main" id="{58891D85-3469-DE68-D907-4AC8D2E63E90}"/>
                    </a:ext>
                  </a:extLst>
                </p:cNvPr>
                <p:cNvSpPr/>
                <p:nvPr/>
              </p:nvSpPr>
              <p:spPr>
                <a:xfrm flipH="1">
                  <a:off x="4738334" y="1715442"/>
                  <a:ext cx="3862256" cy="3500646"/>
                </a:xfrm>
                <a:custGeom>
                  <a:avLst/>
                  <a:gdLst>
                    <a:gd name="csX0" fmla="*/ 1387408 w 3862256"/>
                    <a:gd name="csY0" fmla="*/ 2047347 h 3500646"/>
                    <a:gd name="csX1" fmla="*/ 1422200 w 3862256"/>
                    <a:gd name="csY1" fmla="*/ 2048401 h 3500646"/>
                    <a:gd name="csX2" fmla="*/ 1389088 w 3862256"/>
                    <a:gd name="csY2" fmla="*/ 2057039 h 3500646"/>
                    <a:gd name="csX3" fmla="*/ 1302895 w 3862256"/>
                    <a:gd name="csY3" fmla="*/ 2068281 h 3500646"/>
                    <a:gd name="csX4" fmla="*/ 1231692 w 3862256"/>
                    <a:gd name="csY4" fmla="*/ 2079524 h 3500646"/>
                    <a:gd name="csX5" fmla="*/ 1204939 w 3862256"/>
                    <a:gd name="csY5" fmla="*/ 2081369 h 3500646"/>
                    <a:gd name="csX6" fmla="*/ 1217951 w 3862256"/>
                    <a:gd name="csY6" fmla="*/ 2077303 h 3500646"/>
                    <a:gd name="csX7" fmla="*/ 1244183 w 3862256"/>
                    <a:gd name="csY7" fmla="*/ 2066060 h 3500646"/>
                    <a:gd name="csX8" fmla="*/ 1264659 w 3862256"/>
                    <a:gd name="csY8" fmla="*/ 2061965 h 3500646"/>
                    <a:gd name="csX9" fmla="*/ 1282652 w 3862256"/>
                    <a:gd name="csY9" fmla="*/ 2060383 h 3500646"/>
                    <a:gd name="csX10" fmla="*/ 1366603 w 3862256"/>
                    <a:gd name="csY10" fmla="*/ 2053291 h 3500646"/>
                    <a:gd name="csX11" fmla="*/ 2236541 w 3862256"/>
                    <a:gd name="csY11" fmla="*/ 1892333 h 3500646"/>
                    <a:gd name="csX12" fmla="*/ 2329512 w 3862256"/>
                    <a:gd name="csY12" fmla="*/ 1925802 h 3500646"/>
                    <a:gd name="csX13" fmla="*/ 2338983 w 3862256"/>
                    <a:gd name="csY13" fmla="*/ 1927841 h 3500646"/>
                    <a:gd name="csX14" fmla="*/ 2345469 w 3862256"/>
                    <a:gd name="csY14" fmla="*/ 1932633 h 3500646"/>
                    <a:gd name="csX15" fmla="*/ 2364489 w 3862256"/>
                    <a:gd name="csY15" fmla="*/ 1945233 h 3500646"/>
                    <a:gd name="csX16" fmla="*/ 2391794 w 3862256"/>
                    <a:gd name="csY16" fmla="*/ 1954870 h 3500646"/>
                    <a:gd name="csX17" fmla="*/ 2345543 w 3862256"/>
                    <a:gd name="csY17" fmla="*/ 1946708 h 3500646"/>
                    <a:gd name="csX18" fmla="*/ 2342004 w 3862256"/>
                    <a:gd name="csY18" fmla="*/ 1945233 h 3500646"/>
                    <a:gd name="csX19" fmla="*/ 2207092 w 3862256"/>
                    <a:gd name="csY19" fmla="*/ 1900262 h 3500646"/>
                    <a:gd name="csX20" fmla="*/ 2231291 w 3862256"/>
                    <a:gd name="csY20" fmla="*/ 1893236 h 3500646"/>
                    <a:gd name="csX21" fmla="*/ 2166799 w 3862256"/>
                    <a:gd name="csY21" fmla="*/ 0 h 3500646"/>
                    <a:gd name="csX22" fmla="*/ 1695458 w 3862256"/>
                    <a:gd name="csY22" fmla="*/ 0 h 3500646"/>
                    <a:gd name="csX23" fmla="*/ 1695458 w 3862256"/>
                    <a:gd name="csY23" fmla="*/ 1222456 h 3500646"/>
                    <a:gd name="csX24" fmla="*/ 1585210 w 3862256"/>
                    <a:gd name="csY24" fmla="*/ 1219116 h 3500646"/>
                    <a:gd name="csX25" fmla="*/ 1506511 w 3862256"/>
                    <a:gd name="csY25" fmla="*/ 1215368 h 3500646"/>
                    <a:gd name="csX26" fmla="*/ 1427813 w 3862256"/>
                    <a:gd name="csY26" fmla="*/ 1219116 h 3500646"/>
                    <a:gd name="csX27" fmla="*/ 1401580 w 3862256"/>
                    <a:gd name="csY27" fmla="*/ 1226611 h 3500646"/>
                    <a:gd name="csX28" fmla="*/ 1382842 w 3862256"/>
                    <a:gd name="csY28" fmla="*/ 1237853 h 3500646"/>
                    <a:gd name="csX29" fmla="*/ 1356610 w 3862256"/>
                    <a:gd name="csY29" fmla="*/ 1249096 h 3500646"/>
                    <a:gd name="csX30" fmla="*/ 1345367 w 3862256"/>
                    <a:gd name="csY30" fmla="*/ 1260339 h 3500646"/>
                    <a:gd name="csX31" fmla="*/ 1446551 w 3862256"/>
                    <a:gd name="csY31" fmla="*/ 1275329 h 3500646"/>
                    <a:gd name="csX32" fmla="*/ 1521501 w 3862256"/>
                    <a:gd name="csY32" fmla="*/ 1290319 h 3500646"/>
                    <a:gd name="csX33" fmla="*/ 1573967 w 3862256"/>
                    <a:gd name="csY33" fmla="*/ 1301562 h 3500646"/>
                    <a:gd name="csX34" fmla="*/ 1596452 w 3862256"/>
                    <a:gd name="csY34" fmla="*/ 1316552 h 3500646"/>
                    <a:gd name="csX35" fmla="*/ 1652665 w 3862256"/>
                    <a:gd name="csY35" fmla="*/ 1327794 h 3500646"/>
                    <a:gd name="csX36" fmla="*/ 1558977 w 3862256"/>
                    <a:gd name="csY36" fmla="*/ 1346532 h 3500646"/>
                    <a:gd name="csX37" fmla="*/ 1525249 w 3862256"/>
                    <a:gd name="csY37" fmla="*/ 1357775 h 3500646"/>
                    <a:gd name="csX38" fmla="*/ 1427813 w 3862256"/>
                    <a:gd name="csY38" fmla="*/ 1376512 h 3500646"/>
                    <a:gd name="csX39" fmla="*/ 1394085 w 3862256"/>
                    <a:gd name="csY39" fmla="*/ 1387755 h 3500646"/>
                    <a:gd name="csX40" fmla="*/ 1345367 w 3862256"/>
                    <a:gd name="csY40" fmla="*/ 1406493 h 3500646"/>
                    <a:gd name="csX41" fmla="*/ 1292901 w 3862256"/>
                    <a:gd name="csY41" fmla="*/ 1417735 h 3500646"/>
                    <a:gd name="csX42" fmla="*/ 1187970 w 3862256"/>
                    <a:gd name="csY42" fmla="*/ 1447716 h 3500646"/>
                    <a:gd name="csX43" fmla="*/ 1157990 w 3862256"/>
                    <a:gd name="csY43" fmla="*/ 1451463 h 3500646"/>
                    <a:gd name="csX44" fmla="*/ 1116767 w 3862256"/>
                    <a:gd name="csY44" fmla="*/ 1462706 h 3500646"/>
                    <a:gd name="csX45" fmla="*/ 1034321 w 3862256"/>
                    <a:gd name="csY45" fmla="*/ 1477696 h 3500646"/>
                    <a:gd name="csX46" fmla="*/ 974360 w 3862256"/>
                    <a:gd name="csY46" fmla="*/ 1488939 h 3500646"/>
                    <a:gd name="csX47" fmla="*/ 884419 w 3862256"/>
                    <a:gd name="csY47" fmla="*/ 1507676 h 3500646"/>
                    <a:gd name="csX48" fmla="*/ 779488 w 3862256"/>
                    <a:gd name="csY48" fmla="*/ 1518919 h 3500646"/>
                    <a:gd name="csX49" fmla="*/ 689547 w 3862256"/>
                    <a:gd name="csY49" fmla="*/ 1522667 h 3500646"/>
                    <a:gd name="csX50" fmla="*/ 659567 w 3862256"/>
                    <a:gd name="csY50" fmla="*/ 1530162 h 3500646"/>
                    <a:gd name="csX51" fmla="*/ 824459 w 3862256"/>
                    <a:gd name="csY51" fmla="*/ 1541404 h 3500646"/>
                    <a:gd name="csX52" fmla="*/ 918147 w 3862256"/>
                    <a:gd name="csY52" fmla="*/ 1537657 h 3500646"/>
                    <a:gd name="csX53" fmla="*/ 951875 w 3862256"/>
                    <a:gd name="csY53" fmla="*/ 1530162 h 3500646"/>
                    <a:gd name="csX54" fmla="*/ 978108 w 3862256"/>
                    <a:gd name="csY54" fmla="*/ 1526414 h 3500646"/>
                    <a:gd name="csX55" fmla="*/ 1053059 w 3862256"/>
                    <a:gd name="csY55" fmla="*/ 1518919 h 3500646"/>
                    <a:gd name="csX56" fmla="*/ 1131757 w 3862256"/>
                    <a:gd name="csY56" fmla="*/ 1507676 h 3500646"/>
                    <a:gd name="csX57" fmla="*/ 1187970 w 3862256"/>
                    <a:gd name="csY57" fmla="*/ 1503929 h 3500646"/>
                    <a:gd name="csX58" fmla="*/ 1319134 w 3862256"/>
                    <a:gd name="csY58" fmla="*/ 1492686 h 3500646"/>
                    <a:gd name="csX59" fmla="*/ 1345367 w 3862256"/>
                    <a:gd name="csY59" fmla="*/ 1485191 h 3500646"/>
                    <a:gd name="csX60" fmla="*/ 1386590 w 3862256"/>
                    <a:gd name="csY60" fmla="*/ 1477696 h 3500646"/>
                    <a:gd name="csX61" fmla="*/ 1450298 w 3862256"/>
                    <a:gd name="csY61" fmla="*/ 1455211 h 3500646"/>
                    <a:gd name="csX62" fmla="*/ 1487773 w 3862256"/>
                    <a:gd name="csY62" fmla="*/ 1428978 h 3500646"/>
                    <a:gd name="csX63" fmla="*/ 1514006 w 3862256"/>
                    <a:gd name="csY63" fmla="*/ 1421483 h 3500646"/>
                    <a:gd name="csX64" fmla="*/ 1558977 w 3862256"/>
                    <a:gd name="csY64" fmla="*/ 1398998 h 3500646"/>
                    <a:gd name="csX65" fmla="*/ 1607695 w 3862256"/>
                    <a:gd name="csY65" fmla="*/ 1410240 h 3500646"/>
                    <a:gd name="csX66" fmla="*/ 1472783 w 3862256"/>
                    <a:gd name="csY66" fmla="*/ 1455211 h 3500646"/>
                    <a:gd name="csX67" fmla="*/ 1427813 w 3862256"/>
                    <a:gd name="csY67" fmla="*/ 1473949 h 3500646"/>
                    <a:gd name="csX68" fmla="*/ 1341619 w 3862256"/>
                    <a:gd name="csY68" fmla="*/ 1496434 h 3500646"/>
                    <a:gd name="csX69" fmla="*/ 1255426 w 3862256"/>
                    <a:gd name="csY69" fmla="*/ 1507676 h 3500646"/>
                    <a:gd name="csX70" fmla="*/ 1184223 w 3862256"/>
                    <a:gd name="csY70" fmla="*/ 1518919 h 3500646"/>
                    <a:gd name="csX71" fmla="*/ 1075544 w 3862256"/>
                    <a:gd name="csY71" fmla="*/ 1526414 h 3500646"/>
                    <a:gd name="csX72" fmla="*/ 951875 w 3862256"/>
                    <a:gd name="csY72" fmla="*/ 1537657 h 3500646"/>
                    <a:gd name="csX73" fmla="*/ 753255 w 3862256"/>
                    <a:gd name="csY73" fmla="*/ 1582627 h 3500646"/>
                    <a:gd name="csX74" fmla="*/ 682052 w 3862256"/>
                    <a:gd name="csY74" fmla="*/ 1605112 h 3500646"/>
                    <a:gd name="csX75" fmla="*/ 449705 w 3862256"/>
                    <a:gd name="csY75" fmla="*/ 1713791 h 3500646"/>
                    <a:gd name="csX76" fmla="*/ 284813 w 3862256"/>
                    <a:gd name="csY76" fmla="*/ 1743771 h 3500646"/>
                    <a:gd name="csX77" fmla="*/ 0 w 3862256"/>
                    <a:gd name="csY77" fmla="*/ 1758762 h 3500646"/>
                    <a:gd name="csX78" fmla="*/ 434714 w 3862256"/>
                    <a:gd name="csY78" fmla="*/ 1755014 h 3500646"/>
                    <a:gd name="csX79" fmla="*/ 573373 w 3862256"/>
                    <a:gd name="csY79" fmla="*/ 1721286 h 3500646"/>
                    <a:gd name="csX80" fmla="*/ 652072 w 3862256"/>
                    <a:gd name="csY80" fmla="*/ 1706296 h 3500646"/>
                    <a:gd name="csX81" fmla="*/ 704537 w 3862256"/>
                    <a:gd name="csY81" fmla="*/ 1687558 h 3500646"/>
                    <a:gd name="csX82" fmla="*/ 794478 w 3862256"/>
                    <a:gd name="csY82" fmla="*/ 1672568 h 3500646"/>
                    <a:gd name="csX83" fmla="*/ 824459 w 3862256"/>
                    <a:gd name="csY83" fmla="*/ 1665073 h 3500646"/>
                    <a:gd name="csX84" fmla="*/ 888167 w 3862256"/>
                    <a:gd name="csY84" fmla="*/ 1653831 h 3500646"/>
                    <a:gd name="csX85" fmla="*/ 981855 w 3862256"/>
                    <a:gd name="csY85" fmla="*/ 1638840 h 3500646"/>
                    <a:gd name="csX86" fmla="*/ 1109272 w 3862256"/>
                    <a:gd name="csY86" fmla="*/ 1620103 h 3500646"/>
                    <a:gd name="csX87" fmla="*/ 1187970 w 3862256"/>
                    <a:gd name="csY87" fmla="*/ 1608860 h 3500646"/>
                    <a:gd name="csX88" fmla="*/ 1409075 w 3862256"/>
                    <a:gd name="csY88" fmla="*/ 1582627 h 3500646"/>
                    <a:gd name="csX89" fmla="*/ 1506511 w 3862256"/>
                    <a:gd name="csY89" fmla="*/ 1560142 h 3500646"/>
                    <a:gd name="csX90" fmla="*/ 1532744 w 3862256"/>
                    <a:gd name="csY90" fmla="*/ 1556394 h 3500646"/>
                    <a:gd name="csX91" fmla="*/ 1622685 w 3862256"/>
                    <a:gd name="csY91" fmla="*/ 1552647 h 3500646"/>
                    <a:gd name="csX92" fmla="*/ 1690141 w 3862256"/>
                    <a:gd name="csY92" fmla="*/ 1552647 h 3500646"/>
                    <a:gd name="csX93" fmla="*/ 1630180 w 3862256"/>
                    <a:gd name="csY93" fmla="*/ 1601365 h 3500646"/>
                    <a:gd name="csX94" fmla="*/ 1495269 w 3862256"/>
                    <a:gd name="csY94" fmla="*/ 1638840 h 3500646"/>
                    <a:gd name="csX95" fmla="*/ 1337872 w 3862256"/>
                    <a:gd name="csY95" fmla="*/ 1661326 h 3500646"/>
                    <a:gd name="csX96" fmla="*/ 1281659 w 3862256"/>
                    <a:gd name="csY96" fmla="*/ 1668821 h 3500646"/>
                    <a:gd name="csX97" fmla="*/ 1217951 w 3862256"/>
                    <a:gd name="csY97" fmla="*/ 1676316 h 3500646"/>
                    <a:gd name="csX98" fmla="*/ 1165485 w 3862256"/>
                    <a:gd name="csY98" fmla="*/ 1687558 h 3500646"/>
                    <a:gd name="csX99" fmla="*/ 1098029 w 3862256"/>
                    <a:gd name="csY99" fmla="*/ 1695053 h 3500646"/>
                    <a:gd name="csX100" fmla="*/ 1049311 w 3862256"/>
                    <a:gd name="csY100" fmla="*/ 1706296 h 3500646"/>
                    <a:gd name="csX101" fmla="*/ 1023078 w 3862256"/>
                    <a:gd name="csY101" fmla="*/ 1713791 h 3500646"/>
                    <a:gd name="csX102" fmla="*/ 993098 w 3862256"/>
                    <a:gd name="csY102" fmla="*/ 1721286 h 3500646"/>
                    <a:gd name="csX103" fmla="*/ 1150495 w 3862256"/>
                    <a:gd name="csY103" fmla="*/ 1743771 h 3500646"/>
                    <a:gd name="csX104" fmla="*/ 1472783 w 3862256"/>
                    <a:gd name="csY104" fmla="*/ 1728781 h 3500646"/>
                    <a:gd name="csX105" fmla="*/ 1615190 w 3862256"/>
                    <a:gd name="csY105" fmla="*/ 1721286 h 3500646"/>
                    <a:gd name="csX106" fmla="*/ 1673154 w 3862256"/>
                    <a:gd name="csY106" fmla="*/ 1719469 h 3500646"/>
                    <a:gd name="csX107" fmla="*/ 1695458 w 3862256"/>
                    <a:gd name="csY107" fmla="*/ 1727952 h 3500646"/>
                    <a:gd name="csX108" fmla="*/ 1695458 w 3862256"/>
                    <a:gd name="csY108" fmla="*/ 1733709 h 3500646"/>
                    <a:gd name="csX109" fmla="*/ 1695346 w 3862256"/>
                    <a:gd name="csY109" fmla="*/ 1733963 h 3500646"/>
                    <a:gd name="csX110" fmla="*/ 1686393 w 3862256"/>
                    <a:gd name="csY110" fmla="*/ 1740024 h 3500646"/>
                    <a:gd name="csX111" fmla="*/ 1652665 w 3862256"/>
                    <a:gd name="csY111" fmla="*/ 1766257 h 3500646"/>
                    <a:gd name="csX112" fmla="*/ 1623030 w 3862256"/>
                    <a:gd name="csY112" fmla="*/ 1779262 h 3500646"/>
                    <a:gd name="csX113" fmla="*/ 1553980 w 3862256"/>
                    <a:gd name="csY113" fmla="*/ 1775973 h 3500646"/>
                    <a:gd name="csX114" fmla="*/ 1475282 w 3862256"/>
                    <a:gd name="csY114" fmla="*/ 1779721 h 3500646"/>
                    <a:gd name="csX115" fmla="*/ 1449049 w 3862256"/>
                    <a:gd name="csY115" fmla="*/ 1787216 h 3500646"/>
                    <a:gd name="csX116" fmla="*/ 1430311 w 3862256"/>
                    <a:gd name="csY116" fmla="*/ 1798458 h 3500646"/>
                    <a:gd name="csX117" fmla="*/ 1404079 w 3862256"/>
                    <a:gd name="csY117" fmla="*/ 1809701 h 3500646"/>
                    <a:gd name="csX118" fmla="*/ 1392836 w 3862256"/>
                    <a:gd name="csY118" fmla="*/ 1820944 h 3500646"/>
                    <a:gd name="csX119" fmla="*/ 1443073 w 3862256"/>
                    <a:gd name="csY119" fmla="*/ 1830025 h 3500646"/>
                    <a:gd name="csX120" fmla="*/ 1477332 w 3862256"/>
                    <a:gd name="csY120" fmla="*/ 1833999 h 3500646"/>
                    <a:gd name="csX121" fmla="*/ 1450298 w 3862256"/>
                    <a:gd name="csY121" fmla="*/ 1841208 h 3500646"/>
                    <a:gd name="csX122" fmla="*/ 1352862 w 3862256"/>
                    <a:gd name="csY122" fmla="*/ 1878683 h 3500646"/>
                    <a:gd name="csX123" fmla="*/ 1281659 w 3862256"/>
                    <a:gd name="csY123" fmla="*/ 1901168 h 3500646"/>
                    <a:gd name="csX124" fmla="*/ 1232437 w 3862256"/>
                    <a:gd name="csY124" fmla="*/ 1921713 h 3500646"/>
                    <a:gd name="csX125" fmla="*/ 1249148 w 3862256"/>
                    <a:gd name="csY125" fmla="*/ 1918556 h 3500646"/>
                    <a:gd name="csX126" fmla="*/ 1260782 w 3862256"/>
                    <a:gd name="csY126" fmla="*/ 1915097 h 3500646"/>
                    <a:gd name="csX127" fmla="*/ 1249292 w 3862256"/>
                    <a:gd name="csY127" fmla="*/ 1918529 h 3500646"/>
                    <a:gd name="csX128" fmla="*/ 1249148 w 3862256"/>
                    <a:gd name="csY128" fmla="*/ 1918556 h 3500646"/>
                    <a:gd name="csX129" fmla="*/ 1242190 w 3862256"/>
                    <a:gd name="csY129" fmla="*/ 1920625 h 3500646"/>
                    <a:gd name="csX130" fmla="*/ 1195465 w 3862256"/>
                    <a:gd name="csY130" fmla="*/ 1934896 h 3500646"/>
                    <a:gd name="csX131" fmla="*/ 1326629 w 3862256"/>
                    <a:gd name="csY131" fmla="*/ 1949886 h 3500646"/>
                    <a:gd name="csX132" fmla="*/ 1532744 w 3862256"/>
                    <a:gd name="csY132" fmla="*/ 1916158 h 3500646"/>
                    <a:gd name="csX133" fmla="*/ 1626433 w 3862256"/>
                    <a:gd name="csY133" fmla="*/ 1882431 h 3500646"/>
                    <a:gd name="csX134" fmla="*/ 1642307 w 3862256"/>
                    <a:gd name="csY134" fmla="*/ 1876081 h 3500646"/>
                    <a:gd name="csX135" fmla="*/ 1643921 w 3862256"/>
                    <a:gd name="csY135" fmla="*/ 1877157 h 3500646"/>
                    <a:gd name="csX136" fmla="*/ 1684421 w 3862256"/>
                    <a:gd name="csY136" fmla="*/ 1880568 h 3500646"/>
                    <a:gd name="csX137" fmla="*/ 1692620 w 3862256"/>
                    <a:gd name="csY137" fmla="*/ 1881550 h 3500646"/>
                    <a:gd name="csX138" fmla="*/ 1678898 w 3862256"/>
                    <a:gd name="csY138" fmla="*/ 1889926 h 3500646"/>
                    <a:gd name="csX139" fmla="*/ 1641423 w 3862256"/>
                    <a:gd name="csY139" fmla="*/ 1901168 h 3500646"/>
                    <a:gd name="csX140" fmla="*/ 1634141 w 3862256"/>
                    <a:gd name="csY140" fmla="*/ 1904520 h 3500646"/>
                    <a:gd name="csX141" fmla="*/ 1606446 w 3862256"/>
                    <a:gd name="csY141" fmla="*/ 1907137 h 3500646"/>
                    <a:gd name="csX142" fmla="*/ 1572718 w 3862256"/>
                    <a:gd name="csY142" fmla="*/ 1918380 h 3500646"/>
                    <a:gd name="csX143" fmla="*/ 1475282 w 3862256"/>
                    <a:gd name="csY143" fmla="*/ 1937117 h 3500646"/>
                    <a:gd name="csX144" fmla="*/ 1441554 w 3862256"/>
                    <a:gd name="csY144" fmla="*/ 1948360 h 3500646"/>
                    <a:gd name="csX145" fmla="*/ 1392836 w 3862256"/>
                    <a:gd name="csY145" fmla="*/ 1967098 h 3500646"/>
                    <a:gd name="csX146" fmla="*/ 1340370 w 3862256"/>
                    <a:gd name="csY146" fmla="*/ 1978340 h 3500646"/>
                    <a:gd name="csX147" fmla="*/ 1235439 w 3862256"/>
                    <a:gd name="csY147" fmla="*/ 2008321 h 3500646"/>
                    <a:gd name="csX148" fmla="*/ 1205459 w 3862256"/>
                    <a:gd name="csY148" fmla="*/ 2012068 h 3500646"/>
                    <a:gd name="csX149" fmla="*/ 1164236 w 3862256"/>
                    <a:gd name="csY149" fmla="*/ 2023311 h 3500646"/>
                    <a:gd name="csX150" fmla="*/ 1081790 w 3862256"/>
                    <a:gd name="csY150" fmla="*/ 2038301 h 3500646"/>
                    <a:gd name="csX151" fmla="*/ 1021829 w 3862256"/>
                    <a:gd name="csY151" fmla="*/ 2049544 h 3500646"/>
                    <a:gd name="csX152" fmla="*/ 931888 w 3862256"/>
                    <a:gd name="csY152" fmla="*/ 2068281 h 3500646"/>
                    <a:gd name="csX153" fmla="*/ 826957 w 3862256"/>
                    <a:gd name="csY153" fmla="*/ 2079524 h 3500646"/>
                    <a:gd name="csX154" fmla="*/ 737016 w 3862256"/>
                    <a:gd name="csY154" fmla="*/ 2083272 h 3500646"/>
                    <a:gd name="csX155" fmla="*/ 707036 w 3862256"/>
                    <a:gd name="csY155" fmla="*/ 2090767 h 3500646"/>
                    <a:gd name="csX156" fmla="*/ 871928 w 3862256"/>
                    <a:gd name="csY156" fmla="*/ 2102009 h 3500646"/>
                    <a:gd name="csX157" fmla="*/ 965616 w 3862256"/>
                    <a:gd name="csY157" fmla="*/ 2098262 h 3500646"/>
                    <a:gd name="csX158" fmla="*/ 999344 w 3862256"/>
                    <a:gd name="csY158" fmla="*/ 2090767 h 3500646"/>
                    <a:gd name="csX159" fmla="*/ 1025577 w 3862256"/>
                    <a:gd name="csY159" fmla="*/ 2087019 h 3500646"/>
                    <a:gd name="csX160" fmla="*/ 1028280 w 3862256"/>
                    <a:gd name="csY160" fmla="*/ 2086763 h 3500646"/>
                    <a:gd name="csX161" fmla="*/ 985603 w 3862256"/>
                    <a:gd name="csY161" fmla="*/ 2096040 h 3500646"/>
                    <a:gd name="csX162" fmla="*/ 940633 w 3862256"/>
                    <a:gd name="csY162" fmla="*/ 2107283 h 3500646"/>
                    <a:gd name="csX163" fmla="*/ 903157 w 3862256"/>
                    <a:gd name="csY163" fmla="*/ 2114778 h 3500646"/>
                    <a:gd name="csX164" fmla="*/ 921669 w 3862256"/>
                    <a:gd name="csY164" fmla="*/ 2113998 h 3500646"/>
                    <a:gd name="csX165" fmla="*/ 897908 w 3862256"/>
                    <a:gd name="csY165" fmla="*/ 2118811 h 3500646"/>
                    <a:gd name="csX166" fmla="*/ 800724 w 3862256"/>
                    <a:gd name="csY166" fmla="*/ 2143232 h 3500646"/>
                    <a:gd name="csX167" fmla="*/ 729521 w 3862256"/>
                    <a:gd name="csY167" fmla="*/ 2165717 h 3500646"/>
                    <a:gd name="csX168" fmla="*/ 497174 w 3862256"/>
                    <a:gd name="csY168" fmla="*/ 2274396 h 3500646"/>
                    <a:gd name="csX169" fmla="*/ 332282 w 3862256"/>
                    <a:gd name="csY169" fmla="*/ 2304376 h 3500646"/>
                    <a:gd name="csX170" fmla="*/ 47469 w 3862256"/>
                    <a:gd name="csY170" fmla="*/ 2319367 h 3500646"/>
                    <a:gd name="csX171" fmla="*/ 482183 w 3862256"/>
                    <a:gd name="csY171" fmla="*/ 2315619 h 3500646"/>
                    <a:gd name="csX172" fmla="*/ 620842 w 3862256"/>
                    <a:gd name="csY172" fmla="*/ 2281891 h 3500646"/>
                    <a:gd name="csX173" fmla="*/ 699541 w 3862256"/>
                    <a:gd name="csY173" fmla="*/ 2266901 h 3500646"/>
                    <a:gd name="csX174" fmla="*/ 752006 w 3862256"/>
                    <a:gd name="csY174" fmla="*/ 2248163 h 3500646"/>
                    <a:gd name="csX175" fmla="*/ 841947 w 3862256"/>
                    <a:gd name="csY175" fmla="*/ 2233173 h 3500646"/>
                    <a:gd name="csX176" fmla="*/ 871928 w 3862256"/>
                    <a:gd name="csY176" fmla="*/ 2225678 h 3500646"/>
                    <a:gd name="csX177" fmla="*/ 935636 w 3862256"/>
                    <a:gd name="csY177" fmla="*/ 2214436 h 3500646"/>
                    <a:gd name="csX178" fmla="*/ 1029324 w 3862256"/>
                    <a:gd name="csY178" fmla="*/ 2199445 h 3500646"/>
                    <a:gd name="csX179" fmla="*/ 1156741 w 3862256"/>
                    <a:gd name="csY179" fmla="*/ 2180708 h 3500646"/>
                    <a:gd name="csX180" fmla="*/ 1235439 w 3862256"/>
                    <a:gd name="csY180" fmla="*/ 2169465 h 3500646"/>
                    <a:gd name="csX181" fmla="*/ 1456544 w 3862256"/>
                    <a:gd name="csY181" fmla="*/ 2143232 h 3500646"/>
                    <a:gd name="csX182" fmla="*/ 1553980 w 3862256"/>
                    <a:gd name="csY182" fmla="*/ 2120747 h 3500646"/>
                    <a:gd name="csX183" fmla="*/ 1580213 w 3862256"/>
                    <a:gd name="csY183" fmla="*/ 2116999 h 3500646"/>
                    <a:gd name="csX184" fmla="*/ 1670154 w 3862256"/>
                    <a:gd name="csY184" fmla="*/ 2113252 h 3500646"/>
                    <a:gd name="csX185" fmla="*/ 1681566 w 3862256"/>
                    <a:gd name="csY185" fmla="*/ 2111640 h 3500646"/>
                    <a:gd name="csX186" fmla="*/ 1695458 w 3862256"/>
                    <a:gd name="csY186" fmla="*/ 2110128 h 3500646"/>
                    <a:gd name="csX187" fmla="*/ 1695458 w 3862256"/>
                    <a:gd name="csY187" fmla="*/ 2152107 h 3500646"/>
                    <a:gd name="csX188" fmla="*/ 1677649 w 3862256"/>
                    <a:gd name="csY188" fmla="*/ 2161970 h 3500646"/>
                    <a:gd name="csX189" fmla="*/ 1542738 w 3862256"/>
                    <a:gd name="csY189" fmla="*/ 2199445 h 3500646"/>
                    <a:gd name="csX190" fmla="*/ 1385341 w 3862256"/>
                    <a:gd name="csY190" fmla="*/ 2221931 h 3500646"/>
                    <a:gd name="csX191" fmla="*/ 1329128 w 3862256"/>
                    <a:gd name="csY191" fmla="*/ 2229426 h 3500646"/>
                    <a:gd name="csX192" fmla="*/ 1265420 w 3862256"/>
                    <a:gd name="csY192" fmla="*/ 2236921 h 3500646"/>
                    <a:gd name="csX193" fmla="*/ 1212954 w 3862256"/>
                    <a:gd name="csY193" fmla="*/ 2248163 h 3500646"/>
                    <a:gd name="csX194" fmla="*/ 1145498 w 3862256"/>
                    <a:gd name="csY194" fmla="*/ 2255658 h 3500646"/>
                    <a:gd name="csX195" fmla="*/ 1096780 w 3862256"/>
                    <a:gd name="csY195" fmla="*/ 2266901 h 3500646"/>
                    <a:gd name="csX196" fmla="*/ 1070547 w 3862256"/>
                    <a:gd name="csY196" fmla="*/ 2274396 h 3500646"/>
                    <a:gd name="csX197" fmla="*/ 1040567 w 3862256"/>
                    <a:gd name="csY197" fmla="*/ 2281891 h 3500646"/>
                    <a:gd name="csX198" fmla="*/ 1197964 w 3862256"/>
                    <a:gd name="csY198" fmla="*/ 2304376 h 3500646"/>
                    <a:gd name="csX199" fmla="*/ 1520252 w 3862256"/>
                    <a:gd name="csY199" fmla="*/ 2289386 h 3500646"/>
                    <a:gd name="csX200" fmla="*/ 1662659 w 3862256"/>
                    <a:gd name="csY200" fmla="*/ 2281891 h 3500646"/>
                    <a:gd name="csX201" fmla="*/ 1695458 w 3862256"/>
                    <a:gd name="csY201" fmla="*/ 2277831 h 3500646"/>
                    <a:gd name="csX202" fmla="*/ 1695458 w 3862256"/>
                    <a:gd name="csY202" fmla="*/ 2328939 h 3500646"/>
                    <a:gd name="csX203" fmla="*/ 1663807 w 3862256"/>
                    <a:gd name="csY203" fmla="*/ 2343000 h 3500646"/>
                    <a:gd name="csX204" fmla="*/ 1553980 w 3862256"/>
                    <a:gd name="csY204" fmla="*/ 2386822 h 3500646"/>
                    <a:gd name="csX205" fmla="*/ 1497767 w 3862256"/>
                    <a:gd name="csY205" fmla="*/ 2401813 h 3500646"/>
                    <a:gd name="csX206" fmla="*/ 1400331 w 3862256"/>
                    <a:gd name="csY206" fmla="*/ 2439288 h 3500646"/>
                    <a:gd name="csX207" fmla="*/ 1329128 w 3862256"/>
                    <a:gd name="csY207" fmla="*/ 2461773 h 3500646"/>
                    <a:gd name="csX208" fmla="*/ 1279906 w 3862256"/>
                    <a:gd name="csY208" fmla="*/ 2482318 h 3500646"/>
                    <a:gd name="csX209" fmla="*/ 1296617 w 3862256"/>
                    <a:gd name="csY209" fmla="*/ 2479161 h 3500646"/>
                    <a:gd name="csX210" fmla="*/ 1308252 w 3862256"/>
                    <a:gd name="csY210" fmla="*/ 2475702 h 3500646"/>
                    <a:gd name="csX211" fmla="*/ 1296761 w 3862256"/>
                    <a:gd name="csY211" fmla="*/ 2479134 h 3500646"/>
                    <a:gd name="csX212" fmla="*/ 1296617 w 3862256"/>
                    <a:gd name="csY212" fmla="*/ 2479161 h 3500646"/>
                    <a:gd name="csX213" fmla="*/ 1289659 w 3862256"/>
                    <a:gd name="csY213" fmla="*/ 2481230 h 3500646"/>
                    <a:gd name="csX214" fmla="*/ 1242934 w 3862256"/>
                    <a:gd name="csY214" fmla="*/ 2495501 h 3500646"/>
                    <a:gd name="csX215" fmla="*/ 1374098 w 3862256"/>
                    <a:gd name="csY215" fmla="*/ 2510491 h 3500646"/>
                    <a:gd name="csX216" fmla="*/ 1580213 w 3862256"/>
                    <a:gd name="csY216" fmla="*/ 2476763 h 3500646"/>
                    <a:gd name="csX217" fmla="*/ 1673902 w 3862256"/>
                    <a:gd name="csY217" fmla="*/ 2443036 h 3500646"/>
                    <a:gd name="csX218" fmla="*/ 1692639 w 3862256"/>
                    <a:gd name="csY218" fmla="*/ 2435540 h 3500646"/>
                    <a:gd name="csX219" fmla="*/ 1695458 w 3862256"/>
                    <a:gd name="csY219" fmla="*/ 2434701 h 3500646"/>
                    <a:gd name="csX220" fmla="*/ 1695458 w 3862256"/>
                    <a:gd name="csY220" fmla="*/ 2459803 h 3500646"/>
                    <a:gd name="csX221" fmla="*/ 1688892 w 3862256"/>
                    <a:gd name="csY221" fmla="*/ 2461773 h 3500646"/>
                    <a:gd name="csX222" fmla="*/ 1576465 w 3862256"/>
                    <a:gd name="csY222" fmla="*/ 2495501 h 3500646"/>
                    <a:gd name="csX223" fmla="*/ 1512757 w 3862256"/>
                    <a:gd name="csY223" fmla="*/ 2506744 h 3500646"/>
                    <a:gd name="csX224" fmla="*/ 1411574 w 3862256"/>
                    <a:gd name="csY224" fmla="*/ 2551714 h 3500646"/>
                    <a:gd name="csX225" fmla="*/ 1254177 w 3862256"/>
                    <a:gd name="csY225" fmla="*/ 2604180 h 3500646"/>
                    <a:gd name="csX226" fmla="*/ 1190469 w 3862256"/>
                    <a:gd name="csY226" fmla="*/ 2619170 h 3500646"/>
                    <a:gd name="csX227" fmla="*/ 1119265 w 3862256"/>
                    <a:gd name="csY227" fmla="*/ 2637908 h 3500646"/>
                    <a:gd name="csX228" fmla="*/ 1033072 w 3862256"/>
                    <a:gd name="csY228" fmla="*/ 2656645 h 3500646"/>
                    <a:gd name="csX229" fmla="*/ 988102 w 3862256"/>
                    <a:gd name="csY229" fmla="*/ 2667888 h 3500646"/>
                    <a:gd name="csX230" fmla="*/ 950626 w 3862256"/>
                    <a:gd name="csY230" fmla="*/ 2675383 h 3500646"/>
                    <a:gd name="csX231" fmla="*/ 1205459 w 3862256"/>
                    <a:gd name="csY231" fmla="*/ 2656645 h 3500646"/>
                    <a:gd name="csX232" fmla="*/ 1265420 w 3862256"/>
                    <a:gd name="csY232" fmla="*/ 2637908 h 3500646"/>
                    <a:gd name="csX233" fmla="*/ 1291652 w 3862256"/>
                    <a:gd name="csY233" fmla="*/ 2626665 h 3500646"/>
                    <a:gd name="csX234" fmla="*/ 1329128 w 3862256"/>
                    <a:gd name="csY234" fmla="*/ 2619170 h 3500646"/>
                    <a:gd name="csX235" fmla="*/ 1434059 w 3862256"/>
                    <a:gd name="csY235" fmla="*/ 2607927 h 3500646"/>
                    <a:gd name="csX236" fmla="*/ 1557728 w 3862256"/>
                    <a:gd name="csY236" fmla="*/ 2611675 h 3500646"/>
                    <a:gd name="csX237" fmla="*/ 1655164 w 3862256"/>
                    <a:gd name="csY237" fmla="*/ 2619170 h 3500646"/>
                    <a:gd name="csX238" fmla="*/ 1679703 w 3862256"/>
                    <a:gd name="csY238" fmla="*/ 2618369 h 3500646"/>
                    <a:gd name="csX239" fmla="*/ 1695458 w 3862256"/>
                    <a:gd name="csY239" fmla="*/ 2616449 h 3500646"/>
                    <a:gd name="csX240" fmla="*/ 1695458 w 3862256"/>
                    <a:gd name="csY240" fmla="*/ 3500646 h 3500646"/>
                    <a:gd name="csX241" fmla="*/ 2166799 w 3862256"/>
                    <a:gd name="csY241" fmla="*/ 3500646 h 3500646"/>
                    <a:gd name="csX242" fmla="*/ 2166799 w 3862256"/>
                    <a:gd name="csY242" fmla="*/ 2545866 h 3500646"/>
                    <a:gd name="csX243" fmla="*/ 2182554 w 3862256"/>
                    <a:gd name="csY243" fmla="*/ 2547786 h 3500646"/>
                    <a:gd name="csX244" fmla="*/ 2207092 w 3862256"/>
                    <a:gd name="csY244" fmla="*/ 2548587 h 3500646"/>
                    <a:gd name="csX245" fmla="*/ 2304528 w 3862256"/>
                    <a:gd name="csY245" fmla="*/ 2541092 h 3500646"/>
                    <a:gd name="csX246" fmla="*/ 2428197 w 3862256"/>
                    <a:gd name="csY246" fmla="*/ 2537344 h 3500646"/>
                    <a:gd name="csX247" fmla="*/ 2533128 w 3862256"/>
                    <a:gd name="csY247" fmla="*/ 2548587 h 3500646"/>
                    <a:gd name="csX248" fmla="*/ 2570604 w 3862256"/>
                    <a:gd name="csY248" fmla="*/ 2556082 h 3500646"/>
                    <a:gd name="csX249" fmla="*/ 2596836 w 3862256"/>
                    <a:gd name="csY249" fmla="*/ 2567325 h 3500646"/>
                    <a:gd name="csX250" fmla="*/ 2656797 w 3862256"/>
                    <a:gd name="csY250" fmla="*/ 2586062 h 3500646"/>
                    <a:gd name="csX251" fmla="*/ 2911630 w 3862256"/>
                    <a:gd name="csY251" fmla="*/ 2604800 h 3500646"/>
                    <a:gd name="csX252" fmla="*/ 2874154 w 3862256"/>
                    <a:gd name="csY252" fmla="*/ 2597305 h 3500646"/>
                    <a:gd name="csX253" fmla="*/ 2829184 w 3862256"/>
                    <a:gd name="csY253" fmla="*/ 2586062 h 3500646"/>
                    <a:gd name="csX254" fmla="*/ 2742991 w 3862256"/>
                    <a:gd name="csY254" fmla="*/ 2567325 h 3500646"/>
                    <a:gd name="csX255" fmla="*/ 2671787 w 3862256"/>
                    <a:gd name="csY255" fmla="*/ 2548587 h 3500646"/>
                    <a:gd name="csX256" fmla="*/ 2608079 w 3862256"/>
                    <a:gd name="csY256" fmla="*/ 2533597 h 3500646"/>
                    <a:gd name="csX257" fmla="*/ 2450682 w 3862256"/>
                    <a:gd name="csY257" fmla="*/ 2481131 h 3500646"/>
                    <a:gd name="csX258" fmla="*/ 2349499 w 3862256"/>
                    <a:gd name="csY258" fmla="*/ 2436161 h 3500646"/>
                    <a:gd name="csX259" fmla="*/ 2285791 w 3862256"/>
                    <a:gd name="csY259" fmla="*/ 2424918 h 3500646"/>
                    <a:gd name="csX260" fmla="*/ 2173364 w 3862256"/>
                    <a:gd name="csY260" fmla="*/ 2391190 h 3500646"/>
                    <a:gd name="csX261" fmla="*/ 2166799 w 3862256"/>
                    <a:gd name="csY261" fmla="*/ 2389221 h 3500646"/>
                    <a:gd name="csX262" fmla="*/ 2166799 w 3862256"/>
                    <a:gd name="csY262" fmla="*/ 2364118 h 3500646"/>
                    <a:gd name="csX263" fmla="*/ 2169617 w 3862256"/>
                    <a:gd name="csY263" fmla="*/ 2364957 h 3500646"/>
                    <a:gd name="csX264" fmla="*/ 2188354 w 3862256"/>
                    <a:gd name="csY264" fmla="*/ 2372453 h 3500646"/>
                    <a:gd name="csX265" fmla="*/ 2282043 w 3862256"/>
                    <a:gd name="csY265" fmla="*/ 2406180 h 3500646"/>
                    <a:gd name="csX266" fmla="*/ 2488158 w 3862256"/>
                    <a:gd name="csY266" fmla="*/ 2439908 h 3500646"/>
                    <a:gd name="csX267" fmla="*/ 2619322 w 3862256"/>
                    <a:gd name="csY267" fmla="*/ 2424918 h 3500646"/>
                    <a:gd name="csX268" fmla="*/ 2572597 w 3862256"/>
                    <a:gd name="csY268" fmla="*/ 2410647 h 3500646"/>
                    <a:gd name="csX269" fmla="*/ 2565639 w 3862256"/>
                    <a:gd name="csY269" fmla="*/ 2408578 h 3500646"/>
                    <a:gd name="csX270" fmla="*/ 2565495 w 3862256"/>
                    <a:gd name="csY270" fmla="*/ 2408551 h 3500646"/>
                    <a:gd name="csX271" fmla="*/ 2554005 w 3862256"/>
                    <a:gd name="csY271" fmla="*/ 2405119 h 3500646"/>
                    <a:gd name="csX272" fmla="*/ 2565639 w 3862256"/>
                    <a:gd name="csY272" fmla="*/ 2408578 h 3500646"/>
                    <a:gd name="csX273" fmla="*/ 2582351 w 3862256"/>
                    <a:gd name="csY273" fmla="*/ 2411735 h 3500646"/>
                    <a:gd name="csX274" fmla="*/ 2533128 w 3862256"/>
                    <a:gd name="csY274" fmla="*/ 2391190 h 3500646"/>
                    <a:gd name="csX275" fmla="*/ 2461925 w 3862256"/>
                    <a:gd name="csY275" fmla="*/ 2368705 h 3500646"/>
                    <a:gd name="csX276" fmla="*/ 2364489 w 3862256"/>
                    <a:gd name="csY276" fmla="*/ 2331230 h 3500646"/>
                    <a:gd name="csX277" fmla="*/ 2308276 w 3862256"/>
                    <a:gd name="csY277" fmla="*/ 2316239 h 3500646"/>
                    <a:gd name="csX278" fmla="*/ 2198449 w 3862256"/>
                    <a:gd name="csY278" fmla="*/ 2272417 h 3500646"/>
                    <a:gd name="csX279" fmla="*/ 2166799 w 3862256"/>
                    <a:gd name="csY279" fmla="*/ 2258357 h 3500646"/>
                    <a:gd name="csX280" fmla="*/ 2166799 w 3862256"/>
                    <a:gd name="csY280" fmla="*/ 2207248 h 3500646"/>
                    <a:gd name="csX281" fmla="*/ 2199597 w 3862256"/>
                    <a:gd name="csY281" fmla="*/ 2211308 h 3500646"/>
                    <a:gd name="csX282" fmla="*/ 2342004 w 3862256"/>
                    <a:gd name="csY282" fmla="*/ 2218803 h 3500646"/>
                    <a:gd name="csX283" fmla="*/ 2664292 w 3862256"/>
                    <a:gd name="csY283" fmla="*/ 2233793 h 3500646"/>
                    <a:gd name="csX284" fmla="*/ 2821689 w 3862256"/>
                    <a:gd name="csY284" fmla="*/ 2211308 h 3500646"/>
                    <a:gd name="csX285" fmla="*/ 2791709 w 3862256"/>
                    <a:gd name="csY285" fmla="*/ 2203813 h 3500646"/>
                    <a:gd name="csX286" fmla="*/ 2765476 w 3862256"/>
                    <a:gd name="csY286" fmla="*/ 2196318 h 3500646"/>
                    <a:gd name="csX287" fmla="*/ 2716758 w 3862256"/>
                    <a:gd name="csY287" fmla="*/ 2185075 h 3500646"/>
                    <a:gd name="csX288" fmla="*/ 2649302 w 3862256"/>
                    <a:gd name="csY288" fmla="*/ 2177580 h 3500646"/>
                    <a:gd name="csX289" fmla="*/ 2596836 w 3862256"/>
                    <a:gd name="csY289" fmla="*/ 2166338 h 3500646"/>
                    <a:gd name="csX290" fmla="*/ 2533128 w 3862256"/>
                    <a:gd name="csY290" fmla="*/ 2158843 h 3500646"/>
                    <a:gd name="csX291" fmla="*/ 2476915 w 3862256"/>
                    <a:gd name="csY291" fmla="*/ 2151348 h 3500646"/>
                    <a:gd name="csX292" fmla="*/ 2319518 w 3862256"/>
                    <a:gd name="csY292" fmla="*/ 2128862 h 3500646"/>
                    <a:gd name="csX293" fmla="*/ 2184607 w 3862256"/>
                    <a:gd name="csY293" fmla="*/ 2091387 h 3500646"/>
                    <a:gd name="csX294" fmla="*/ 2166799 w 3862256"/>
                    <a:gd name="csY294" fmla="*/ 2081524 h 3500646"/>
                    <a:gd name="csX295" fmla="*/ 2166799 w 3862256"/>
                    <a:gd name="csY295" fmla="*/ 2042408 h 3500646"/>
                    <a:gd name="csX296" fmla="*/ 2168368 w 3862256"/>
                    <a:gd name="csY296" fmla="*/ 2045724 h 3500646"/>
                    <a:gd name="csX297" fmla="*/ 2205843 w 3862256"/>
                    <a:gd name="csY297" fmla="*/ 2064461 h 3500646"/>
                    <a:gd name="csX298" fmla="*/ 2254561 w 3862256"/>
                    <a:gd name="csY298" fmla="*/ 2068209 h 3500646"/>
                    <a:gd name="csX299" fmla="*/ 2351997 w 3862256"/>
                    <a:gd name="csY299" fmla="*/ 2060714 h 3500646"/>
                    <a:gd name="csX300" fmla="*/ 2360616 w 3862256"/>
                    <a:gd name="csY300" fmla="*/ 2060453 h 3500646"/>
                    <a:gd name="csX301" fmla="*/ 2373626 w 3862256"/>
                    <a:gd name="csY301" fmla="*/ 2063920 h 3500646"/>
                    <a:gd name="csX302" fmla="*/ 2405712 w 3862256"/>
                    <a:gd name="csY302" fmla="*/ 2072649 h 3500646"/>
                    <a:gd name="csX303" fmla="*/ 2626817 w 3862256"/>
                    <a:gd name="csY303" fmla="*/ 2098882 h 3500646"/>
                    <a:gd name="csX304" fmla="*/ 2705515 w 3862256"/>
                    <a:gd name="csY304" fmla="*/ 2110125 h 3500646"/>
                    <a:gd name="csX305" fmla="*/ 2832932 w 3862256"/>
                    <a:gd name="csY305" fmla="*/ 2128862 h 3500646"/>
                    <a:gd name="csX306" fmla="*/ 2926620 w 3862256"/>
                    <a:gd name="csY306" fmla="*/ 2143853 h 3500646"/>
                    <a:gd name="csX307" fmla="*/ 2990328 w 3862256"/>
                    <a:gd name="csY307" fmla="*/ 2155095 h 3500646"/>
                    <a:gd name="csX308" fmla="*/ 3020309 w 3862256"/>
                    <a:gd name="csY308" fmla="*/ 2162590 h 3500646"/>
                    <a:gd name="csX309" fmla="*/ 3110250 w 3862256"/>
                    <a:gd name="csY309" fmla="*/ 2177580 h 3500646"/>
                    <a:gd name="csX310" fmla="*/ 3162715 w 3862256"/>
                    <a:gd name="csY310" fmla="*/ 2196318 h 3500646"/>
                    <a:gd name="csX311" fmla="*/ 3241414 w 3862256"/>
                    <a:gd name="csY311" fmla="*/ 2211308 h 3500646"/>
                    <a:gd name="csX312" fmla="*/ 3380073 w 3862256"/>
                    <a:gd name="csY312" fmla="*/ 2245036 h 3500646"/>
                    <a:gd name="csX313" fmla="*/ 3814787 w 3862256"/>
                    <a:gd name="csY313" fmla="*/ 2248784 h 3500646"/>
                    <a:gd name="csX314" fmla="*/ 3529974 w 3862256"/>
                    <a:gd name="csY314" fmla="*/ 2233793 h 3500646"/>
                    <a:gd name="csX315" fmla="*/ 3365082 w 3862256"/>
                    <a:gd name="csY315" fmla="*/ 2203813 h 3500646"/>
                    <a:gd name="csX316" fmla="*/ 3132735 w 3862256"/>
                    <a:gd name="csY316" fmla="*/ 2095134 h 3500646"/>
                    <a:gd name="csX317" fmla="*/ 3061532 w 3862256"/>
                    <a:gd name="csY317" fmla="*/ 2072649 h 3500646"/>
                    <a:gd name="csX318" fmla="*/ 2862912 w 3862256"/>
                    <a:gd name="csY318" fmla="*/ 2027679 h 3500646"/>
                    <a:gd name="csX319" fmla="*/ 2739243 w 3862256"/>
                    <a:gd name="csY319" fmla="*/ 2016436 h 3500646"/>
                    <a:gd name="csX320" fmla="*/ 2630564 w 3862256"/>
                    <a:gd name="csY320" fmla="*/ 2008941 h 3500646"/>
                    <a:gd name="csX321" fmla="*/ 2559361 w 3862256"/>
                    <a:gd name="csY321" fmla="*/ 1997698 h 3500646"/>
                    <a:gd name="csX322" fmla="*/ 2473168 w 3862256"/>
                    <a:gd name="csY322" fmla="*/ 1986456 h 3500646"/>
                    <a:gd name="csX323" fmla="*/ 2447964 w 3862256"/>
                    <a:gd name="csY323" fmla="*/ 1979881 h 3500646"/>
                    <a:gd name="csX324" fmla="*/ 2447077 w 3862256"/>
                    <a:gd name="csY324" fmla="*/ 1979512 h 3500646"/>
                    <a:gd name="csX325" fmla="*/ 2404539 w 3862256"/>
                    <a:gd name="csY325" fmla="*/ 1959368 h 3500646"/>
                    <a:gd name="csX326" fmla="*/ 2428197 w 3862256"/>
                    <a:gd name="csY326" fmla="*/ 1967718 h 3500646"/>
                    <a:gd name="csX327" fmla="*/ 2469420 w 3862256"/>
                    <a:gd name="csY327" fmla="*/ 1975213 h 3500646"/>
                    <a:gd name="csX328" fmla="*/ 2495653 w 3862256"/>
                    <a:gd name="csY328" fmla="*/ 1982708 h 3500646"/>
                    <a:gd name="csX329" fmla="*/ 2626817 w 3862256"/>
                    <a:gd name="csY329" fmla="*/ 1993951 h 3500646"/>
                    <a:gd name="csX330" fmla="*/ 2683030 w 3862256"/>
                    <a:gd name="csY330" fmla="*/ 1997698 h 3500646"/>
                    <a:gd name="csX331" fmla="*/ 2761728 w 3862256"/>
                    <a:gd name="csY331" fmla="*/ 2008941 h 3500646"/>
                    <a:gd name="csX332" fmla="*/ 2836679 w 3862256"/>
                    <a:gd name="csY332" fmla="*/ 2016436 h 3500646"/>
                    <a:gd name="csX333" fmla="*/ 2862912 w 3862256"/>
                    <a:gd name="csY333" fmla="*/ 2020184 h 3500646"/>
                    <a:gd name="csX334" fmla="*/ 2896640 w 3862256"/>
                    <a:gd name="csY334" fmla="*/ 2027679 h 3500646"/>
                    <a:gd name="csX335" fmla="*/ 2990328 w 3862256"/>
                    <a:gd name="csY335" fmla="*/ 2031426 h 3500646"/>
                    <a:gd name="csX336" fmla="*/ 3155220 w 3862256"/>
                    <a:gd name="csY336" fmla="*/ 2020184 h 3500646"/>
                    <a:gd name="csX337" fmla="*/ 3125240 w 3862256"/>
                    <a:gd name="csY337" fmla="*/ 2012689 h 3500646"/>
                    <a:gd name="csX338" fmla="*/ 3035299 w 3862256"/>
                    <a:gd name="csY338" fmla="*/ 2008941 h 3500646"/>
                    <a:gd name="csX339" fmla="*/ 2930368 w 3862256"/>
                    <a:gd name="csY339" fmla="*/ 1997698 h 3500646"/>
                    <a:gd name="csX340" fmla="*/ 2840427 w 3862256"/>
                    <a:gd name="csY340" fmla="*/ 1978961 h 3500646"/>
                    <a:gd name="csX341" fmla="*/ 2780466 w 3862256"/>
                    <a:gd name="csY341" fmla="*/ 1967718 h 3500646"/>
                    <a:gd name="csX342" fmla="*/ 2698020 w 3862256"/>
                    <a:gd name="csY342" fmla="*/ 1952728 h 3500646"/>
                    <a:gd name="csX343" fmla="*/ 2656797 w 3862256"/>
                    <a:gd name="csY343" fmla="*/ 1941485 h 3500646"/>
                    <a:gd name="csX344" fmla="*/ 2656783 w 3862256"/>
                    <a:gd name="csY344" fmla="*/ 1941483 h 3500646"/>
                    <a:gd name="csX345" fmla="*/ 2620066 w 3862256"/>
                    <a:gd name="csY345" fmla="*/ 1930269 h 3500646"/>
                    <a:gd name="csX346" fmla="*/ 2613108 w 3862256"/>
                    <a:gd name="csY346" fmla="*/ 1928200 h 3500646"/>
                    <a:gd name="csX347" fmla="*/ 2612964 w 3862256"/>
                    <a:gd name="csY347" fmla="*/ 1928173 h 3500646"/>
                    <a:gd name="csX348" fmla="*/ 2601474 w 3862256"/>
                    <a:gd name="csY348" fmla="*/ 1924741 h 3500646"/>
                    <a:gd name="csX349" fmla="*/ 2613108 w 3862256"/>
                    <a:gd name="csY349" fmla="*/ 1928200 h 3500646"/>
                    <a:gd name="csX350" fmla="*/ 2629820 w 3862256"/>
                    <a:gd name="csY350" fmla="*/ 1931357 h 3500646"/>
                    <a:gd name="csX351" fmla="*/ 2580597 w 3862256"/>
                    <a:gd name="csY351" fmla="*/ 1910812 h 3500646"/>
                    <a:gd name="csX352" fmla="*/ 2509394 w 3862256"/>
                    <a:gd name="csY352" fmla="*/ 1888327 h 3500646"/>
                    <a:gd name="csX353" fmla="*/ 2411958 w 3862256"/>
                    <a:gd name="csY353" fmla="*/ 1850852 h 3500646"/>
                    <a:gd name="csX354" fmla="*/ 2355745 w 3862256"/>
                    <a:gd name="csY354" fmla="*/ 1835861 h 3500646"/>
                    <a:gd name="csX355" fmla="*/ 2286919 w 3862256"/>
                    <a:gd name="csY355" fmla="*/ 1809834 h 3500646"/>
                    <a:gd name="csX356" fmla="*/ 2243532 w 3862256"/>
                    <a:gd name="csY356" fmla="*/ 1790795 h 3500646"/>
                    <a:gd name="csX357" fmla="*/ 2263417 w 3862256"/>
                    <a:gd name="csY357" fmla="*/ 1785006 h 3500646"/>
                    <a:gd name="csX358" fmla="*/ 2293286 w 3862256"/>
                    <a:gd name="csY358" fmla="*/ 1780341 h 3500646"/>
                    <a:gd name="csX359" fmla="*/ 2368236 w 3862256"/>
                    <a:gd name="csY359" fmla="*/ 1765351 h 3500646"/>
                    <a:gd name="csX360" fmla="*/ 2469420 w 3862256"/>
                    <a:gd name="csY360" fmla="*/ 1750361 h 3500646"/>
                    <a:gd name="csX361" fmla="*/ 2467323 w 3862256"/>
                    <a:gd name="csY361" fmla="*/ 1746025 h 3500646"/>
                    <a:gd name="csX362" fmla="*/ 2476893 w 3862256"/>
                    <a:gd name="csY362" fmla="*/ 1747170 h 3500646"/>
                    <a:gd name="csX363" fmla="*/ 2711761 w 3862256"/>
                    <a:gd name="csY363" fmla="*/ 1753415 h 3500646"/>
                    <a:gd name="csX364" fmla="*/ 2869158 w 3862256"/>
                    <a:gd name="csY364" fmla="*/ 1730930 h 3500646"/>
                    <a:gd name="csX365" fmla="*/ 2839178 w 3862256"/>
                    <a:gd name="csY365" fmla="*/ 1723435 h 3500646"/>
                    <a:gd name="csX366" fmla="*/ 2812945 w 3862256"/>
                    <a:gd name="csY366" fmla="*/ 1715940 h 3500646"/>
                    <a:gd name="csX367" fmla="*/ 2764227 w 3862256"/>
                    <a:gd name="csY367" fmla="*/ 1704697 h 3500646"/>
                    <a:gd name="csX368" fmla="*/ 2696771 w 3862256"/>
                    <a:gd name="csY368" fmla="*/ 1697202 h 3500646"/>
                    <a:gd name="csX369" fmla="*/ 2644305 w 3862256"/>
                    <a:gd name="csY369" fmla="*/ 1685960 h 3500646"/>
                    <a:gd name="csX370" fmla="*/ 2580597 w 3862256"/>
                    <a:gd name="csY370" fmla="*/ 1678465 h 3500646"/>
                    <a:gd name="csX371" fmla="*/ 2524384 w 3862256"/>
                    <a:gd name="csY371" fmla="*/ 1670970 h 3500646"/>
                    <a:gd name="csX372" fmla="*/ 2366987 w 3862256"/>
                    <a:gd name="csY372" fmla="*/ 1648484 h 3500646"/>
                    <a:gd name="csX373" fmla="*/ 2232076 w 3862256"/>
                    <a:gd name="csY373" fmla="*/ 1611009 h 3500646"/>
                    <a:gd name="csX374" fmla="*/ 2172115 w 3862256"/>
                    <a:gd name="csY374" fmla="*/ 1562291 h 3500646"/>
                    <a:gd name="csX375" fmla="*/ 2239571 w 3862256"/>
                    <a:gd name="csY375" fmla="*/ 1562291 h 3500646"/>
                    <a:gd name="csX376" fmla="*/ 2329512 w 3862256"/>
                    <a:gd name="csY376" fmla="*/ 1566038 h 3500646"/>
                    <a:gd name="csX377" fmla="*/ 2355745 w 3862256"/>
                    <a:gd name="csY377" fmla="*/ 1569786 h 3500646"/>
                    <a:gd name="csX378" fmla="*/ 2453181 w 3862256"/>
                    <a:gd name="csY378" fmla="*/ 1592271 h 3500646"/>
                    <a:gd name="csX379" fmla="*/ 2674286 w 3862256"/>
                    <a:gd name="csY379" fmla="*/ 1618504 h 3500646"/>
                    <a:gd name="csX380" fmla="*/ 2752984 w 3862256"/>
                    <a:gd name="csY380" fmla="*/ 1629747 h 3500646"/>
                    <a:gd name="csX381" fmla="*/ 2880401 w 3862256"/>
                    <a:gd name="csY381" fmla="*/ 1648484 h 3500646"/>
                    <a:gd name="csX382" fmla="*/ 2974089 w 3862256"/>
                    <a:gd name="csY382" fmla="*/ 1663475 h 3500646"/>
                    <a:gd name="csX383" fmla="*/ 3037797 w 3862256"/>
                    <a:gd name="csY383" fmla="*/ 1674717 h 3500646"/>
                    <a:gd name="csX384" fmla="*/ 3067778 w 3862256"/>
                    <a:gd name="csY384" fmla="*/ 1682212 h 3500646"/>
                    <a:gd name="csX385" fmla="*/ 3157719 w 3862256"/>
                    <a:gd name="csY385" fmla="*/ 1697202 h 3500646"/>
                    <a:gd name="csX386" fmla="*/ 3210184 w 3862256"/>
                    <a:gd name="csY386" fmla="*/ 1715940 h 3500646"/>
                    <a:gd name="csX387" fmla="*/ 3288883 w 3862256"/>
                    <a:gd name="csY387" fmla="*/ 1730930 h 3500646"/>
                    <a:gd name="csX388" fmla="*/ 3427542 w 3862256"/>
                    <a:gd name="csY388" fmla="*/ 1764658 h 3500646"/>
                    <a:gd name="csX389" fmla="*/ 3862256 w 3862256"/>
                    <a:gd name="csY389" fmla="*/ 1768406 h 3500646"/>
                    <a:gd name="csX390" fmla="*/ 3577443 w 3862256"/>
                    <a:gd name="csY390" fmla="*/ 1753415 h 3500646"/>
                    <a:gd name="csX391" fmla="*/ 3412551 w 3862256"/>
                    <a:gd name="csY391" fmla="*/ 1723435 h 3500646"/>
                    <a:gd name="csX392" fmla="*/ 3180204 w 3862256"/>
                    <a:gd name="csY392" fmla="*/ 1614756 h 3500646"/>
                    <a:gd name="csX393" fmla="*/ 3109001 w 3862256"/>
                    <a:gd name="csY393" fmla="*/ 1592271 h 3500646"/>
                    <a:gd name="csX394" fmla="*/ 2910381 w 3862256"/>
                    <a:gd name="csY394" fmla="*/ 1547301 h 3500646"/>
                    <a:gd name="csX395" fmla="*/ 2786712 w 3862256"/>
                    <a:gd name="csY395" fmla="*/ 1536058 h 3500646"/>
                    <a:gd name="csX396" fmla="*/ 2678033 w 3862256"/>
                    <a:gd name="csY396" fmla="*/ 1528563 h 3500646"/>
                    <a:gd name="csX397" fmla="*/ 2606830 w 3862256"/>
                    <a:gd name="csY397" fmla="*/ 1517320 h 3500646"/>
                    <a:gd name="csX398" fmla="*/ 2520637 w 3862256"/>
                    <a:gd name="csY398" fmla="*/ 1506078 h 3500646"/>
                    <a:gd name="csX399" fmla="*/ 2434443 w 3862256"/>
                    <a:gd name="csY399" fmla="*/ 1483593 h 3500646"/>
                    <a:gd name="csX400" fmla="*/ 2389473 w 3862256"/>
                    <a:gd name="csY400" fmla="*/ 1464855 h 3500646"/>
                    <a:gd name="csX401" fmla="*/ 2254561 w 3862256"/>
                    <a:gd name="csY401" fmla="*/ 1419884 h 3500646"/>
                    <a:gd name="csX402" fmla="*/ 2303279 w 3862256"/>
                    <a:gd name="csY402" fmla="*/ 1408642 h 3500646"/>
                    <a:gd name="csX403" fmla="*/ 2348250 w 3862256"/>
                    <a:gd name="csY403" fmla="*/ 1431127 h 3500646"/>
                    <a:gd name="csX404" fmla="*/ 2374483 w 3862256"/>
                    <a:gd name="csY404" fmla="*/ 1438622 h 3500646"/>
                    <a:gd name="csX405" fmla="*/ 2411958 w 3862256"/>
                    <a:gd name="csY405" fmla="*/ 1464855 h 3500646"/>
                    <a:gd name="csX406" fmla="*/ 2475666 w 3862256"/>
                    <a:gd name="csY406" fmla="*/ 1487340 h 3500646"/>
                    <a:gd name="csX407" fmla="*/ 2516889 w 3862256"/>
                    <a:gd name="csY407" fmla="*/ 1494835 h 3500646"/>
                    <a:gd name="csX408" fmla="*/ 2543122 w 3862256"/>
                    <a:gd name="csY408" fmla="*/ 1502330 h 3500646"/>
                    <a:gd name="csX409" fmla="*/ 2674286 w 3862256"/>
                    <a:gd name="csY409" fmla="*/ 1513573 h 3500646"/>
                    <a:gd name="csX410" fmla="*/ 2730499 w 3862256"/>
                    <a:gd name="csY410" fmla="*/ 1517320 h 3500646"/>
                    <a:gd name="csX411" fmla="*/ 2809197 w 3862256"/>
                    <a:gd name="csY411" fmla="*/ 1528563 h 3500646"/>
                    <a:gd name="csX412" fmla="*/ 2884148 w 3862256"/>
                    <a:gd name="csY412" fmla="*/ 1536058 h 3500646"/>
                    <a:gd name="csX413" fmla="*/ 2910381 w 3862256"/>
                    <a:gd name="csY413" fmla="*/ 1539806 h 3500646"/>
                    <a:gd name="csX414" fmla="*/ 2944109 w 3862256"/>
                    <a:gd name="csY414" fmla="*/ 1547301 h 3500646"/>
                    <a:gd name="csX415" fmla="*/ 3037797 w 3862256"/>
                    <a:gd name="csY415" fmla="*/ 1551048 h 3500646"/>
                    <a:gd name="csX416" fmla="*/ 3202689 w 3862256"/>
                    <a:gd name="csY416" fmla="*/ 1539806 h 3500646"/>
                    <a:gd name="csX417" fmla="*/ 3172709 w 3862256"/>
                    <a:gd name="csY417" fmla="*/ 1532311 h 3500646"/>
                    <a:gd name="csX418" fmla="*/ 3082768 w 3862256"/>
                    <a:gd name="csY418" fmla="*/ 1528563 h 3500646"/>
                    <a:gd name="csX419" fmla="*/ 2977837 w 3862256"/>
                    <a:gd name="csY419" fmla="*/ 1517320 h 3500646"/>
                    <a:gd name="csX420" fmla="*/ 2887896 w 3862256"/>
                    <a:gd name="csY420" fmla="*/ 1498583 h 3500646"/>
                    <a:gd name="csX421" fmla="*/ 2827935 w 3862256"/>
                    <a:gd name="csY421" fmla="*/ 1487340 h 3500646"/>
                    <a:gd name="csX422" fmla="*/ 2745489 w 3862256"/>
                    <a:gd name="csY422" fmla="*/ 1472350 h 3500646"/>
                    <a:gd name="csX423" fmla="*/ 2704266 w 3862256"/>
                    <a:gd name="csY423" fmla="*/ 1461107 h 3500646"/>
                    <a:gd name="csX424" fmla="*/ 2674286 w 3862256"/>
                    <a:gd name="csY424" fmla="*/ 1457360 h 3500646"/>
                    <a:gd name="csX425" fmla="*/ 2569355 w 3862256"/>
                    <a:gd name="csY425" fmla="*/ 1427379 h 3500646"/>
                    <a:gd name="csX426" fmla="*/ 2516889 w 3862256"/>
                    <a:gd name="csY426" fmla="*/ 1416137 h 3500646"/>
                    <a:gd name="csX427" fmla="*/ 2468171 w 3862256"/>
                    <a:gd name="csY427" fmla="*/ 1397399 h 3500646"/>
                    <a:gd name="csX428" fmla="*/ 2434443 w 3862256"/>
                    <a:gd name="csY428" fmla="*/ 1386156 h 3500646"/>
                    <a:gd name="csX429" fmla="*/ 2337007 w 3862256"/>
                    <a:gd name="csY429" fmla="*/ 1367419 h 3500646"/>
                    <a:gd name="csX430" fmla="*/ 2303279 w 3862256"/>
                    <a:gd name="csY430" fmla="*/ 1356176 h 3500646"/>
                    <a:gd name="csX431" fmla="*/ 2209591 w 3862256"/>
                    <a:gd name="csY431" fmla="*/ 1337438 h 3500646"/>
                    <a:gd name="csX432" fmla="*/ 2265804 w 3862256"/>
                    <a:gd name="csY432" fmla="*/ 1326196 h 3500646"/>
                    <a:gd name="csX433" fmla="*/ 2288289 w 3862256"/>
                    <a:gd name="csY433" fmla="*/ 1311206 h 3500646"/>
                    <a:gd name="csX434" fmla="*/ 2340755 w 3862256"/>
                    <a:gd name="csY434" fmla="*/ 1299963 h 3500646"/>
                    <a:gd name="csX435" fmla="*/ 2415705 w 3862256"/>
                    <a:gd name="csY435" fmla="*/ 1284973 h 3500646"/>
                    <a:gd name="csX436" fmla="*/ 2516889 w 3862256"/>
                    <a:gd name="csY436" fmla="*/ 1269983 h 3500646"/>
                    <a:gd name="csX437" fmla="*/ 2505646 w 3862256"/>
                    <a:gd name="csY437" fmla="*/ 1258740 h 3500646"/>
                    <a:gd name="csX438" fmla="*/ 2479414 w 3862256"/>
                    <a:gd name="csY438" fmla="*/ 1247497 h 3500646"/>
                    <a:gd name="csX439" fmla="*/ 2460676 w 3862256"/>
                    <a:gd name="csY439" fmla="*/ 1236255 h 3500646"/>
                    <a:gd name="csX440" fmla="*/ 2434443 w 3862256"/>
                    <a:gd name="csY440" fmla="*/ 1228760 h 3500646"/>
                    <a:gd name="csX441" fmla="*/ 2355745 w 3862256"/>
                    <a:gd name="csY441" fmla="*/ 1225012 h 3500646"/>
                    <a:gd name="csX442" fmla="*/ 2277046 w 3862256"/>
                    <a:gd name="csY442" fmla="*/ 1228760 h 3500646"/>
                    <a:gd name="csX443" fmla="*/ 2166799 w 3862256"/>
                    <a:gd name="csY443" fmla="*/ 1232100 h 3500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Lst>
                  <a:rect l="l" t="t" r="r" b="b"/>
                  <a:pathLst>
                    <a:path w="3862256" h="3500646">
                      <a:moveTo>
                        <a:pt x="1387408" y="2047347"/>
                      </a:moveTo>
                      <a:lnTo>
                        <a:pt x="1422200" y="2048401"/>
                      </a:lnTo>
                      <a:lnTo>
                        <a:pt x="1389088" y="2057039"/>
                      </a:lnTo>
                      <a:cubicBezTo>
                        <a:pt x="1360653" y="2062602"/>
                        <a:pt x="1331578" y="2064183"/>
                        <a:pt x="1302895" y="2068281"/>
                      </a:cubicBezTo>
                      <a:cubicBezTo>
                        <a:pt x="1279108" y="2071679"/>
                        <a:pt x="1255591" y="2077034"/>
                        <a:pt x="1231692" y="2079524"/>
                      </a:cubicBezTo>
                      <a:lnTo>
                        <a:pt x="1204939" y="2081369"/>
                      </a:lnTo>
                      <a:lnTo>
                        <a:pt x="1217951" y="2077303"/>
                      </a:lnTo>
                      <a:cubicBezTo>
                        <a:pt x="1226936" y="2074178"/>
                        <a:pt x="1235056" y="2068744"/>
                        <a:pt x="1244183" y="2066060"/>
                      </a:cubicBezTo>
                      <a:lnTo>
                        <a:pt x="1264659" y="2061965"/>
                      </a:lnTo>
                      <a:lnTo>
                        <a:pt x="1282652" y="2060383"/>
                      </a:lnTo>
                      <a:cubicBezTo>
                        <a:pt x="1362412" y="2053094"/>
                        <a:pt x="1249493" y="2061100"/>
                        <a:pt x="1366603" y="2053291"/>
                      </a:cubicBezTo>
                      <a:close/>
                      <a:moveTo>
                        <a:pt x="2236541" y="1892333"/>
                      </a:moveTo>
                      <a:lnTo>
                        <a:pt x="2329512" y="1925802"/>
                      </a:lnTo>
                      <a:lnTo>
                        <a:pt x="2338983" y="1927841"/>
                      </a:lnTo>
                      <a:lnTo>
                        <a:pt x="2345469" y="1932633"/>
                      </a:lnTo>
                      <a:cubicBezTo>
                        <a:pt x="2351497" y="1937365"/>
                        <a:pt x="2357620" y="1941926"/>
                        <a:pt x="2364489" y="1945233"/>
                      </a:cubicBezTo>
                      <a:lnTo>
                        <a:pt x="2391794" y="1954870"/>
                      </a:lnTo>
                      <a:lnTo>
                        <a:pt x="2345543" y="1946708"/>
                      </a:lnTo>
                      <a:lnTo>
                        <a:pt x="2342004" y="1945233"/>
                      </a:lnTo>
                      <a:cubicBezTo>
                        <a:pt x="2254699" y="1908855"/>
                        <a:pt x="2260716" y="1910988"/>
                        <a:pt x="2207092" y="1900262"/>
                      </a:cubicBezTo>
                      <a:cubicBezTo>
                        <a:pt x="2215212" y="1898389"/>
                        <a:pt x="2223225" y="1895578"/>
                        <a:pt x="2231291" y="1893236"/>
                      </a:cubicBezTo>
                      <a:close/>
                      <a:moveTo>
                        <a:pt x="2166799" y="0"/>
                      </a:moveTo>
                      <a:lnTo>
                        <a:pt x="1695458" y="0"/>
                      </a:lnTo>
                      <a:lnTo>
                        <a:pt x="1695458" y="1222456"/>
                      </a:lnTo>
                      <a:lnTo>
                        <a:pt x="1585210" y="1219116"/>
                      </a:lnTo>
                      <a:cubicBezTo>
                        <a:pt x="1558965" y="1218144"/>
                        <a:pt x="1532774" y="1215368"/>
                        <a:pt x="1506511" y="1215368"/>
                      </a:cubicBezTo>
                      <a:cubicBezTo>
                        <a:pt x="1480249" y="1215368"/>
                        <a:pt x="1454046" y="1217867"/>
                        <a:pt x="1427813" y="1219116"/>
                      </a:cubicBezTo>
                      <a:cubicBezTo>
                        <a:pt x="1419069" y="1221614"/>
                        <a:pt x="1409975" y="1223113"/>
                        <a:pt x="1401580" y="1226611"/>
                      </a:cubicBezTo>
                      <a:cubicBezTo>
                        <a:pt x="1394856" y="1229412"/>
                        <a:pt x="1389357" y="1234596"/>
                        <a:pt x="1382842" y="1237853"/>
                      </a:cubicBezTo>
                      <a:cubicBezTo>
                        <a:pt x="1374333" y="1242107"/>
                        <a:pt x="1365354" y="1245348"/>
                        <a:pt x="1356610" y="1249096"/>
                      </a:cubicBezTo>
                      <a:cubicBezTo>
                        <a:pt x="1352862" y="1252844"/>
                        <a:pt x="1340279" y="1258855"/>
                        <a:pt x="1345367" y="1260339"/>
                      </a:cubicBezTo>
                      <a:cubicBezTo>
                        <a:pt x="1378099" y="1269886"/>
                        <a:pt x="1412872" y="1270011"/>
                        <a:pt x="1446551" y="1275329"/>
                      </a:cubicBezTo>
                      <a:cubicBezTo>
                        <a:pt x="1523969" y="1287553"/>
                        <a:pt x="1453635" y="1277594"/>
                        <a:pt x="1521501" y="1290319"/>
                      </a:cubicBezTo>
                      <a:cubicBezTo>
                        <a:pt x="1572751" y="1299929"/>
                        <a:pt x="1522753" y="1286930"/>
                        <a:pt x="1573967" y="1301562"/>
                      </a:cubicBezTo>
                      <a:cubicBezTo>
                        <a:pt x="1581462" y="1306559"/>
                        <a:pt x="1587906" y="1313704"/>
                        <a:pt x="1596452" y="1316552"/>
                      </a:cubicBezTo>
                      <a:cubicBezTo>
                        <a:pt x="1614580" y="1322595"/>
                        <a:pt x="1667586" y="1315857"/>
                        <a:pt x="1652665" y="1327794"/>
                      </a:cubicBezTo>
                      <a:cubicBezTo>
                        <a:pt x="1627796" y="1347689"/>
                        <a:pt x="1589978" y="1339237"/>
                        <a:pt x="1558977" y="1346532"/>
                      </a:cubicBezTo>
                      <a:cubicBezTo>
                        <a:pt x="1547441" y="1349246"/>
                        <a:pt x="1536644" y="1354519"/>
                        <a:pt x="1525249" y="1357775"/>
                      </a:cubicBezTo>
                      <a:cubicBezTo>
                        <a:pt x="1478672" y="1371082"/>
                        <a:pt x="1477816" y="1369369"/>
                        <a:pt x="1427813" y="1376512"/>
                      </a:cubicBezTo>
                      <a:cubicBezTo>
                        <a:pt x="1416570" y="1380260"/>
                        <a:pt x="1405222" y="1383705"/>
                        <a:pt x="1394085" y="1387755"/>
                      </a:cubicBezTo>
                      <a:cubicBezTo>
                        <a:pt x="1377733" y="1393701"/>
                        <a:pt x="1362049" y="1401550"/>
                        <a:pt x="1345367" y="1406493"/>
                      </a:cubicBezTo>
                      <a:cubicBezTo>
                        <a:pt x="1328218" y="1411574"/>
                        <a:pt x="1310214" y="1413246"/>
                        <a:pt x="1292901" y="1417735"/>
                      </a:cubicBezTo>
                      <a:cubicBezTo>
                        <a:pt x="1222725" y="1435929"/>
                        <a:pt x="1263936" y="1431202"/>
                        <a:pt x="1187970" y="1447716"/>
                      </a:cubicBezTo>
                      <a:cubicBezTo>
                        <a:pt x="1178129" y="1449855"/>
                        <a:pt x="1167983" y="1450214"/>
                        <a:pt x="1157990" y="1451463"/>
                      </a:cubicBezTo>
                      <a:cubicBezTo>
                        <a:pt x="1144249" y="1455211"/>
                        <a:pt x="1130623" y="1459407"/>
                        <a:pt x="1116767" y="1462706"/>
                      </a:cubicBezTo>
                      <a:cubicBezTo>
                        <a:pt x="1088264" y="1469493"/>
                        <a:pt x="1063377" y="1472507"/>
                        <a:pt x="1034321" y="1477696"/>
                      </a:cubicBezTo>
                      <a:cubicBezTo>
                        <a:pt x="1014302" y="1481271"/>
                        <a:pt x="994268" y="1484791"/>
                        <a:pt x="974360" y="1488939"/>
                      </a:cubicBezTo>
                      <a:cubicBezTo>
                        <a:pt x="906189" y="1503142"/>
                        <a:pt x="990953" y="1491031"/>
                        <a:pt x="884419" y="1507676"/>
                      </a:cubicBezTo>
                      <a:cubicBezTo>
                        <a:pt x="856804" y="1511991"/>
                        <a:pt x="809229" y="1517266"/>
                        <a:pt x="779488" y="1518919"/>
                      </a:cubicBezTo>
                      <a:cubicBezTo>
                        <a:pt x="749528" y="1520584"/>
                        <a:pt x="719527" y="1521418"/>
                        <a:pt x="689547" y="1522667"/>
                      </a:cubicBezTo>
                      <a:cubicBezTo>
                        <a:pt x="679554" y="1525165"/>
                        <a:pt x="649795" y="1526905"/>
                        <a:pt x="659567" y="1530162"/>
                      </a:cubicBezTo>
                      <a:cubicBezTo>
                        <a:pt x="719457" y="1550122"/>
                        <a:pt x="666864" y="1533717"/>
                        <a:pt x="824459" y="1541404"/>
                      </a:cubicBezTo>
                      <a:cubicBezTo>
                        <a:pt x="855688" y="1540155"/>
                        <a:pt x="887014" y="1540404"/>
                        <a:pt x="918147" y="1537657"/>
                      </a:cubicBezTo>
                      <a:cubicBezTo>
                        <a:pt x="929619" y="1536645"/>
                        <a:pt x="940555" y="1532284"/>
                        <a:pt x="951875" y="1530162"/>
                      </a:cubicBezTo>
                      <a:cubicBezTo>
                        <a:pt x="960557" y="1528534"/>
                        <a:pt x="969323" y="1527339"/>
                        <a:pt x="978108" y="1526414"/>
                      </a:cubicBezTo>
                      <a:cubicBezTo>
                        <a:pt x="1033352" y="1520599"/>
                        <a:pt x="1007993" y="1525358"/>
                        <a:pt x="1053059" y="1518919"/>
                      </a:cubicBezTo>
                      <a:cubicBezTo>
                        <a:pt x="1097114" y="1512625"/>
                        <a:pt x="1060739" y="1514777"/>
                        <a:pt x="1131757" y="1507676"/>
                      </a:cubicBezTo>
                      <a:cubicBezTo>
                        <a:pt x="1150443" y="1505807"/>
                        <a:pt x="1169259" y="1505533"/>
                        <a:pt x="1187970" y="1503929"/>
                      </a:cubicBezTo>
                      <a:cubicBezTo>
                        <a:pt x="1351900" y="1489879"/>
                        <a:pt x="1185294" y="1501610"/>
                        <a:pt x="1319134" y="1492686"/>
                      </a:cubicBezTo>
                      <a:cubicBezTo>
                        <a:pt x="1327878" y="1490188"/>
                        <a:pt x="1336489" y="1487164"/>
                        <a:pt x="1345367" y="1485191"/>
                      </a:cubicBezTo>
                      <a:cubicBezTo>
                        <a:pt x="1359001" y="1482161"/>
                        <a:pt x="1373161" y="1481533"/>
                        <a:pt x="1386590" y="1477696"/>
                      </a:cubicBezTo>
                      <a:cubicBezTo>
                        <a:pt x="1408243" y="1471509"/>
                        <a:pt x="1430008" y="1464980"/>
                        <a:pt x="1450298" y="1455211"/>
                      </a:cubicBezTo>
                      <a:cubicBezTo>
                        <a:pt x="1464037" y="1448596"/>
                        <a:pt x="1474787" y="1436969"/>
                        <a:pt x="1487773" y="1428978"/>
                      </a:cubicBezTo>
                      <a:cubicBezTo>
                        <a:pt x="1491448" y="1426717"/>
                        <a:pt x="1511422" y="1422129"/>
                        <a:pt x="1514006" y="1421483"/>
                      </a:cubicBezTo>
                      <a:cubicBezTo>
                        <a:pt x="1527052" y="1411698"/>
                        <a:pt x="1541060" y="1398998"/>
                        <a:pt x="1558977" y="1398998"/>
                      </a:cubicBezTo>
                      <a:cubicBezTo>
                        <a:pt x="1575643" y="1398998"/>
                        <a:pt x="1591456" y="1406493"/>
                        <a:pt x="1607695" y="1410240"/>
                      </a:cubicBezTo>
                      <a:cubicBezTo>
                        <a:pt x="1554071" y="1420966"/>
                        <a:pt x="1560088" y="1418833"/>
                        <a:pt x="1472783" y="1455211"/>
                      </a:cubicBezTo>
                      <a:cubicBezTo>
                        <a:pt x="1457793" y="1461457"/>
                        <a:pt x="1443305" y="1469080"/>
                        <a:pt x="1427813" y="1473949"/>
                      </a:cubicBezTo>
                      <a:cubicBezTo>
                        <a:pt x="1399486" y="1482852"/>
                        <a:pt x="1370759" y="1490733"/>
                        <a:pt x="1341619" y="1496434"/>
                      </a:cubicBezTo>
                      <a:cubicBezTo>
                        <a:pt x="1313184" y="1501997"/>
                        <a:pt x="1284109" y="1503578"/>
                        <a:pt x="1255426" y="1507676"/>
                      </a:cubicBezTo>
                      <a:cubicBezTo>
                        <a:pt x="1231639" y="1511074"/>
                        <a:pt x="1208122" y="1516429"/>
                        <a:pt x="1184223" y="1518919"/>
                      </a:cubicBezTo>
                      <a:cubicBezTo>
                        <a:pt x="1148106" y="1522681"/>
                        <a:pt x="1111739" y="1523495"/>
                        <a:pt x="1075544" y="1526414"/>
                      </a:cubicBezTo>
                      <a:cubicBezTo>
                        <a:pt x="1034285" y="1529741"/>
                        <a:pt x="993098" y="1533909"/>
                        <a:pt x="951875" y="1537657"/>
                      </a:cubicBezTo>
                      <a:cubicBezTo>
                        <a:pt x="891822" y="1549668"/>
                        <a:pt x="807638" y="1565454"/>
                        <a:pt x="753255" y="1582627"/>
                      </a:cubicBezTo>
                      <a:cubicBezTo>
                        <a:pt x="729521" y="1590122"/>
                        <a:pt x="704890" y="1595216"/>
                        <a:pt x="682052" y="1605112"/>
                      </a:cubicBezTo>
                      <a:cubicBezTo>
                        <a:pt x="632313" y="1626666"/>
                        <a:pt x="515891" y="1690626"/>
                        <a:pt x="449705" y="1713791"/>
                      </a:cubicBezTo>
                      <a:cubicBezTo>
                        <a:pt x="380520" y="1738006"/>
                        <a:pt x="361299" y="1732844"/>
                        <a:pt x="284813" y="1743771"/>
                      </a:cubicBezTo>
                      <a:cubicBezTo>
                        <a:pt x="112118" y="1768442"/>
                        <a:pt x="367078" y="1752540"/>
                        <a:pt x="0" y="1758762"/>
                      </a:cubicBezTo>
                      <a:cubicBezTo>
                        <a:pt x="187313" y="1770977"/>
                        <a:pt x="225128" y="1780478"/>
                        <a:pt x="434714" y="1755014"/>
                      </a:cubicBezTo>
                      <a:cubicBezTo>
                        <a:pt x="481934" y="1749277"/>
                        <a:pt x="526646" y="1730186"/>
                        <a:pt x="573373" y="1721286"/>
                      </a:cubicBezTo>
                      <a:cubicBezTo>
                        <a:pt x="599606" y="1716289"/>
                        <a:pt x="626209" y="1712947"/>
                        <a:pt x="652072" y="1706296"/>
                      </a:cubicBezTo>
                      <a:cubicBezTo>
                        <a:pt x="670057" y="1701671"/>
                        <a:pt x="686467" y="1691838"/>
                        <a:pt x="704537" y="1687558"/>
                      </a:cubicBezTo>
                      <a:cubicBezTo>
                        <a:pt x="734113" y="1680553"/>
                        <a:pt x="764605" y="1678169"/>
                        <a:pt x="794478" y="1672568"/>
                      </a:cubicBezTo>
                      <a:cubicBezTo>
                        <a:pt x="804603" y="1670670"/>
                        <a:pt x="814465" y="1667571"/>
                        <a:pt x="824459" y="1665073"/>
                      </a:cubicBezTo>
                      <a:cubicBezTo>
                        <a:pt x="854654" y="1649976"/>
                        <a:pt x="832022" y="1658935"/>
                        <a:pt x="888167" y="1653831"/>
                      </a:cubicBezTo>
                      <a:cubicBezTo>
                        <a:pt x="942066" y="1648931"/>
                        <a:pt x="910848" y="1650201"/>
                        <a:pt x="981855" y="1638840"/>
                      </a:cubicBezTo>
                      <a:cubicBezTo>
                        <a:pt x="1024245" y="1632058"/>
                        <a:pt x="1066790" y="1626282"/>
                        <a:pt x="1109272" y="1620103"/>
                      </a:cubicBezTo>
                      <a:cubicBezTo>
                        <a:pt x="1135495" y="1616289"/>
                        <a:pt x="1161666" y="1612068"/>
                        <a:pt x="1187970" y="1608860"/>
                      </a:cubicBezTo>
                      <a:lnTo>
                        <a:pt x="1409075" y="1582627"/>
                      </a:lnTo>
                      <a:cubicBezTo>
                        <a:pt x="1466101" y="1567420"/>
                        <a:pt x="1455341" y="1568671"/>
                        <a:pt x="1506511" y="1560142"/>
                      </a:cubicBezTo>
                      <a:cubicBezTo>
                        <a:pt x="1515224" y="1558690"/>
                        <a:pt x="1523929" y="1556963"/>
                        <a:pt x="1532744" y="1556394"/>
                      </a:cubicBezTo>
                      <a:cubicBezTo>
                        <a:pt x="1562688" y="1554462"/>
                        <a:pt x="1592705" y="1553896"/>
                        <a:pt x="1622685" y="1552647"/>
                      </a:cubicBezTo>
                      <a:cubicBezTo>
                        <a:pt x="1623137" y="1552590"/>
                        <a:pt x="1694981" y="1541354"/>
                        <a:pt x="1690141" y="1552647"/>
                      </a:cubicBezTo>
                      <a:cubicBezTo>
                        <a:pt x="1679997" y="1576317"/>
                        <a:pt x="1653732" y="1590948"/>
                        <a:pt x="1630180" y="1601365"/>
                      </a:cubicBezTo>
                      <a:cubicBezTo>
                        <a:pt x="1587496" y="1620244"/>
                        <a:pt x="1540633" y="1627865"/>
                        <a:pt x="1495269" y="1638840"/>
                      </a:cubicBezTo>
                      <a:cubicBezTo>
                        <a:pt x="1410554" y="1659335"/>
                        <a:pt x="1411232" y="1656740"/>
                        <a:pt x="1337872" y="1661326"/>
                      </a:cubicBezTo>
                      <a:lnTo>
                        <a:pt x="1281659" y="1668821"/>
                      </a:lnTo>
                      <a:cubicBezTo>
                        <a:pt x="1260442" y="1671473"/>
                        <a:pt x="1239061" y="1672911"/>
                        <a:pt x="1217951" y="1676316"/>
                      </a:cubicBezTo>
                      <a:cubicBezTo>
                        <a:pt x="1200294" y="1679164"/>
                        <a:pt x="1183082" y="1684359"/>
                        <a:pt x="1165485" y="1687558"/>
                      </a:cubicBezTo>
                      <a:cubicBezTo>
                        <a:pt x="1152503" y="1689918"/>
                        <a:pt x="1108808" y="1693975"/>
                        <a:pt x="1098029" y="1695053"/>
                      </a:cubicBezTo>
                      <a:lnTo>
                        <a:pt x="1049311" y="1706296"/>
                      </a:lnTo>
                      <a:cubicBezTo>
                        <a:pt x="1040488" y="1708502"/>
                        <a:pt x="1031865" y="1711448"/>
                        <a:pt x="1023078" y="1713791"/>
                      </a:cubicBezTo>
                      <a:cubicBezTo>
                        <a:pt x="1013125" y="1716445"/>
                        <a:pt x="1003091" y="1718788"/>
                        <a:pt x="993098" y="1721286"/>
                      </a:cubicBezTo>
                      <a:cubicBezTo>
                        <a:pt x="1045564" y="1728781"/>
                        <a:pt x="1097563" y="1741124"/>
                        <a:pt x="1150495" y="1743771"/>
                      </a:cubicBezTo>
                      <a:cubicBezTo>
                        <a:pt x="1370457" y="1754769"/>
                        <a:pt x="1311611" y="1740292"/>
                        <a:pt x="1472783" y="1728781"/>
                      </a:cubicBezTo>
                      <a:cubicBezTo>
                        <a:pt x="1555179" y="1722896"/>
                        <a:pt x="1507731" y="1725764"/>
                        <a:pt x="1615190" y="1721286"/>
                      </a:cubicBezTo>
                      <a:cubicBezTo>
                        <a:pt x="1638854" y="1717342"/>
                        <a:pt x="1652016" y="1713662"/>
                        <a:pt x="1673154" y="1719469"/>
                      </a:cubicBezTo>
                      <a:lnTo>
                        <a:pt x="1695458" y="1727952"/>
                      </a:lnTo>
                      <a:lnTo>
                        <a:pt x="1695458" y="1733709"/>
                      </a:lnTo>
                      <a:lnTo>
                        <a:pt x="1695346" y="1733963"/>
                      </a:lnTo>
                      <a:cubicBezTo>
                        <a:pt x="1692443" y="1736072"/>
                        <a:pt x="1688429" y="1738327"/>
                        <a:pt x="1686393" y="1740024"/>
                      </a:cubicBezTo>
                      <a:cubicBezTo>
                        <a:pt x="1675451" y="1749142"/>
                        <a:pt x="1665680" y="1760472"/>
                        <a:pt x="1652665" y="1766257"/>
                      </a:cubicBezTo>
                      <a:lnTo>
                        <a:pt x="1623030" y="1779262"/>
                      </a:lnTo>
                      <a:lnTo>
                        <a:pt x="1553980" y="1775973"/>
                      </a:lnTo>
                      <a:cubicBezTo>
                        <a:pt x="1527718" y="1775973"/>
                        <a:pt x="1501515" y="1778472"/>
                        <a:pt x="1475282" y="1779721"/>
                      </a:cubicBezTo>
                      <a:cubicBezTo>
                        <a:pt x="1466538" y="1782219"/>
                        <a:pt x="1457444" y="1783718"/>
                        <a:pt x="1449049" y="1787216"/>
                      </a:cubicBezTo>
                      <a:cubicBezTo>
                        <a:pt x="1442325" y="1790017"/>
                        <a:pt x="1436826" y="1795201"/>
                        <a:pt x="1430311" y="1798458"/>
                      </a:cubicBezTo>
                      <a:cubicBezTo>
                        <a:pt x="1421802" y="1802712"/>
                        <a:pt x="1412823" y="1805953"/>
                        <a:pt x="1404079" y="1809701"/>
                      </a:cubicBezTo>
                      <a:cubicBezTo>
                        <a:pt x="1400331" y="1813449"/>
                        <a:pt x="1387748" y="1819460"/>
                        <a:pt x="1392836" y="1820944"/>
                      </a:cubicBezTo>
                      <a:cubicBezTo>
                        <a:pt x="1409202" y="1825718"/>
                        <a:pt x="1426078" y="1828136"/>
                        <a:pt x="1443073" y="1830025"/>
                      </a:cubicBezTo>
                      <a:lnTo>
                        <a:pt x="1477332" y="1833999"/>
                      </a:lnTo>
                      <a:lnTo>
                        <a:pt x="1450298" y="1841208"/>
                      </a:lnTo>
                      <a:cubicBezTo>
                        <a:pt x="1417367" y="1852453"/>
                        <a:pt x="1386045" y="1868204"/>
                        <a:pt x="1352862" y="1878683"/>
                      </a:cubicBezTo>
                      <a:cubicBezTo>
                        <a:pt x="1329128" y="1886178"/>
                        <a:pt x="1304931" y="1892341"/>
                        <a:pt x="1281659" y="1901168"/>
                      </a:cubicBezTo>
                      <a:cubicBezTo>
                        <a:pt x="1246301" y="1914580"/>
                        <a:pt x="1233862" y="1920124"/>
                        <a:pt x="1232437" y="1921713"/>
                      </a:cubicBezTo>
                      <a:lnTo>
                        <a:pt x="1249148" y="1918556"/>
                      </a:lnTo>
                      <a:lnTo>
                        <a:pt x="1260782" y="1915097"/>
                      </a:lnTo>
                      <a:cubicBezTo>
                        <a:pt x="1265785" y="1913673"/>
                        <a:pt x="1257985" y="1916122"/>
                        <a:pt x="1249292" y="1918529"/>
                      </a:cubicBezTo>
                      <a:lnTo>
                        <a:pt x="1249148" y="1918556"/>
                      </a:lnTo>
                      <a:lnTo>
                        <a:pt x="1242190" y="1920625"/>
                      </a:lnTo>
                      <a:cubicBezTo>
                        <a:pt x="1231800" y="1923762"/>
                        <a:pt x="1216721" y="1928356"/>
                        <a:pt x="1195465" y="1934896"/>
                      </a:cubicBezTo>
                      <a:cubicBezTo>
                        <a:pt x="1162992" y="1983607"/>
                        <a:pt x="1176602" y="1956316"/>
                        <a:pt x="1326629" y="1949886"/>
                      </a:cubicBezTo>
                      <a:cubicBezTo>
                        <a:pt x="1381540" y="1947533"/>
                        <a:pt x="1475461" y="1933221"/>
                        <a:pt x="1532744" y="1916158"/>
                      </a:cubicBezTo>
                      <a:cubicBezTo>
                        <a:pt x="1564554" y="1906683"/>
                        <a:pt x="1595616" y="1894760"/>
                        <a:pt x="1626433" y="1882431"/>
                      </a:cubicBezTo>
                      <a:lnTo>
                        <a:pt x="1642307" y="1876081"/>
                      </a:lnTo>
                      <a:lnTo>
                        <a:pt x="1643921" y="1877157"/>
                      </a:lnTo>
                      <a:cubicBezTo>
                        <a:pt x="1652985" y="1880179"/>
                        <a:pt x="1670769" y="1880005"/>
                        <a:pt x="1684421" y="1880568"/>
                      </a:cubicBezTo>
                      <a:lnTo>
                        <a:pt x="1692620" y="1881550"/>
                      </a:lnTo>
                      <a:lnTo>
                        <a:pt x="1678898" y="1889926"/>
                      </a:lnTo>
                      <a:cubicBezTo>
                        <a:pt x="1667098" y="1895479"/>
                        <a:pt x="1653443" y="1896107"/>
                        <a:pt x="1641423" y="1901168"/>
                      </a:cubicBezTo>
                      <a:lnTo>
                        <a:pt x="1634141" y="1904520"/>
                      </a:lnTo>
                      <a:lnTo>
                        <a:pt x="1606446" y="1907137"/>
                      </a:lnTo>
                      <a:cubicBezTo>
                        <a:pt x="1594910" y="1909851"/>
                        <a:pt x="1584113" y="1915124"/>
                        <a:pt x="1572718" y="1918380"/>
                      </a:cubicBezTo>
                      <a:cubicBezTo>
                        <a:pt x="1526141" y="1931687"/>
                        <a:pt x="1525285" y="1929974"/>
                        <a:pt x="1475282" y="1937117"/>
                      </a:cubicBezTo>
                      <a:cubicBezTo>
                        <a:pt x="1464039" y="1940865"/>
                        <a:pt x="1452691" y="1944310"/>
                        <a:pt x="1441554" y="1948360"/>
                      </a:cubicBezTo>
                      <a:cubicBezTo>
                        <a:pt x="1425202" y="1954306"/>
                        <a:pt x="1409518" y="1962155"/>
                        <a:pt x="1392836" y="1967098"/>
                      </a:cubicBezTo>
                      <a:cubicBezTo>
                        <a:pt x="1375687" y="1972179"/>
                        <a:pt x="1357683" y="1973851"/>
                        <a:pt x="1340370" y="1978340"/>
                      </a:cubicBezTo>
                      <a:cubicBezTo>
                        <a:pt x="1270194" y="1996534"/>
                        <a:pt x="1311405" y="1991807"/>
                        <a:pt x="1235439" y="2008321"/>
                      </a:cubicBezTo>
                      <a:cubicBezTo>
                        <a:pt x="1225598" y="2010460"/>
                        <a:pt x="1215452" y="2010819"/>
                        <a:pt x="1205459" y="2012068"/>
                      </a:cubicBezTo>
                      <a:cubicBezTo>
                        <a:pt x="1191718" y="2015816"/>
                        <a:pt x="1178092" y="2020012"/>
                        <a:pt x="1164236" y="2023311"/>
                      </a:cubicBezTo>
                      <a:cubicBezTo>
                        <a:pt x="1135733" y="2030098"/>
                        <a:pt x="1110846" y="2033112"/>
                        <a:pt x="1081790" y="2038301"/>
                      </a:cubicBezTo>
                      <a:cubicBezTo>
                        <a:pt x="1061771" y="2041876"/>
                        <a:pt x="1041737" y="2045396"/>
                        <a:pt x="1021829" y="2049544"/>
                      </a:cubicBezTo>
                      <a:cubicBezTo>
                        <a:pt x="953658" y="2063747"/>
                        <a:pt x="1038422" y="2051636"/>
                        <a:pt x="931888" y="2068281"/>
                      </a:cubicBezTo>
                      <a:cubicBezTo>
                        <a:pt x="904273" y="2072596"/>
                        <a:pt x="856698" y="2077871"/>
                        <a:pt x="826957" y="2079524"/>
                      </a:cubicBezTo>
                      <a:cubicBezTo>
                        <a:pt x="796997" y="2081189"/>
                        <a:pt x="766996" y="2082023"/>
                        <a:pt x="737016" y="2083272"/>
                      </a:cubicBezTo>
                      <a:cubicBezTo>
                        <a:pt x="727023" y="2085770"/>
                        <a:pt x="697264" y="2087510"/>
                        <a:pt x="707036" y="2090767"/>
                      </a:cubicBezTo>
                      <a:cubicBezTo>
                        <a:pt x="766926" y="2110727"/>
                        <a:pt x="714333" y="2094322"/>
                        <a:pt x="871928" y="2102009"/>
                      </a:cubicBezTo>
                      <a:cubicBezTo>
                        <a:pt x="903157" y="2100760"/>
                        <a:pt x="934483" y="2101009"/>
                        <a:pt x="965616" y="2098262"/>
                      </a:cubicBezTo>
                      <a:cubicBezTo>
                        <a:pt x="977088" y="2097250"/>
                        <a:pt x="988024" y="2092889"/>
                        <a:pt x="999344" y="2090767"/>
                      </a:cubicBezTo>
                      <a:cubicBezTo>
                        <a:pt x="1008026" y="2089139"/>
                        <a:pt x="1016792" y="2087944"/>
                        <a:pt x="1025577" y="2087019"/>
                      </a:cubicBezTo>
                      <a:lnTo>
                        <a:pt x="1028280" y="2086763"/>
                      </a:lnTo>
                      <a:lnTo>
                        <a:pt x="985603" y="2096040"/>
                      </a:lnTo>
                      <a:cubicBezTo>
                        <a:pt x="970540" y="2099483"/>
                        <a:pt x="955700" y="2103859"/>
                        <a:pt x="940633" y="2107283"/>
                      </a:cubicBezTo>
                      <a:cubicBezTo>
                        <a:pt x="928210" y="2110106"/>
                        <a:pt x="890428" y="2115287"/>
                        <a:pt x="903157" y="2114778"/>
                      </a:cubicBezTo>
                      <a:lnTo>
                        <a:pt x="921669" y="2113998"/>
                      </a:lnTo>
                      <a:lnTo>
                        <a:pt x="897908" y="2118811"/>
                      </a:lnTo>
                      <a:cubicBezTo>
                        <a:pt x="862557" y="2126406"/>
                        <a:pt x="827916" y="2134646"/>
                        <a:pt x="800724" y="2143232"/>
                      </a:cubicBezTo>
                      <a:cubicBezTo>
                        <a:pt x="776990" y="2150727"/>
                        <a:pt x="752359" y="2155821"/>
                        <a:pt x="729521" y="2165717"/>
                      </a:cubicBezTo>
                      <a:cubicBezTo>
                        <a:pt x="679782" y="2187271"/>
                        <a:pt x="563360" y="2251231"/>
                        <a:pt x="497174" y="2274396"/>
                      </a:cubicBezTo>
                      <a:cubicBezTo>
                        <a:pt x="427989" y="2298611"/>
                        <a:pt x="408768" y="2293449"/>
                        <a:pt x="332282" y="2304376"/>
                      </a:cubicBezTo>
                      <a:cubicBezTo>
                        <a:pt x="159587" y="2329047"/>
                        <a:pt x="414547" y="2313145"/>
                        <a:pt x="47469" y="2319367"/>
                      </a:cubicBezTo>
                      <a:cubicBezTo>
                        <a:pt x="234782" y="2331582"/>
                        <a:pt x="272597" y="2341083"/>
                        <a:pt x="482183" y="2315619"/>
                      </a:cubicBezTo>
                      <a:cubicBezTo>
                        <a:pt x="529403" y="2309882"/>
                        <a:pt x="574115" y="2290791"/>
                        <a:pt x="620842" y="2281891"/>
                      </a:cubicBezTo>
                      <a:cubicBezTo>
                        <a:pt x="647075" y="2276894"/>
                        <a:pt x="673678" y="2273552"/>
                        <a:pt x="699541" y="2266901"/>
                      </a:cubicBezTo>
                      <a:cubicBezTo>
                        <a:pt x="717526" y="2262276"/>
                        <a:pt x="733936" y="2252443"/>
                        <a:pt x="752006" y="2248163"/>
                      </a:cubicBezTo>
                      <a:cubicBezTo>
                        <a:pt x="781582" y="2241158"/>
                        <a:pt x="812074" y="2238774"/>
                        <a:pt x="841947" y="2233173"/>
                      </a:cubicBezTo>
                      <a:cubicBezTo>
                        <a:pt x="852072" y="2231275"/>
                        <a:pt x="861934" y="2228176"/>
                        <a:pt x="871928" y="2225678"/>
                      </a:cubicBezTo>
                      <a:cubicBezTo>
                        <a:pt x="902123" y="2210581"/>
                        <a:pt x="879491" y="2219540"/>
                        <a:pt x="935636" y="2214436"/>
                      </a:cubicBezTo>
                      <a:cubicBezTo>
                        <a:pt x="989535" y="2209536"/>
                        <a:pt x="958317" y="2210806"/>
                        <a:pt x="1029324" y="2199445"/>
                      </a:cubicBezTo>
                      <a:cubicBezTo>
                        <a:pt x="1071714" y="2192663"/>
                        <a:pt x="1114259" y="2186887"/>
                        <a:pt x="1156741" y="2180708"/>
                      </a:cubicBezTo>
                      <a:cubicBezTo>
                        <a:pt x="1182964" y="2176894"/>
                        <a:pt x="1209135" y="2172673"/>
                        <a:pt x="1235439" y="2169465"/>
                      </a:cubicBezTo>
                      <a:lnTo>
                        <a:pt x="1456544" y="2143232"/>
                      </a:lnTo>
                      <a:cubicBezTo>
                        <a:pt x="1513570" y="2128025"/>
                        <a:pt x="1502810" y="2129276"/>
                        <a:pt x="1553980" y="2120747"/>
                      </a:cubicBezTo>
                      <a:cubicBezTo>
                        <a:pt x="1562693" y="2119295"/>
                        <a:pt x="1571398" y="2117568"/>
                        <a:pt x="1580213" y="2116999"/>
                      </a:cubicBezTo>
                      <a:cubicBezTo>
                        <a:pt x="1610157" y="2115067"/>
                        <a:pt x="1640174" y="2114501"/>
                        <a:pt x="1670154" y="2113252"/>
                      </a:cubicBezTo>
                      <a:cubicBezTo>
                        <a:pt x="1670267" y="2113238"/>
                        <a:pt x="1674842" y="2112525"/>
                        <a:pt x="1681566" y="2111640"/>
                      </a:cubicBezTo>
                      <a:lnTo>
                        <a:pt x="1695458" y="2110128"/>
                      </a:lnTo>
                      <a:lnTo>
                        <a:pt x="1695458" y="2152107"/>
                      </a:lnTo>
                      <a:lnTo>
                        <a:pt x="1677649" y="2161970"/>
                      </a:lnTo>
                      <a:cubicBezTo>
                        <a:pt x="1634965" y="2180849"/>
                        <a:pt x="1588102" y="2188470"/>
                        <a:pt x="1542738" y="2199445"/>
                      </a:cubicBezTo>
                      <a:cubicBezTo>
                        <a:pt x="1458023" y="2219940"/>
                        <a:pt x="1458701" y="2217345"/>
                        <a:pt x="1385341" y="2221931"/>
                      </a:cubicBezTo>
                      <a:lnTo>
                        <a:pt x="1329128" y="2229426"/>
                      </a:lnTo>
                      <a:cubicBezTo>
                        <a:pt x="1307911" y="2232078"/>
                        <a:pt x="1286530" y="2233516"/>
                        <a:pt x="1265420" y="2236921"/>
                      </a:cubicBezTo>
                      <a:cubicBezTo>
                        <a:pt x="1247763" y="2239769"/>
                        <a:pt x="1230551" y="2244964"/>
                        <a:pt x="1212954" y="2248163"/>
                      </a:cubicBezTo>
                      <a:cubicBezTo>
                        <a:pt x="1199972" y="2250523"/>
                        <a:pt x="1156277" y="2254580"/>
                        <a:pt x="1145498" y="2255658"/>
                      </a:cubicBezTo>
                      <a:lnTo>
                        <a:pt x="1096780" y="2266901"/>
                      </a:lnTo>
                      <a:cubicBezTo>
                        <a:pt x="1087957" y="2269107"/>
                        <a:pt x="1079334" y="2272053"/>
                        <a:pt x="1070547" y="2274396"/>
                      </a:cubicBezTo>
                      <a:cubicBezTo>
                        <a:pt x="1060594" y="2277050"/>
                        <a:pt x="1050560" y="2279393"/>
                        <a:pt x="1040567" y="2281891"/>
                      </a:cubicBezTo>
                      <a:cubicBezTo>
                        <a:pt x="1093033" y="2289386"/>
                        <a:pt x="1145032" y="2301729"/>
                        <a:pt x="1197964" y="2304376"/>
                      </a:cubicBezTo>
                      <a:cubicBezTo>
                        <a:pt x="1417926" y="2315374"/>
                        <a:pt x="1359080" y="2300897"/>
                        <a:pt x="1520252" y="2289386"/>
                      </a:cubicBezTo>
                      <a:cubicBezTo>
                        <a:pt x="1602648" y="2283501"/>
                        <a:pt x="1555200" y="2286369"/>
                        <a:pt x="1662659" y="2281891"/>
                      </a:cubicBezTo>
                      <a:lnTo>
                        <a:pt x="1695458" y="2277831"/>
                      </a:lnTo>
                      <a:lnTo>
                        <a:pt x="1695458" y="2328939"/>
                      </a:lnTo>
                      <a:lnTo>
                        <a:pt x="1663807" y="2343000"/>
                      </a:lnTo>
                      <a:cubicBezTo>
                        <a:pt x="1624010" y="2360572"/>
                        <a:pt x="1577203" y="2380629"/>
                        <a:pt x="1553980" y="2386822"/>
                      </a:cubicBezTo>
                      <a:cubicBezTo>
                        <a:pt x="1535242" y="2391819"/>
                        <a:pt x="1516119" y="2395546"/>
                        <a:pt x="1497767" y="2401813"/>
                      </a:cubicBezTo>
                      <a:cubicBezTo>
                        <a:pt x="1464836" y="2413058"/>
                        <a:pt x="1433514" y="2428809"/>
                        <a:pt x="1400331" y="2439288"/>
                      </a:cubicBezTo>
                      <a:cubicBezTo>
                        <a:pt x="1376597" y="2446783"/>
                        <a:pt x="1352400" y="2452946"/>
                        <a:pt x="1329128" y="2461773"/>
                      </a:cubicBezTo>
                      <a:cubicBezTo>
                        <a:pt x="1293770" y="2475185"/>
                        <a:pt x="1281331" y="2480729"/>
                        <a:pt x="1279906" y="2482318"/>
                      </a:cubicBezTo>
                      <a:lnTo>
                        <a:pt x="1296617" y="2479161"/>
                      </a:lnTo>
                      <a:lnTo>
                        <a:pt x="1308252" y="2475702"/>
                      </a:lnTo>
                      <a:cubicBezTo>
                        <a:pt x="1313254" y="2474278"/>
                        <a:pt x="1305454" y="2476727"/>
                        <a:pt x="1296761" y="2479134"/>
                      </a:cubicBezTo>
                      <a:lnTo>
                        <a:pt x="1296617" y="2479161"/>
                      </a:lnTo>
                      <a:lnTo>
                        <a:pt x="1289659" y="2481230"/>
                      </a:lnTo>
                      <a:cubicBezTo>
                        <a:pt x="1279269" y="2484367"/>
                        <a:pt x="1264190" y="2488961"/>
                        <a:pt x="1242934" y="2495501"/>
                      </a:cubicBezTo>
                      <a:cubicBezTo>
                        <a:pt x="1210461" y="2544212"/>
                        <a:pt x="1224071" y="2516921"/>
                        <a:pt x="1374098" y="2510491"/>
                      </a:cubicBezTo>
                      <a:cubicBezTo>
                        <a:pt x="1429009" y="2508138"/>
                        <a:pt x="1522930" y="2493826"/>
                        <a:pt x="1580213" y="2476763"/>
                      </a:cubicBezTo>
                      <a:cubicBezTo>
                        <a:pt x="1612023" y="2467288"/>
                        <a:pt x="1643085" y="2455365"/>
                        <a:pt x="1673902" y="2443036"/>
                      </a:cubicBezTo>
                      <a:cubicBezTo>
                        <a:pt x="1680148" y="2440537"/>
                        <a:pt x="1686257" y="2437667"/>
                        <a:pt x="1692639" y="2435540"/>
                      </a:cubicBezTo>
                      <a:lnTo>
                        <a:pt x="1695458" y="2434701"/>
                      </a:lnTo>
                      <a:lnTo>
                        <a:pt x="1695458" y="2459803"/>
                      </a:lnTo>
                      <a:lnTo>
                        <a:pt x="1688892" y="2461773"/>
                      </a:lnTo>
                      <a:cubicBezTo>
                        <a:pt x="1600569" y="2498961"/>
                        <a:pt x="1732687" y="2466723"/>
                        <a:pt x="1576465" y="2495501"/>
                      </a:cubicBezTo>
                      <a:lnTo>
                        <a:pt x="1512757" y="2506744"/>
                      </a:lnTo>
                      <a:cubicBezTo>
                        <a:pt x="1479029" y="2521734"/>
                        <a:pt x="1446589" y="2540042"/>
                        <a:pt x="1411574" y="2551714"/>
                      </a:cubicBezTo>
                      <a:cubicBezTo>
                        <a:pt x="1359108" y="2569203"/>
                        <a:pt x="1308011" y="2591513"/>
                        <a:pt x="1254177" y="2604180"/>
                      </a:cubicBezTo>
                      <a:lnTo>
                        <a:pt x="1190469" y="2619170"/>
                      </a:lnTo>
                      <a:cubicBezTo>
                        <a:pt x="1166659" y="2625122"/>
                        <a:pt x="1143140" y="2632223"/>
                        <a:pt x="1119265" y="2637908"/>
                      </a:cubicBezTo>
                      <a:cubicBezTo>
                        <a:pt x="1090663" y="2644718"/>
                        <a:pt x="1061735" y="2650094"/>
                        <a:pt x="1033072" y="2656645"/>
                      </a:cubicBezTo>
                      <a:cubicBezTo>
                        <a:pt x="1018009" y="2660088"/>
                        <a:pt x="1003169" y="2664464"/>
                        <a:pt x="988102" y="2667888"/>
                      </a:cubicBezTo>
                      <a:cubicBezTo>
                        <a:pt x="975679" y="2670711"/>
                        <a:pt x="937897" y="2675892"/>
                        <a:pt x="950626" y="2675383"/>
                      </a:cubicBezTo>
                      <a:cubicBezTo>
                        <a:pt x="1111849" y="2668934"/>
                        <a:pt x="1110820" y="2668476"/>
                        <a:pt x="1205459" y="2656645"/>
                      </a:cubicBezTo>
                      <a:cubicBezTo>
                        <a:pt x="1225446" y="2650399"/>
                        <a:pt x="1245642" y="2644787"/>
                        <a:pt x="1265420" y="2637908"/>
                      </a:cubicBezTo>
                      <a:cubicBezTo>
                        <a:pt x="1274405" y="2634783"/>
                        <a:pt x="1282525" y="2629349"/>
                        <a:pt x="1291652" y="2626665"/>
                      </a:cubicBezTo>
                      <a:cubicBezTo>
                        <a:pt x="1303874" y="2623070"/>
                        <a:pt x="1316594" y="2621449"/>
                        <a:pt x="1329128" y="2619170"/>
                      </a:cubicBezTo>
                      <a:cubicBezTo>
                        <a:pt x="1385633" y="2608896"/>
                        <a:pt x="1369761" y="2611946"/>
                        <a:pt x="1434059" y="2607927"/>
                      </a:cubicBezTo>
                      <a:lnTo>
                        <a:pt x="1557728" y="2611675"/>
                      </a:lnTo>
                      <a:cubicBezTo>
                        <a:pt x="1626897" y="2614335"/>
                        <a:pt x="1609437" y="2612637"/>
                        <a:pt x="1655164" y="2619170"/>
                      </a:cubicBezTo>
                      <a:cubicBezTo>
                        <a:pt x="1663284" y="2618546"/>
                        <a:pt x="1671523" y="2618637"/>
                        <a:pt x="1679703" y="2618369"/>
                      </a:cubicBezTo>
                      <a:lnTo>
                        <a:pt x="1695458" y="2616449"/>
                      </a:lnTo>
                      <a:lnTo>
                        <a:pt x="1695458" y="3500646"/>
                      </a:lnTo>
                      <a:lnTo>
                        <a:pt x="2166799" y="3500646"/>
                      </a:lnTo>
                      <a:lnTo>
                        <a:pt x="2166799" y="2545866"/>
                      </a:lnTo>
                      <a:lnTo>
                        <a:pt x="2182554" y="2547786"/>
                      </a:lnTo>
                      <a:cubicBezTo>
                        <a:pt x="2190733" y="2548054"/>
                        <a:pt x="2198973" y="2547963"/>
                        <a:pt x="2207092" y="2548587"/>
                      </a:cubicBezTo>
                      <a:cubicBezTo>
                        <a:pt x="2252819" y="2542054"/>
                        <a:pt x="2235359" y="2543752"/>
                        <a:pt x="2304528" y="2541092"/>
                      </a:cubicBezTo>
                      <a:lnTo>
                        <a:pt x="2428197" y="2537344"/>
                      </a:lnTo>
                      <a:cubicBezTo>
                        <a:pt x="2492495" y="2541363"/>
                        <a:pt x="2476623" y="2538313"/>
                        <a:pt x="2533128" y="2548587"/>
                      </a:cubicBezTo>
                      <a:cubicBezTo>
                        <a:pt x="2545662" y="2550866"/>
                        <a:pt x="2558382" y="2552487"/>
                        <a:pt x="2570604" y="2556082"/>
                      </a:cubicBezTo>
                      <a:cubicBezTo>
                        <a:pt x="2579731" y="2558766"/>
                        <a:pt x="2587851" y="2564200"/>
                        <a:pt x="2596836" y="2567325"/>
                      </a:cubicBezTo>
                      <a:cubicBezTo>
                        <a:pt x="2616614" y="2574204"/>
                        <a:pt x="2636810" y="2579816"/>
                        <a:pt x="2656797" y="2586062"/>
                      </a:cubicBezTo>
                      <a:cubicBezTo>
                        <a:pt x="2751436" y="2597893"/>
                        <a:pt x="2750407" y="2598351"/>
                        <a:pt x="2911630" y="2604800"/>
                      </a:cubicBezTo>
                      <a:cubicBezTo>
                        <a:pt x="2924359" y="2605309"/>
                        <a:pt x="2886577" y="2600128"/>
                        <a:pt x="2874154" y="2597305"/>
                      </a:cubicBezTo>
                      <a:cubicBezTo>
                        <a:pt x="2859087" y="2593881"/>
                        <a:pt x="2844247" y="2589505"/>
                        <a:pt x="2829184" y="2586062"/>
                      </a:cubicBezTo>
                      <a:cubicBezTo>
                        <a:pt x="2800521" y="2579511"/>
                        <a:pt x="2771593" y="2574135"/>
                        <a:pt x="2742991" y="2567325"/>
                      </a:cubicBezTo>
                      <a:cubicBezTo>
                        <a:pt x="2719116" y="2561640"/>
                        <a:pt x="2695597" y="2554539"/>
                        <a:pt x="2671787" y="2548587"/>
                      </a:cubicBezTo>
                      <a:lnTo>
                        <a:pt x="2608079" y="2533597"/>
                      </a:lnTo>
                      <a:cubicBezTo>
                        <a:pt x="2554245" y="2520930"/>
                        <a:pt x="2503148" y="2498620"/>
                        <a:pt x="2450682" y="2481131"/>
                      </a:cubicBezTo>
                      <a:cubicBezTo>
                        <a:pt x="2415667" y="2469459"/>
                        <a:pt x="2383227" y="2451151"/>
                        <a:pt x="2349499" y="2436161"/>
                      </a:cubicBezTo>
                      <a:lnTo>
                        <a:pt x="2285791" y="2424918"/>
                      </a:lnTo>
                      <a:cubicBezTo>
                        <a:pt x="2129569" y="2396140"/>
                        <a:pt x="2261687" y="2428378"/>
                        <a:pt x="2173364" y="2391190"/>
                      </a:cubicBezTo>
                      <a:lnTo>
                        <a:pt x="2166799" y="2389221"/>
                      </a:lnTo>
                      <a:lnTo>
                        <a:pt x="2166799" y="2364118"/>
                      </a:lnTo>
                      <a:lnTo>
                        <a:pt x="2169617" y="2364957"/>
                      </a:lnTo>
                      <a:cubicBezTo>
                        <a:pt x="2175999" y="2367084"/>
                        <a:pt x="2182108" y="2369954"/>
                        <a:pt x="2188354" y="2372453"/>
                      </a:cubicBezTo>
                      <a:cubicBezTo>
                        <a:pt x="2219171" y="2384782"/>
                        <a:pt x="2250233" y="2396705"/>
                        <a:pt x="2282043" y="2406180"/>
                      </a:cubicBezTo>
                      <a:cubicBezTo>
                        <a:pt x="2339326" y="2423243"/>
                        <a:pt x="2433247" y="2437555"/>
                        <a:pt x="2488158" y="2439908"/>
                      </a:cubicBezTo>
                      <a:cubicBezTo>
                        <a:pt x="2638185" y="2446338"/>
                        <a:pt x="2651795" y="2473629"/>
                        <a:pt x="2619322" y="2424918"/>
                      </a:cubicBezTo>
                      <a:cubicBezTo>
                        <a:pt x="2598066" y="2418378"/>
                        <a:pt x="2582988" y="2413784"/>
                        <a:pt x="2572597" y="2410647"/>
                      </a:cubicBezTo>
                      <a:lnTo>
                        <a:pt x="2565639" y="2408578"/>
                      </a:lnTo>
                      <a:lnTo>
                        <a:pt x="2565495" y="2408551"/>
                      </a:lnTo>
                      <a:cubicBezTo>
                        <a:pt x="2556802" y="2406144"/>
                        <a:pt x="2549003" y="2403695"/>
                        <a:pt x="2554005" y="2405119"/>
                      </a:cubicBezTo>
                      <a:lnTo>
                        <a:pt x="2565639" y="2408578"/>
                      </a:lnTo>
                      <a:lnTo>
                        <a:pt x="2582351" y="2411735"/>
                      </a:lnTo>
                      <a:cubicBezTo>
                        <a:pt x="2580925" y="2410146"/>
                        <a:pt x="2568487" y="2404602"/>
                        <a:pt x="2533128" y="2391190"/>
                      </a:cubicBezTo>
                      <a:cubicBezTo>
                        <a:pt x="2509856" y="2382363"/>
                        <a:pt x="2485659" y="2376200"/>
                        <a:pt x="2461925" y="2368705"/>
                      </a:cubicBezTo>
                      <a:cubicBezTo>
                        <a:pt x="2428742" y="2358226"/>
                        <a:pt x="2397420" y="2342475"/>
                        <a:pt x="2364489" y="2331230"/>
                      </a:cubicBezTo>
                      <a:cubicBezTo>
                        <a:pt x="2346137" y="2324963"/>
                        <a:pt x="2327014" y="2321236"/>
                        <a:pt x="2308276" y="2316239"/>
                      </a:cubicBezTo>
                      <a:cubicBezTo>
                        <a:pt x="2285053" y="2310046"/>
                        <a:pt x="2238246" y="2289989"/>
                        <a:pt x="2198449" y="2272417"/>
                      </a:cubicBezTo>
                      <a:lnTo>
                        <a:pt x="2166799" y="2258357"/>
                      </a:lnTo>
                      <a:lnTo>
                        <a:pt x="2166799" y="2207248"/>
                      </a:lnTo>
                      <a:lnTo>
                        <a:pt x="2199597" y="2211308"/>
                      </a:lnTo>
                      <a:cubicBezTo>
                        <a:pt x="2307056" y="2215786"/>
                        <a:pt x="2259608" y="2212918"/>
                        <a:pt x="2342004" y="2218803"/>
                      </a:cubicBezTo>
                      <a:cubicBezTo>
                        <a:pt x="2503176" y="2230314"/>
                        <a:pt x="2444330" y="2244791"/>
                        <a:pt x="2664292" y="2233793"/>
                      </a:cubicBezTo>
                      <a:cubicBezTo>
                        <a:pt x="2717224" y="2231146"/>
                        <a:pt x="2769223" y="2218803"/>
                        <a:pt x="2821689" y="2211308"/>
                      </a:cubicBezTo>
                      <a:cubicBezTo>
                        <a:pt x="2811696" y="2208810"/>
                        <a:pt x="2801662" y="2206467"/>
                        <a:pt x="2791709" y="2203813"/>
                      </a:cubicBezTo>
                      <a:cubicBezTo>
                        <a:pt x="2782922" y="2201470"/>
                        <a:pt x="2774299" y="2198524"/>
                        <a:pt x="2765476" y="2196318"/>
                      </a:cubicBezTo>
                      <a:lnTo>
                        <a:pt x="2716758" y="2185075"/>
                      </a:lnTo>
                      <a:cubicBezTo>
                        <a:pt x="2705979" y="2183997"/>
                        <a:pt x="2662284" y="2179940"/>
                        <a:pt x="2649302" y="2177580"/>
                      </a:cubicBezTo>
                      <a:cubicBezTo>
                        <a:pt x="2631705" y="2174381"/>
                        <a:pt x="2614493" y="2169186"/>
                        <a:pt x="2596836" y="2166338"/>
                      </a:cubicBezTo>
                      <a:cubicBezTo>
                        <a:pt x="2575726" y="2162933"/>
                        <a:pt x="2554345" y="2161495"/>
                        <a:pt x="2533128" y="2158843"/>
                      </a:cubicBezTo>
                      <a:lnTo>
                        <a:pt x="2476915" y="2151348"/>
                      </a:lnTo>
                      <a:cubicBezTo>
                        <a:pt x="2403555" y="2146762"/>
                        <a:pt x="2404233" y="2149357"/>
                        <a:pt x="2319518" y="2128862"/>
                      </a:cubicBezTo>
                      <a:cubicBezTo>
                        <a:pt x="2274154" y="2117887"/>
                        <a:pt x="2227291" y="2110266"/>
                        <a:pt x="2184607" y="2091387"/>
                      </a:cubicBezTo>
                      <a:lnTo>
                        <a:pt x="2166799" y="2081524"/>
                      </a:lnTo>
                      <a:lnTo>
                        <a:pt x="2166799" y="2042408"/>
                      </a:lnTo>
                      <a:lnTo>
                        <a:pt x="2168368" y="2045724"/>
                      </a:lnTo>
                      <a:cubicBezTo>
                        <a:pt x="2179663" y="2053938"/>
                        <a:pt x="2192329" y="2060936"/>
                        <a:pt x="2205843" y="2064461"/>
                      </a:cubicBezTo>
                      <a:cubicBezTo>
                        <a:pt x="2221603" y="2068572"/>
                        <a:pt x="2238322" y="2066960"/>
                        <a:pt x="2254561" y="2068209"/>
                      </a:cubicBezTo>
                      <a:cubicBezTo>
                        <a:pt x="2300288" y="2061676"/>
                        <a:pt x="2282828" y="2063374"/>
                        <a:pt x="2351997" y="2060714"/>
                      </a:cubicBezTo>
                      <a:lnTo>
                        <a:pt x="2360616" y="2060453"/>
                      </a:lnTo>
                      <a:lnTo>
                        <a:pt x="2373626" y="2063920"/>
                      </a:lnTo>
                      <a:cubicBezTo>
                        <a:pt x="2381436" y="2066074"/>
                        <a:pt x="2391456" y="2068847"/>
                        <a:pt x="2405712" y="2072649"/>
                      </a:cubicBezTo>
                      <a:lnTo>
                        <a:pt x="2626817" y="2098882"/>
                      </a:lnTo>
                      <a:cubicBezTo>
                        <a:pt x="2653121" y="2102090"/>
                        <a:pt x="2679292" y="2106311"/>
                        <a:pt x="2705515" y="2110125"/>
                      </a:cubicBezTo>
                      <a:cubicBezTo>
                        <a:pt x="2747997" y="2116304"/>
                        <a:pt x="2790542" y="2122080"/>
                        <a:pt x="2832932" y="2128862"/>
                      </a:cubicBezTo>
                      <a:cubicBezTo>
                        <a:pt x="2903939" y="2140223"/>
                        <a:pt x="2872721" y="2138953"/>
                        <a:pt x="2926620" y="2143853"/>
                      </a:cubicBezTo>
                      <a:cubicBezTo>
                        <a:pt x="2982765" y="2148957"/>
                        <a:pt x="2960133" y="2139998"/>
                        <a:pt x="2990328" y="2155095"/>
                      </a:cubicBezTo>
                      <a:cubicBezTo>
                        <a:pt x="3000322" y="2157593"/>
                        <a:pt x="3010184" y="2160692"/>
                        <a:pt x="3020309" y="2162590"/>
                      </a:cubicBezTo>
                      <a:cubicBezTo>
                        <a:pt x="3050182" y="2168191"/>
                        <a:pt x="3080674" y="2170575"/>
                        <a:pt x="3110250" y="2177580"/>
                      </a:cubicBezTo>
                      <a:cubicBezTo>
                        <a:pt x="3128320" y="2181860"/>
                        <a:pt x="3144730" y="2191693"/>
                        <a:pt x="3162715" y="2196318"/>
                      </a:cubicBezTo>
                      <a:cubicBezTo>
                        <a:pt x="3188578" y="2202969"/>
                        <a:pt x="3215181" y="2206311"/>
                        <a:pt x="3241414" y="2211308"/>
                      </a:cubicBezTo>
                      <a:cubicBezTo>
                        <a:pt x="3288141" y="2220208"/>
                        <a:pt x="3332853" y="2239299"/>
                        <a:pt x="3380073" y="2245036"/>
                      </a:cubicBezTo>
                      <a:cubicBezTo>
                        <a:pt x="3589659" y="2270500"/>
                        <a:pt x="3627474" y="2260999"/>
                        <a:pt x="3814787" y="2248784"/>
                      </a:cubicBezTo>
                      <a:cubicBezTo>
                        <a:pt x="3447709" y="2242562"/>
                        <a:pt x="3702669" y="2258464"/>
                        <a:pt x="3529974" y="2233793"/>
                      </a:cubicBezTo>
                      <a:cubicBezTo>
                        <a:pt x="3453488" y="2222866"/>
                        <a:pt x="3434267" y="2228028"/>
                        <a:pt x="3365082" y="2203813"/>
                      </a:cubicBezTo>
                      <a:cubicBezTo>
                        <a:pt x="3298896" y="2180648"/>
                        <a:pt x="3182474" y="2116688"/>
                        <a:pt x="3132735" y="2095134"/>
                      </a:cubicBezTo>
                      <a:cubicBezTo>
                        <a:pt x="3109897" y="2085238"/>
                        <a:pt x="3085266" y="2080144"/>
                        <a:pt x="3061532" y="2072649"/>
                      </a:cubicBezTo>
                      <a:cubicBezTo>
                        <a:pt x="3007149" y="2055476"/>
                        <a:pt x="2922965" y="2039690"/>
                        <a:pt x="2862912" y="2027679"/>
                      </a:cubicBezTo>
                      <a:cubicBezTo>
                        <a:pt x="2821689" y="2023931"/>
                        <a:pt x="2780502" y="2019763"/>
                        <a:pt x="2739243" y="2016436"/>
                      </a:cubicBezTo>
                      <a:cubicBezTo>
                        <a:pt x="2703048" y="2013517"/>
                        <a:pt x="2666681" y="2012703"/>
                        <a:pt x="2630564" y="2008941"/>
                      </a:cubicBezTo>
                      <a:cubicBezTo>
                        <a:pt x="2606665" y="2006451"/>
                        <a:pt x="2583148" y="2001096"/>
                        <a:pt x="2559361" y="1997698"/>
                      </a:cubicBezTo>
                      <a:cubicBezTo>
                        <a:pt x="2530678" y="1993600"/>
                        <a:pt x="2501603" y="1992019"/>
                        <a:pt x="2473168" y="1986456"/>
                      </a:cubicBezTo>
                      <a:lnTo>
                        <a:pt x="2447964" y="1979881"/>
                      </a:lnTo>
                      <a:lnTo>
                        <a:pt x="2447077" y="1979512"/>
                      </a:lnTo>
                      <a:lnTo>
                        <a:pt x="2404539" y="1959368"/>
                      </a:lnTo>
                      <a:lnTo>
                        <a:pt x="2428197" y="1967718"/>
                      </a:lnTo>
                      <a:cubicBezTo>
                        <a:pt x="2441626" y="1971555"/>
                        <a:pt x="2455786" y="1972183"/>
                        <a:pt x="2469420" y="1975213"/>
                      </a:cubicBezTo>
                      <a:cubicBezTo>
                        <a:pt x="2478298" y="1977186"/>
                        <a:pt x="2486909" y="1980210"/>
                        <a:pt x="2495653" y="1982708"/>
                      </a:cubicBezTo>
                      <a:cubicBezTo>
                        <a:pt x="2629493" y="1991632"/>
                        <a:pt x="2462887" y="1979901"/>
                        <a:pt x="2626817" y="1993951"/>
                      </a:cubicBezTo>
                      <a:cubicBezTo>
                        <a:pt x="2645528" y="1995555"/>
                        <a:pt x="2664344" y="1995829"/>
                        <a:pt x="2683030" y="1997698"/>
                      </a:cubicBezTo>
                      <a:cubicBezTo>
                        <a:pt x="2754048" y="2004799"/>
                        <a:pt x="2717673" y="2002647"/>
                        <a:pt x="2761728" y="2008941"/>
                      </a:cubicBezTo>
                      <a:cubicBezTo>
                        <a:pt x="2806794" y="2015380"/>
                        <a:pt x="2781435" y="2010621"/>
                        <a:pt x="2836679" y="2016436"/>
                      </a:cubicBezTo>
                      <a:cubicBezTo>
                        <a:pt x="2845464" y="2017361"/>
                        <a:pt x="2854230" y="2018556"/>
                        <a:pt x="2862912" y="2020184"/>
                      </a:cubicBezTo>
                      <a:cubicBezTo>
                        <a:pt x="2874232" y="2022306"/>
                        <a:pt x="2885168" y="2026667"/>
                        <a:pt x="2896640" y="2027679"/>
                      </a:cubicBezTo>
                      <a:cubicBezTo>
                        <a:pt x="2927773" y="2030426"/>
                        <a:pt x="2959099" y="2030177"/>
                        <a:pt x="2990328" y="2031426"/>
                      </a:cubicBezTo>
                      <a:cubicBezTo>
                        <a:pt x="3147923" y="2023739"/>
                        <a:pt x="3095330" y="2040144"/>
                        <a:pt x="3155220" y="2020184"/>
                      </a:cubicBezTo>
                      <a:cubicBezTo>
                        <a:pt x="3164992" y="2016927"/>
                        <a:pt x="3135233" y="2015187"/>
                        <a:pt x="3125240" y="2012689"/>
                      </a:cubicBezTo>
                      <a:cubicBezTo>
                        <a:pt x="3095260" y="2011440"/>
                        <a:pt x="3065259" y="2010606"/>
                        <a:pt x="3035299" y="2008941"/>
                      </a:cubicBezTo>
                      <a:cubicBezTo>
                        <a:pt x="3005558" y="2007288"/>
                        <a:pt x="2957983" y="2002013"/>
                        <a:pt x="2930368" y="1997698"/>
                      </a:cubicBezTo>
                      <a:cubicBezTo>
                        <a:pt x="2823834" y="1981053"/>
                        <a:pt x="2908598" y="1993164"/>
                        <a:pt x="2840427" y="1978961"/>
                      </a:cubicBezTo>
                      <a:cubicBezTo>
                        <a:pt x="2820519" y="1974813"/>
                        <a:pt x="2800485" y="1971293"/>
                        <a:pt x="2780466" y="1967718"/>
                      </a:cubicBezTo>
                      <a:cubicBezTo>
                        <a:pt x="2751410" y="1962529"/>
                        <a:pt x="2726523" y="1959515"/>
                        <a:pt x="2698020" y="1952728"/>
                      </a:cubicBezTo>
                      <a:cubicBezTo>
                        <a:pt x="2684164" y="1949429"/>
                        <a:pt x="2670538" y="1945233"/>
                        <a:pt x="2656797" y="1941485"/>
                      </a:cubicBezTo>
                      <a:lnTo>
                        <a:pt x="2656783" y="1941483"/>
                      </a:lnTo>
                      <a:lnTo>
                        <a:pt x="2620066" y="1930269"/>
                      </a:lnTo>
                      <a:lnTo>
                        <a:pt x="2613108" y="1928200"/>
                      </a:lnTo>
                      <a:lnTo>
                        <a:pt x="2612964" y="1928173"/>
                      </a:lnTo>
                      <a:cubicBezTo>
                        <a:pt x="2604271" y="1925766"/>
                        <a:pt x="2596472" y="1923317"/>
                        <a:pt x="2601474" y="1924741"/>
                      </a:cubicBezTo>
                      <a:lnTo>
                        <a:pt x="2613108" y="1928200"/>
                      </a:lnTo>
                      <a:lnTo>
                        <a:pt x="2629820" y="1931357"/>
                      </a:lnTo>
                      <a:cubicBezTo>
                        <a:pt x="2628394" y="1929768"/>
                        <a:pt x="2615956" y="1924224"/>
                        <a:pt x="2580597" y="1910812"/>
                      </a:cubicBezTo>
                      <a:cubicBezTo>
                        <a:pt x="2557325" y="1901985"/>
                        <a:pt x="2533128" y="1895822"/>
                        <a:pt x="2509394" y="1888327"/>
                      </a:cubicBezTo>
                      <a:cubicBezTo>
                        <a:pt x="2476211" y="1877848"/>
                        <a:pt x="2444889" y="1862097"/>
                        <a:pt x="2411958" y="1850852"/>
                      </a:cubicBezTo>
                      <a:cubicBezTo>
                        <a:pt x="2393606" y="1844585"/>
                        <a:pt x="2374483" y="1840858"/>
                        <a:pt x="2355745" y="1835861"/>
                      </a:cubicBezTo>
                      <a:cubicBezTo>
                        <a:pt x="2340263" y="1831732"/>
                        <a:pt x="2314299" y="1821442"/>
                        <a:pt x="2286919" y="1809834"/>
                      </a:cubicBezTo>
                      <a:lnTo>
                        <a:pt x="2243532" y="1790795"/>
                      </a:lnTo>
                      <a:lnTo>
                        <a:pt x="2263417" y="1785006"/>
                      </a:lnTo>
                      <a:cubicBezTo>
                        <a:pt x="2273363" y="1782039"/>
                        <a:pt x="2254849" y="1787549"/>
                        <a:pt x="2293286" y="1780341"/>
                      </a:cubicBezTo>
                      <a:cubicBezTo>
                        <a:pt x="2361152" y="1767616"/>
                        <a:pt x="2290818" y="1777575"/>
                        <a:pt x="2368236" y="1765351"/>
                      </a:cubicBezTo>
                      <a:cubicBezTo>
                        <a:pt x="2401915" y="1760033"/>
                        <a:pt x="2436688" y="1759908"/>
                        <a:pt x="2469420" y="1750361"/>
                      </a:cubicBezTo>
                      <a:lnTo>
                        <a:pt x="2467323" y="1746025"/>
                      </a:lnTo>
                      <a:lnTo>
                        <a:pt x="2476893" y="1747170"/>
                      </a:lnTo>
                      <a:cubicBezTo>
                        <a:pt x="2538648" y="1755582"/>
                        <a:pt x="2546790" y="1761663"/>
                        <a:pt x="2711761" y="1753415"/>
                      </a:cubicBezTo>
                      <a:cubicBezTo>
                        <a:pt x="2764693" y="1750768"/>
                        <a:pt x="2816692" y="1738425"/>
                        <a:pt x="2869158" y="1730930"/>
                      </a:cubicBezTo>
                      <a:cubicBezTo>
                        <a:pt x="2859165" y="1728432"/>
                        <a:pt x="2849131" y="1726089"/>
                        <a:pt x="2839178" y="1723435"/>
                      </a:cubicBezTo>
                      <a:cubicBezTo>
                        <a:pt x="2830391" y="1721092"/>
                        <a:pt x="2821768" y="1718146"/>
                        <a:pt x="2812945" y="1715940"/>
                      </a:cubicBezTo>
                      <a:lnTo>
                        <a:pt x="2764227" y="1704697"/>
                      </a:lnTo>
                      <a:cubicBezTo>
                        <a:pt x="2753448" y="1703619"/>
                        <a:pt x="2709753" y="1699562"/>
                        <a:pt x="2696771" y="1697202"/>
                      </a:cubicBezTo>
                      <a:cubicBezTo>
                        <a:pt x="2679174" y="1694003"/>
                        <a:pt x="2661962" y="1688808"/>
                        <a:pt x="2644305" y="1685960"/>
                      </a:cubicBezTo>
                      <a:cubicBezTo>
                        <a:pt x="2623195" y="1682555"/>
                        <a:pt x="2601814" y="1681117"/>
                        <a:pt x="2580597" y="1678465"/>
                      </a:cubicBezTo>
                      <a:lnTo>
                        <a:pt x="2524384" y="1670970"/>
                      </a:lnTo>
                      <a:cubicBezTo>
                        <a:pt x="2451024" y="1666384"/>
                        <a:pt x="2451702" y="1668979"/>
                        <a:pt x="2366987" y="1648484"/>
                      </a:cubicBezTo>
                      <a:cubicBezTo>
                        <a:pt x="2321623" y="1637509"/>
                        <a:pt x="2274760" y="1629888"/>
                        <a:pt x="2232076" y="1611009"/>
                      </a:cubicBezTo>
                      <a:cubicBezTo>
                        <a:pt x="2208524" y="1600592"/>
                        <a:pt x="2182259" y="1585961"/>
                        <a:pt x="2172115" y="1562291"/>
                      </a:cubicBezTo>
                      <a:cubicBezTo>
                        <a:pt x="2167275" y="1550998"/>
                        <a:pt x="2239119" y="1562234"/>
                        <a:pt x="2239571" y="1562291"/>
                      </a:cubicBezTo>
                      <a:cubicBezTo>
                        <a:pt x="2269551" y="1563540"/>
                        <a:pt x="2299568" y="1564106"/>
                        <a:pt x="2329512" y="1566038"/>
                      </a:cubicBezTo>
                      <a:cubicBezTo>
                        <a:pt x="2338327" y="1566607"/>
                        <a:pt x="2347032" y="1568334"/>
                        <a:pt x="2355745" y="1569786"/>
                      </a:cubicBezTo>
                      <a:cubicBezTo>
                        <a:pt x="2406915" y="1578315"/>
                        <a:pt x="2396155" y="1577064"/>
                        <a:pt x="2453181" y="1592271"/>
                      </a:cubicBezTo>
                      <a:lnTo>
                        <a:pt x="2674286" y="1618504"/>
                      </a:lnTo>
                      <a:cubicBezTo>
                        <a:pt x="2700590" y="1621712"/>
                        <a:pt x="2726761" y="1625933"/>
                        <a:pt x="2752984" y="1629747"/>
                      </a:cubicBezTo>
                      <a:cubicBezTo>
                        <a:pt x="2795466" y="1635926"/>
                        <a:pt x="2838011" y="1641702"/>
                        <a:pt x="2880401" y="1648484"/>
                      </a:cubicBezTo>
                      <a:cubicBezTo>
                        <a:pt x="2951408" y="1659845"/>
                        <a:pt x="2920190" y="1658575"/>
                        <a:pt x="2974089" y="1663475"/>
                      </a:cubicBezTo>
                      <a:cubicBezTo>
                        <a:pt x="3030234" y="1668579"/>
                        <a:pt x="3007602" y="1659620"/>
                        <a:pt x="3037797" y="1674717"/>
                      </a:cubicBezTo>
                      <a:cubicBezTo>
                        <a:pt x="3047791" y="1677215"/>
                        <a:pt x="3057653" y="1680314"/>
                        <a:pt x="3067778" y="1682212"/>
                      </a:cubicBezTo>
                      <a:cubicBezTo>
                        <a:pt x="3097651" y="1687813"/>
                        <a:pt x="3128143" y="1690197"/>
                        <a:pt x="3157719" y="1697202"/>
                      </a:cubicBezTo>
                      <a:cubicBezTo>
                        <a:pt x="3175789" y="1701482"/>
                        <a:pt x="3192199" y="1711315"/>
                        <a:pt x="3210184" y="1715940"/>
                      </a:cubicBezTo>
                      <a:cubicBezTo>
                        <a:pt x="3236047" y="1722591"/>
                        <a:pt x="3262650" y="1725933"/>
                        <a:pt x="3288883" y="1730930"/>
                      </a:cubicBezTo>
                      <a:cubicBezTo>
                        <a:pt x="3335610" y="1739830"/>
                        <a:pt x="3380322" y="1758921"/>
                        <a:pt x="3427542" y="1764658"/>
                      </a:cubicBezTo>
                      <a:cubicBezTo>
                        <a:pt x="3637128" y="1790122"/>
                        <a:pt x="3674943" y="1780621"/>
                        <a:pt x="3862256" y="1768406"/>
                      </a:cubicBezTo>
                      <a:cubicBezTo>
                        <a:pt x="3495178" y="1762184"/>
                        <a:pt x="3750138" y="1778086"/>
                        <a:pt x="3577443" y="1753415"/>
                      </a:cubicBezTo>
                      <a:cubicBezTo>
                        <a:pt x="3500957" y="1742488"/>
                        <a:pt x="3481736" y="1747650"/>
                        <a:pt x="3412551" y="1723435"/>
                      </a:cubicBezTo>
                      <a:cubicBezTo>
                        <a:pt x="3346365" y="1700270"/>
                        <a:pt x="3229943" y="1636310"/>
                        <a:pt x="3180204" y="1614756"/>
                      </a:cubicBezTo>
                      <a:cubicBezTo>
                        <a:pt x="3157366" y="1604860"/>
                        <a:pt x="3132735" y="1599766"/>
                        <a:pt x="3109001" y="1592271"/>
                      </a:cubicBezTo>
                      <a:cubicBezTo>
                        <a:pt x="3054618" y="1575098"/>
                        <a:pt x="2970434" y="1559312"/>
                        <a:pt x="2910381" y="1547301"/>
                      </a:cubicBezTo>
                      <a:cubicBezTo>
                        <a:pt x="2869158" y="1543553"/>
                        <a:pt x="2827971" y="1539385"/>
                        <a:pt x="2786712" y="1536058"/>
                      </a:cubicBezTo>
                      <a:cubicBezTo>
                        <a:pt x="2750517" y="1533139"/>
                        <a:pt x="2714150" y="1532325"/>
                        <a:pt x="2678033" y="1528563"/>
                      </a:cubicBezTo>
                      <a:cubicBezTo>
                        <a:pt x="2654134" y="1526073"/>
                        <a:pt x="2630617" y="1520718"/>
                        <a:pt x="2606830" y="1517320"/>
                      </a:cubicBezTo>
                      <a:cubicBezTo>
                        <a:pt x="2578147" y="1513222"/>
                        <a:pt x="2549072" y="1511641"/>
                        <a:pt x="2520637" y="1506078"/>
                      </a:cubicBezTo>
                      <a:cubicBezTo>
                        <a:pt x="2491497" y="1500377"/>
                        <a:pt x="2462770" y="1492496"/>
                        <a:pt x="2434443" y="1483593"/>
                      </a:cubicBezTo>
                      <a:cubicBezTo>
                        <a:pt x="2418951" y="1478724"/>
                        <a:pt x="2404463" y="1471101"/>
                        <a:pt x="2389473" y="1464855"/>
                      </a:cubicBezTo>
                      <a:cubicBezTo>
                        <a:pt x="2302168" y="1428477"/>
                        <a:pt x="2308185" y="1430610"/>
                        <a:pt x="2254561" y="1419884"/>
                      </a:cubicBezTo>
                      <a:cubicBezTo>
                        <a:pt x="2270800" y="1416137"/>
                        <a:pt x="2286613" y="1408642"/>
                        <a:pt x="2303279" y="1408642"/>
                      </a:cubicBezTo>
                      <a:cubicBezTo>
                        <a:pt x="2321196" y="1408642"/>
                        <a:pt x="2335204" y="1421342"/>
                        <a:pt x="2348250" y="1431127"/>
                      </a:cubicBezTo>
                      <a:cubicBezTo>
                        <a:pt x="2350834" y="1431773"/>
                        <a:pt x="2370808" y="1436361"/>
                        <a:pt x="2374483" y="1438622"/>
                      </a:cubicBezTo>
                      <a:cubicBezTo>
                        <a:pt x="2387469" y="1446613"/>
                        <a:pt x="2398219" y="1458240"/>
                        <a:pt x="2411958" y="1464855"/>
                      </a:cubicBezTo>
                      <a:cubicBezTo>
                        <a:pt x="2432248" y="1474624"/>
                        <a:pt x="2454013" y="1481153"/>
                        <a:pt x="2475666" y="1487340"/>
                      </a:cubicBezTo>
                      <a:cubicBezTo>
                        <a:pt x="2489095" y="1491177"/>
                        <a:pt x="2503255" y="1491805"/>
                        <a:pt x="2516889" y="1494835"/>
                      </a:cubicBezTo>
                      <a:cubicBezTo>
                        <a:pt x="2525767" y="1496808"/>
                        <a:pt x="2534378" y="1499832"/>
                        <a:pt x="2543122" y="1502330"/>
                      </a:cubicBezTo>
                      <a:cubicBezTo>
                        <a:pt x="2676962" y="1511254"/>
                        <a:pt x="2510356" y="1499523"/>
                        <a:pt x="2674286" y="1513573"/>
                      </a:cubicBezTo>
                      <a:cubicBezTo>
                        <a:pt x="2692997" y="1515177"/>
                        <a:pt x="2711813" y="1515451"/>
                        <a:pt x="2730499" y="1517320"/>
                      </a:cubicBezTo>
                      <a:cubicBezTo>
                        <a:pt x="2801517" y="1524421"/>
                        <a:pt x="2765142" y="1522269"/>
                        <a:pt x="2809197" y="1528563"/>
                      </a:cubicBezTo>
                      <a:cubicBezTo>
                        <a:pt x="2854263" y="1535002"/>
                        <a:pt x="2828904" y="1530243"/>
                        <a:pt x="2884148" y="1536058"/>
                      </a:cubicBezTo>
                      <a:cubicBezTo>
                        <a:pt x="2892933" y="1536983"/>
                        <a:pt x="2901699" y="1538178"/>
                        <a:pt x="2910381" y="1539806"/>
                      </a:cubicBezTo>
                      <a:cubicBezTo>
                        <a:pt x="2921701" y="1541928"/>
                        <a:pt x="2932637" y="1546289"/>
                        <a:pt x="2944109" y="1547301"/>
                      </a:cubicBezTo>
                      <a:cubicBezTo>
                        <a:pt x="2975242" y="1550048"/>
                        <a:pt x="3006568" y="1549799"/>
                        <a:pt x="3037797" y="1551048"/>
                      </a:cubicBezTo>
                      <a:cubicBezTo>
                        <a:pt x="3195392" y="1543361"/>
                        <a:pt x="3142799" y="1559766"/>
                        <a:pt x="3202689" y="1539806"/>
                      </a:cubicBezTo>
                      <a:cubicBezTo>
                        <a:pt x="3212461" y="1536549"/>
                        <a:pt x="3182702" y="1534809"/>
                        <a:pt x="3172709" y="1532311"/>
                      </a:cubicBezTo>
                      <a:cubicBezTo>
                        <a:pt x="3142729" y="1531062"/>
                        <a:pt x="3112728" y="1530228"/>
                        <a:pt x="3082768" y="1528563"/>
                      </a:cubicBezTo>
                      <a:cubicBezTo>
                        <a:pt x="3053027" y="1526910"/>
                        <a:pt x="3005452" y="1521635"/>
                        <a:pt x="2977837" y="1517320"/>
                      </a:cubicBezTo>
                      <a:cubicBezTo>
                        <a:pt x="2871303" y="1500675"/>
                        <a:pt x="2956067" y="1512786"/>
                        <a:pt x="2887896" y="1498583"/>
                      </a:cubicBezTo>
                      <a:cubicBezTo>
                        <a:pt x="2867988" y="1494435"/>
                        <a:pt x="2847954" y="1490915"/>
                        <a:pt x="2827935" y="1487340"/>
                      </a:cubicBezTo>
                      <a:cubicBezTo>
                        <a:pt x="2798879" y="1482151"/>
                        <a:pt x="2773992" y="1479137"/>
                        <a:pt x="2745489" y="1472350"/>
                      </a:cubicBezTo>
                      <a:cubicBezTo>
                        <a:pt x="2731633" y="1469051"/>
                        <a:pt x="2718007" y="1464855"/>
                        <a:pt x="2704266" y="1461107"/>
                      </a:cubicBezTo>
                      <a:cubicBezTo>
                        <a:pt x="2694273" y="1459858"/>
                        <a:pt x="2684127" y="1459499"/>
                        <a:pt x="2674286" y="1457360"/>
                      </a:cubicBezTo>
                      <a:cubicBezTo>
                        <a:pt x="2598320" y="1440846"/>
                        <a:pt x="2639531" y="1445573"/>
                        <a:pt x="2569355" y="1427379"/>
                      </a:cubicBezTo>
                      <a:cubicBezTo>
                        <a:pt x="2552042" y="1422890"/>
                        <a:pt x="2534038" y="1421218"/>
                        <a:pt x="2516889" y="1416137"/>
                      </a:cubicBezTo>
                      <a:cubicBezTo>
                        <a:pt x="2500207" y="1411194"/>
                        <a:pt x="2484523" y="1403345"/>
                        <a:pt x="2468171" y="1397399"/>
                      </a:cubicBezTo>
                      <a:cubicBezTo>
                        <a:pt x="2457034" y="1393349"/>
                        <a:pt x="2445686" y="1389904"/>
                        <a:pt x="2434443" y="1386156"/>
                      </a:cubicBezTo>
                      <a:cubicBezTo>
                        <a:pt x="2384440" y="1379013"/>
                        <a:pt x="2383584" y="1380726"/>
                        <a:pt x="2337007" y="1367419"/>
                      </a:cubicBezTo>
                      <a:cubicBezTo>
                        <a:pt x="2325612" y="1364163"/>
                        <a:pt x="2314815" y="1358890"/>
                        <a:pt x="2303279" y="1356176"/>
                      </a:cubicBezTo>
                      <a:cubicBezTo>
                        <a:pt x="2272278" y="1348881"/>
                        <a:pt x="2234460" y="1357333"/>
                        <a:pt x="2209591" y="1337438"/>
                      </a:cubicBezTo>
                      <a:cubicBezTo>
                        <a:pt x="2194670" y="1325501"/>
                        <a:pt x="2247676" y="1332239"/>
                        <a:pt x="2265804" y="1326196"/>
                      </a:cubicBezTo>
                      <a:cubicBezTo>
                        <a:pt x="2274350" y="1323348"/>
                        <a:pt x="2280794" y="1316203"/>
                        <a:pt x="2288289" y="1311206"/>
                      </a:cubicBezTo>
                      <a:cubicBezTo>
                        <a:pt x="2339503" y="1296574"/>
                        <a:pt x="2289505" y="1309573"/>
                        <a:pt x="2340755" y="1299963"/>
                      </a:cubicBezTo>
                      <a:cubicBezTo>
                        <a:pt x="2408621" y="1287238"/>
                        <a:pt x="2338287" y="1297197"/>
                        <a:pt x="2415705" y="1284973"/>
                      </a:cubicBezTo>
                      <a:cubicBezTo>
                        <a:pt x="2449384" y="1279655"/>
                        <a:pt x="2484157" y="1279530"/>
                        <a:pt x="2516889" y="1269983"/>
                      </a:cubicBezTo>
                      <a:cubicBezTo>
                        <a:pt x="2521977" y="1268499"/>
                        <a:pt x="2509394" y="1262488"/>
                        <a:pt x="2505646" y="1258740"/>
                      </a:cubicBezTo>
                      <a:cubicBezTo>
                        <a:pt x="2496902" y="1254992"/>
                        <a:pt x="2487923" y="1251751"/>
                        <a:pt x="2479414" y="1247497"/>
                      </a:cubicBezTo>
                      <a:cubicBezTo>
                        <a:pt x="2472899" y="1244240"/>
                        <a:pt x="2467400" y="1239056"/>
                        <a:pt x="2460676" y="1236255"/>
                      </a:cubicBezTo>
                      <a:cubicBezTo>
                        <a:pt x="2452281" y="1232757"/>
                        <a:pt x="2443187" y="1231258"/>
                        <a:pt x="2434443" y="1228760"/>
                      </a:cubicBezTo>
                      <a:cubicBezTo>
                        <a:pt x="2408210" y="1227511"/>
                        <a:pt x="2382007" y="1225012"/>
                        <a:pt x="2355745" y="1225012"/>
                      </a:cubicBezTo>
                      <a:cubicBezTo>
                        <a:pt x="2329482" y="1225012"/>
                        <a:pt x="2303291" y="1227788"/>
                        <a:pt x="2277046" y="1228760"/>
                      </a:cubicBezTo>
                      <a:lnTo>
                        <a:pt x="2166799" y="1232100"/>
                      </a:lnTo>
                      <a:close/>
                    </a:path>
                  </a:pathLst>
                </a:custGeom>
                <a:solidFill>
                  <a:srgbClr val="4F81B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42" name="组合 41">
                <a:extLst>
                  <a:ext uri="{FF2B5EF4-FFF2-40B4-BE49-F238E27FC236}">
                    <a16:creationId xmlns:a16="http://schemas.microsoft.com/office/drawing/2014/main" id="{6F4E4702-E352-1C8C-9FE5-15D913019656}"/>
                  </a:ext>
                </a:extLst>
              </p:cNvPr>
              <p:cNvGrpSpPr/>
              <p:nvPr/>
            </p:nvGrpSpPr>
            <p:grpSpPr>
              <a:xfrm>
                <a:off x="746751" y="2623849"/>
                <a:ext cx="953318" cy="1820459"/>
                <a:chOff x="8559690" y="2084526"/>
                <a:chExt cx="2161533" cy="3759392"/>
              </a:xfrm>
            </p:grpSpPr>
            <p:sp>
              <p:nvSpPr>
                <p:cNvPr id="43" name="圆柱体 42">
                  <a:extLst>
                    <a:ext uri="{FF2B5EF4-FFF2-40B4-BE49-F238E27FC236}">
                      <a16:creationId xmlns:a16="http://schemas.microsoft.com/office/drawing/2014/main" id="{37AA5E3D-D68E-7105-A267-D5F5BA996E1A}"/>
                    </a:ext>
                  </a:extLst>
                </p:cNvPr>
                <p:cNvSpPr/>
                <p:nvPr/>
              </p:nvSpPr>
              <p:spPr>
                <a:xfrm>
                  <a:off x="9617632" y="5455966"/>
                  <a:ext cx="112426" cy="387952"/>
                </a:xfrm>
                <a:prstGeom prst="can">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a:extLst>
                    <a:ext uri="{FF2B5EF4-FFF2-40B4-BE49-F238E27FC236}">
                      <a16:creationId xmlns:a16="http://schemas.microsoft.com/office/drawing/2014/main" id="{29751FEC-59F6-A78B-15E5-46BC94F66810}"/>
                    </a:ext>
                  </a:extLst>
                </p:cNvPr>
                <p:cNvGrpSpPr/>
                <p:nvPr/>
              </p:nvGrpSpPr>
              <p:grpSpPr>
                <a:xfrm>
                  <a:off x="9351397" y="3073138"/>
                  <a:ext cx="646171" cy="2482280"/>
                  <a:chOff x="10294824" y="2561497"/>
                  <a:chExt cx="646171" cy="2482280"/>
                </a:xfrm>
              </p:grpSpPr>
              <p:sp>
                <p:nvSpPr>
                  <p:cNvPr id="53" name="圆柱体 52">
                    <a:extLst>
                      <a:ext uri="{FF2B5EF4-FFF2-40B4-BE49-F238E27FC236}">
                        <a16:creationId xmlns:a16="http://schemas.microsoft.com/office/drawing/2014/main" id="{4ED494AC-0FBD-97C8-C3B2-DDC945864EDC}"/>
                      </a:ext>
                    </a:extLst>
                  </p:cNvPr>
                  <p:cNvSpPr/>
                  <p:nvPr/>
                </p:nvSpPr>
                <p:spPr>
                  <a:xfrm>
                    <a:off x="10294824" y="2561497"/>
                    <a:ext cx="644896" cy="2413262"/>
                  </a:xfrm>
                  <a:prstGeom prst="can">
                    <a:avLst>
                      <a:gd name="adj" fmla="val 30297"/>
                    </a:avLst>
                  </a:prstGeom>
                  <a:blipFill dpi="0" rotWithShape="1">
                    <a:blip r:embed="rId4"/>
                    <a:srcRect/>
                    <a:tile tx="19050" ty="0" sx="2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任意多边形: 形状 53">
                    <a:extLst>
                      <a:ext uri="{FF2B5EF4-FFF2-40B4-BE49-F238E27FC236}">
                        <a16:creationId xmlns:a16="http://schemas.microsoft.com/office/drawing/2014/main" id="{07916847-048F-D4AA-D8B0-EDE6B611307A}"/>
                      </a:ext>
                    </a:extLst>
                  </p:cNvPr>
                  <p:cNvSpPr/>
                  <p:nvPr/>
                </p:nvSpPr>
                <p:spPr>
                  <a:xfrm>
                    <a:off x="10388379" y="3645673"/>
                    <a:ext cx="552616" cy="409492"/>
                  </a:xfrm>
                  <a:custGeom>
                    <a:avLst/>
                    <a:gdLst>
                      <a:gd name="csX0" fmla="*/ 0 w 552616"/>
                      <a:gd name="csY0" fmla="*/ 159026 h 349857"/>
                      <a:gd name="csX1" fmla="*/ 210710 w 552616"/>
                      <a:gd name="csY1" fmla="*/ 79513 h 349857"/>
                      <a:gd name="csX2" fmla="*/ 345882 w 552616"/>
                      <a:gd name="csY2" fmla="*/ 55659 h 349857"/>
                      <a:gd name="csX3" fmla="*/ 369736 w 552616"/>
                      <a:gd name="csY3" fmla="*/ 35781 h 349857"/>
                      <a:gd name="csX4" fmla="*/ 409492 w 552616"/>
                      <a:gd name="csY4" fmla="*/ 27830 h 349857"/>
                      <a:gd name="csX5" fmla="*/ 477078 w 552616"/>
                      <a:gd name="csY5" fmla="*/ 31805 h 349857"/>
                      <a:gd name="csX6" fmla="*/ 516835 w 552616"/>
                      <a:gd name="csY6" fmla="*/ 3976 h 349857"/>
                      <a:gd name="csX7" fmla="*/ 544664 w 552616"/>
                      <a:gd name="csY7" fmla="*/ 0 h 349857"/>
                      <a:gd name="csX8" fmla="*/ 552616 w 552616"/>
                      <a:gd name="csY8" fmla="*/ 349857 h 349857"/>
                      <a:gd name="csX9" fmla="*/ 0 w 552616"/>
                      <a:gd name="csY9" fmla="*/ 159026 h 3498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52616" h="349857">
                        <a:moveTo>
                          <a:pt x="0" y="159026"/>
                        </a:moveTo>
                        <a:lnTo>
                          <a:pt x="210710" y="79513"/>
                        </a:lnTo>
                        <a:lnTo>
                          <a:pt x="345882" y="55659"/>
                        </a:lnTo>
                        <a:lnTo>
                          <a:pt x="369736" y="35781"/>
                        </a:lnTo>
                        <a:lnTo>
                          <a:pt x="409492" y="27830"/>
                        </a:lnTo>
                        <a:lnTo>
                          <a:pt x="477078" y="31805"/>
                        </a:lnTo>
                        <a:lnTo>
                          <a:pt x="516835" y="3976"/>
                        </a:lnTo>
                        <a:lnTo>
                          <a:pt x="544664" y="0"/>
                        </a:lnTo>
                        <a:lnTo>
                          <a:pt x="552616" y="349857"/>
                        </a:lnTo>
                        <a:lnTo>
                          <a:pt x="0" y="159026"/>
                        </a:lnTo>
                        <a:close/>
                      </a:path>
                    </a:pathLst>
                  </a:custGeom>
                  <a:blipFill dpi="0" rotWithShape="1">
                    <a:blip r:embed="rId4"/>
                    <a:srcRect/>
                    <a:tile tx="19050" ty="0" sx="5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任意多边形: 形状 54">
                    <a:extLst>
                      <a:ext uri="{FF2B5EF4-FFF2-40B4-BE49-F238E27FC236}">
                        <a16:creationId xmlns:a16="http://schemas.microsoft.com/office/drawing/2014/main" id="{585627DB-7601-4ECA-3040-8376BCDE10A5}"/>
                      </a:ext>
                    </a:extLst>
                  </p:cNvPr>
                  <p:cNvSpPr/>
                  <p:nvPr/>
                </p:nvSpPr>
                <p:spPr>
                  <a:xfrm>
                    <a:off x="10294824" y="3809215"/>
                    <a:ext cx="644896" cy="1234562"/>
                  </a:xfrm>
                  <a:custGeom>
                    <a:avLst/>
                    <a:gdLst>
                      <a:gd name="csX0" fmla="*/ 80085 w 644896"/>
                      <a:gd name="csY0" fmla="*/ 0 h 1234562"/>
                      <a:gd name="csX1" fmla="*/ 127793 w 644896"/>
                      <a:gd name="csY1" fmla="*/ 35780 h 1234562"/>
                      <a:gd name="csX2" fmla="*/ 187428 w 644896"/>
                      <a:gd name="csY2" fmla="*/ 51683 h 1234562"/>
                      <a:gd name="csX3" fmla="*/ 199355 w 644896"/>
                      <a:gd name="csY3" fmla="*/ 39756 h 1234562"/>
                      <a:gd name="csX4" fmla="*/ 247063 w 644896"/>
                      <a:gd name="csY4" fmla="*/ 71561 h 1234562"/>
                      <a:gd name="csX5" fmla="*/ 306697 w 644896"/>
                      <a:gd name="csY5" fmla="*/ 51683 h 1234562"/>
                      <a:gd name="csX6" fmla="*/ 318624 w 644896"/>
                      <a:gd name="csY6" fmla="*/ 83488 h 1234562"/>
                      <a:gd name="csX7" fmla="*/ 386210 w 644896"/>
                      <a:gd name="csY7" fmla="*/ 91440 h 1234562"/>
                      <a:gd name="csX8" fmla="*/ 406089 w 644896"/>
                      <a:gd name="csY8" fmla="*/ 99391 h 1234562"/>
                      <a:gd name="csX9" fmla="*/ 453797 w 644896"/>
                      <a:gd name="csY9" fmla="*/ 83488 h 1234562"/>
                      <a:gd name="csX10" fmla="*/ 481626 w 644896"/>
                      <a:gd name="csY10" fmla="*/ 135172 h 1234562"/>
                      <a:gd name="csX11" fmla="*/ 517407 w 644896"/>
                      <a:gd name="csY11" fmla="*/ 151074 h 1234562"/>
                      <a:gd name="csX12" fmla="*/ 541261 w 644896"/>
                      <a:gd name="csY12" fmla="*/ 163001 h 1234562"/>
                      <a:gd name="csX13" fmla="*/ 592944 w 644896"/>
                      <a:gd name="csY13" fmla="*/ 174928 h 1234562"/>
                      <a:gd name="csX14" fmla="*/ 620774 w 644896"/>
                      <a:gd name="csY14" fmla="*/ 174928 h 1234562"/>
                      <a:gd name="csX15" fmla="*/ 644896 w 644896"/>
                      <a:gd name="csY15" fmla="*/ 191814 h 1234562"/>
                      <a:gd name="csX16" fmla="*/ 644896 w 644896"/>
                      <a:gd name="csY16" fmla="*/ 1136870 h 1234562"/>
                      <a:gd name="csX17" fmla="*/ 322448 w 644896"/>
                      <a:gd name="csY17" fmla="*/ 1234562 h 1234562"/>
                      <a:gd name="csX18" fmla="*/ 0 w 644896"/>
                      <a:gd name="csY18" fmla="*/ 1136870 h 1234562"/>
                      <a:gd name="csX19" fmla="*/ 0 w 644896"/>
                      <a:gd name="csY19" fmla="*/ 1368 h 1234562"/>
                      <a:gd name="csX20" fmla="*/ 56231 w 644896"/>
                      <a:gd name="csY20" fmla="*/ 27829 h 12345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44896" h="1234562">
                        <a:moveTo>
                          <a:pt x="80085" y="0"/>
                        </a:moveTo>
                        <a:lnTo>
                          <a:pt x="127793" y="35780"/>
                        </a:lnTo>
                        <a:lnTo>
                          <a:pt x="187428" y="51683"/>
                        </a:lnTo>
                        <a:lnTo>
                          <a:pt x="199355" y="39756"/>
                        </a:lnTo>
                        <a:lnTo>
                          <a:pt x="247063" y="71561"/>
                        </a:lnTo>
                        <a:lnTo>
                          <a:pt x="306697" y="51683"/>
                        </a:lnTo>
                        <a:lnTo>
                          <a:pt x="318624" y="83488"/>
                        </a:lnTo>
                        <a:lnTo>
                          <a:pt x="386210" y="91440"/>
                        </a:lnTo>
                        <a:lnTo>
                          <a:pt x="406089" y="99391"/>
                        </a:lnTo>
                        <a:lnTo>
                          <a:pt x="453797" y="83488"/>
                        </a:lnTo>
                        <a:lnTo>
                          <a:pt x="481626" y="135172"/>
                        </a:lnTo>
                        <a:lnTo>
                          <a:pt x="517407" y="151074"/>
                        </a:lnTo>
                        <a:lnTo>
                          <a:pt x="541261" y="163001"/>
                        </a:lnTo>
                        <a:lnTo>
                          <a:pt x="592944" y="174928"/>
                        </a:lnTo>
                        <a:lnTo>
                          <a:pt x="620774" y="174928"/>
                        </a:lnTo>
                        <a:lnTo>
                          <a:pt x="644896" y="191814"/>
                        </a:lnTo>
                        <a:lnTo>
                          <a:pt x="644896" y="1136870"/>
                        </a:lnTo>
                        <a:cubicBezTo>
                          <a:pt x="644896" y="1190824"/>
                          <a:pt x="500531" y="1234562"/>
                          <a:pt x="322448" y="1234562"/>
                        </a:cubicBezTo>
                        <a:cubicBezTo>
                          <a:pt x="144365" y="1234562"/>
                          <a:pt x="0" y="1190824"/>
                          <a:pt x="0" y="1136870"/>
                        </a:cubicBezTo>
                        <a:lnTo>
                          <a:pt x="0" y="1368"/>
                        </a:lnTo>
                        <a:lnTo>
                          <a:pt x="56231" y="27829"/>
                        </a:lnTo>
                        <a:close/>
                      </a:path>
                    </a:pathLst>
                  </a:cu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45" name="圆柱体 44">
                  <a:extLst>
                    <a:ext uri="{FF2B5EF4-FFF2-40B4-BE49-F238E27FC236}">
                      <a16:creationId xmlns:a16="http://schemas.microsoft.com/office/drawing/2014/main" id="{013A802B-86BC-42D1-28B4-95A19DC40A8D}"/>
                    </a:ext>
                  </a:extLst>
                </p:cNvPr>
                <p:cNvSpPr/>
                <p:nvPr/>
              </p:nvSpPr>
              <p:spPr>
                <a:xfrm>
                  <a:off x="9351397" y="2366080"/>
                  <a:ext cx="644896" cy="638040"/>
                </a:xfrm>
                <a:prstGeom prst="can">
                  <a:avLst>
                    <a:gd name="adj" fmla="val 30297"/>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圆柱体 45">
                  <a:extLst>
                    <a:ext uri="{FF2B5EF4-FFF2-40B4-BE49-F238E27FC236}">
                      <a16:creationId xmlns:a16="http://schemas.microsoft.com/office/drawing/2014/main" id="{7B0BE385-BB8F-4620-EB2B-574A5F37F7DC}"/>
                    </a:ext>
                  </a:extLst>
                </p:cNvPr>
                <p:cNvSpPr/>
                <p:nvPr/>
              </p:nvSpPr>
              <p:spPr>
                <a:xfrm>
                  <a:off x="9617632" y="2084526"/>
                  <a:ext cx="112426" cy="387952"/>
                </a:xfrm>
                <a:prstGeom prst="can">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a:extLst>
                    <a:ext uri="{FF2B5EF4-FFF2-40B4-BE49-F238E27FC236}">
                      <a16:creationId xmlns:a16="http://schemas.microsoft.com/office/drawing/2014/main" id="{D78A6E1A-05AF-10DE-FBA3-B26FC6B2CA77}"/>
                    </a:ext>
                  </a:extLst>
                </p:cNvPr>
                <p:cNvSpPr/>
                <p:nvPr/>
              </p:nvSpPr>
              <p:spPr>
                <a:xfrm rot="1299303">
                  <a:off x="8676528" y="3428519"/>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箭头: 右 47">
                  <a:extLst>
                    <a:ext uri="{FF2B5EF4-FFF2-40B4-BE49-F238E27FC236}">
                      <a16:creationId xmlns:a16="http://schemas.microsoft.com/office/drawing/2014/main" id="{C74AF8CA-6620-969F-E06E-D201175AB150}"/>
                    </a:ext>
                  </a:extLst>
                </p:cNvPr>
                <p:cNvSpPr/>
                <p:nvPr/>
              </p:nvSpPr>
              <p:spPr>
                <a:xfrm>
                  <a:off x="8559690" y="3960403"/>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6B465F60-ECB2-6319-22A5-486AEA892C4A}"/>
                    </a:ext>
                  </a:extLst>
                </p:cNvPr>
                <p:cNvSpPr/>
                <p:nvPr/>
              </p:nvSpPr>
              <p:spPr>
                <a:xfrm rot="19971950">
                  <a:off x="8573002" y="4542047"/>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箭头: 右 49">
                  <a:extLst>
                    <a:ext uri="{FF2B5EF4-FFF2-40B4-BE49-F238E27FC236}">
                      <a16:creationId xmlns:a16="http://schemas.microsoft.com/office/drawing/2014/main" id="{B67C686B-2F92-21BE-D88A-3D70CF4BCC13}"/>
                    </a:ext>
                  </a:extLst>
                </p:cNvPr>
                <p:cNvSpPr/>
                <p:nvPr/>
              </p:nvSpPr>
              <p:spPr>
                <a:xfrm rot="20300697" flipH="1">
                  <a:off x="10217223" y="3456959"/>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5F7E91E6-B9C5-5393-C100-D77494F5014B}"/>
                    </a:ext>
                  </a:extLst>
                </p:cNvPr>
                <p:cNvSpPr/>
                <p:nvPr/>
              </p:nvSpPr>
              <p:spPr>
                <a:xfrm flipH="1">
                  <a:off x="10201799" y="4024858"/>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箭头: 右 51">
                  <a:extLst>
                    <a:ext uri="{FF2B5EF4-FFF2-40B4-BE49-F238E27FC236}">
                      <a16:creationId xmlns:a16="http://schemas.microsoft.com/office/drawing/2014/main" id="{45757E43-D6E3-475B-3483-B736242F9710}"/>
                    </a:ext>
                  </a:extLst>
                </p:cNvPr>
                <p:cNvSpPr/>
                <p:nvPr/>
              </p:nvSpPr>
              <p:spPr>
                <a:xfrm rot="1628050" flipH="1">
                  <a:off x="10215111" y="4606502"/>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78" name="矩形: 圆角 77">
              <a:extLst>
                <a:ext uri="{FF2B5EF4-FFF2-40B4-BE49-F238E27FC236}">
                  <a16:creationId xmlns:a16="http://schemas.microsoft.com/office/drawing/2014/main" id="{83928C61-50D3-08CF-3B00-65FCAF3B7C31}"/>
                </a:ext>
              </a:extLst>
            </p:cNvPr>
            <p:cNvSpPr/>
            <p:nvPr/>
          </p:nvSpPr>
          <p:spPr>
            <a:xfrm>
              <a:off x="6305449" y="2021210"/>
              <a:ext cx="2470068" cy="1661651"/>
            </a:xfrm>
            <a:prstGeom prst="round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aphicFrame>
        <p:nvGraphicFramePr>
          <p:cNvPr id="79" name="表格 78">
            <a:extLst>
              <a:ext uri="{FF2B5EF4-FFF2-40B4-BE49-F238E27FC236}">
                <a16:creationId xmlns:a16="http://schemas.microsoft.com/office/drawing/2014/main" id="{6DECEF1D-A4E9-7DC7-DE65-416C52307566}"/>
              </a:ext>
            </a:extLst>
          </p:cNvPr>
          <p:cNvGraphicFramePr>
            <a:graphicFrameLocks noGrp="1"/>
          </p:cNvGraphicFramePr>
          <p:nvPr>
            <p:extLst>
              <p:ext uri="{D42A27DB-BD31-4B8C-83A1-F6EECF244321}">
                <p14:modId xmlns:p14="http://schemas.microsoft.com/office/powerpoint/2010/main" val="3166224848"/>
              </p:ext>
            </p:extLst>
          </p:nvPr>
        </p:nvGraphicFramePr>
        <p:xfrm>
          <a:off x="196348" y="3239809"/>
          <a:ext cx="6230215" cy="3409484"/>
        </p:xfrm>
        <a:graphic>
          <a:graphicData uri="http://schemas.openxmlformats.org/drawingml/2006/table">
            <a:tbl>
              <a:tblPr firstRow="1" firstCol="1" bandRow="1">
                <a:tableStyleId>{72833802-FEF1-4C79-8D5D-14CF1EAF98D9}</a:tableStyleId>
              </a:tblPr>
              <a:tblGrid>
                <a:gridCol w="1389878">
                  <a:extLst>
                    <a:ext uri="{9D8B030D-6E8A-4147-A177-3AD203B41FA5}">
                      <a16:colId xmlns:a16="http://schemas.microsoft.com/office/drawing/2014/main" val="720122895"/>
                    </a:ext>
                  </a:extLst>
                </a:gridCol>
                <a:gridCol w="2070991">
                  <a:extLst>
                    <a:ext uri="{9D8B030D-6E8A-4147-A177-3AD203B41FA5}">
                      <a16:colId xmlns:a16="http://schemas.microsoft.com/office/drawing/2014/main" val="1701263872"/>
                    </a:ext>
                  </a:extLst>
                </a:gridCol>
                <a:gridCol w="750522">
                  <a:extLst>
                    <a:ext uri="{9D8B030D-6E8A-4147-A177-3AD203B41FA5}">
                      <a16:colId xmlns:a16="http://schemas.microsoft.com/office/drawing/2014/main" val="3214030488"/>
                    </a:ext>
                  </a:extLst>
                </a:gridCol>
                <a:gridCol w="2018824">
                  <a:extLst>
                    <a:ext uri="{9D8B030D-6E8A-4147-A177-3AD203B41FA5}">
                      <a16:colId xmlns:a16="http://schemas.microsoft.com/office/drawing/2014/main" val="475080188"/>
                    </a:ext>
                  </a:extLst>
                </a:gridCol>
              </a:tblGrid>
              <a:tr h="374171">
                <a:tc>
                  <a:txBody>
                    <a:bodyPr/>
                    <a:lstStyle/>
                    <a:p>
                      <a:pPr indent="127000" algn="ctr">
                        <a:lnSpc>
                          <a:spcPct val="150000"/>
                        </a:lnSpc>
                        <a:buNone/>
                      </a:pPr>
                      <a:r>
                        <a:rPr lang="zh-CN" sz="1200" kern="100" dirty="0">
                          <a:solidFill>
                            <a:schemeClr val="tx1"/>
                          </a:solidFill>
                          <a:effectLst/>
                        </a:rPr>
                        <a:t>方法</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可获取信息</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精度</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影响因素</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4056842"/>
                  </a:ext>
                </a:extLst>
              </a:tr>
              <a:tr h="369091">
                <a:tc>
                  <a:txBody>
                    <a:bodyPr/>
                    <a:lstStyle/>
                    <a:p>
                      <a:pPr indent="127000" algn="ctr">
                        <a:lnSpc>
                          <a:spcPct val="150000"/>
                        </a:lnSpc>
                        <a:buNone/>
                      </a:pPr>
                      <a:r>
                        <a:rPr lang="zh-CN" sz="1050" kern="100" dirty="0">
                          <a:effectLst/>
                        </a:rPr>
                        <a:t>水压致裂</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水平主应力方向、闭合压力</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天然裂缝、储层非均质性等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98323017"/>
                  </a:ext>
                </a:extLst>
              </a:tr>
              <a:tr h="421401">
                <a:tc>
                  <a:txBody>
                    <a:bodyPr/>
                    <a:lstStyle/>
                    <a:p>
                      <a:pPr indent="127000" algn="ctr">
                        <a:lnSpc>
                          <a:spcPct val="150000"/>
                        </a:lnSpc>
                        <a:buNone/>
                      </a:pPr>
                      <a:r>
                        <a:rPr lang="zh-CN" sz="1050" kern="100">
                          <a:effectLst/>
                        </a:rPr>
                        <a:t>应力解除</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三维主应力大小及方向、岩石弹性参数</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较高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岩芯完整性、温度、岩性等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37308422"/>
                  </a:ext>
                </a:extLst>
              </a:tr>
              <a:tr h="369091">
                <a:tc>
                  <a:txBody>
                    <a:bodyPr/>
                    <a:lstStyle/>
                    <a:p>
                      <a:pPr indent="127000" algn="ctr">
                        <a:lnSpc>
                          <a:spcPct val="150000"/>
                        </a:lnSpc>
                        <a:buNone/>
                      </a:pPr>
                      <a:r>
                        <a:rPr lang="en-US" sz="1050" kern="100" dirty="0">
                          <a:effectLst/>
                        </a:rPr>
                        <a:t>DFIT</a:t>
                      </a:r>
                      <a:r>
                        <a:rPr lang="zh-CN" sz="1050" kern="100" dirty="0">
                          <a:effectLst/>
                        </a:rPr>
                        <a:t>测试</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闭合压力、最小水平主应力</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较高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天然裂缝、压裂液滤失等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363822631"/>
                  </a:ext>
                </a:extLst>
              </a:tr>
              <a:tr h="369091">
                <a:tc>
                  <a:txBody>
                    <a:bodyPr/>
                    <a:lstStyle/>
                    <a:p>
                      <a:pPr indent="127000" algn="ctr">
                        <a:lnSpc>
                          <a:spcPct val="150000"/>
                        </a:lnSpc>
                        <a:buNone/>
                      </a:pPr>
                      <a:r>
                        <a:rPr lang="zh-CN" sz="1050" kern="100">
                          <a:effectLst/>
                        </a:rPr>
                        <a:t>井壁崩落</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最大水平主应力方向</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较高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储层非均质性、泥浆密度等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36762751"/>
                  </a:ext>
                </a:extLst>
              </a:tr>
              <a:tr h="369091">
                <a:tc>
                  <a:txBody>
                    <a:bodyPr/>
                    <a:lstStyle/>
                    <a:p>
                      <a:pPr indent="127000" algn="ctr">
                        <a:lnSpc>
                          <a:spcPct val="150000"/>
                        </a:lnSpc>
                        <a:buNone/>
                      </a:pPr>
                      <a:r>
                        <a:rPr lang="zh-CN" sz="1050" kern="100">
                          <a:effectLst/>
                        </a:rPr>
                        <a:t>声发射</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三维主应力大小</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较高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天然裂缝、岩芯保存条件等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206806222"/>
                  </a:ext>
                </a:extLst>
              </a:tr>
              <a:tr h="369091">
                <a:tc>
                  <a:txBody>
                    <a:bodyPr/>
                    <a:lstStyle/>
                    <a:p>
                      <a:pPr indent="127000" algn="ctr">
                        <a:lnSpc>
                          <a:spcPct val="150000"/>
                        </a:lnSpc>
                        <a:buNone/>
                      </a:pPr>
                      <a:r>
                        <a:rPr lang="zh-CN" sz="1050" kern="100">
                          <a:effectLst/>
                        </a:rPr>
                        <a:t>差应变曲线分析</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三维地应力大小及方向</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较高</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岩芯保存条件、温度</a:t>
                      </a:r>
                      <a:r>
                        <a:rPr lang="en-US" sz="1050" kern="100">
                          <a:effectLst/>
                        </a:rPr>
                        <a:t>/</a:t>
                      </a:r>
                      <a:r>
                        <a:rPr lang="zh-CN" sz="1050" kern="100">
                          <a:effectLst/>
                        </a:rPr>
                        <a:t>湿度等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638117716"/>
                  </a:ext>
                </a:extLst>
              </a:tr>
              <a:tr h="369091">
                <a:tc>
                  <a:txBody>
                    <a:bodyPr/>
                    <a:lstStyle/>
                    <a:p>
                      <a:pPr indent="127000" algn="ctr">
                        <a:lnSpc>
                          <a:spcPct val="150000"/>
                        </a:lnSpc>
                        <a:buNone/>
                      </a:pPr>
                      <a:r>
                        <a:rPr lang="zh-CN" sz="1050" kern="100">
                          <a:effectLst/>
                        </a:rPr>
                        <a:t>非弹性应变恢复</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三维主应力大小及方向</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较高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岩芯保存条件、温度</a:t>
                      </a:r>
                      <a:r>
                        <a:rPr lang="en-US" sz="1050" kern="100">
                          <a:effectLst/>
                        </a:rPr>
                        <a:t>/</a:t>
                      </a:r>
                      <a:r>
                        <a:rPr lang="zh-CN" sz="1050" kern="100">
                          <a:effectLst/>
                        </a:rPr>
                        <a:t>湿度等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890732364"/>
                  </a:ext>
                </a:extLst>
              </a:tr>
              <a:tr h="369091">
                <a:tc>
                  <a:txBody>
                    <a:bodyPr/>
                    <a:lstStyle/>
                    <a:p>
                      <a:pPr indent="127000" algn="ctr">
                        <a:lnSpc>
                          <a:spcPct val="150000"/>
                        </a:lnSpc>
                        <a:buNone/>
                      </a:pPr>
                      <a:r>
                        <a:rPr lang="zh-CN" sz="1050" kern="100">
                          <a:effectLst/>
                        </a:rPr>
                        <a:t>岩心直径变形分析</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水平主应力方向、主应力差</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岩芯保存条件、温度</a:t>
                      </a:r>
                      <a:r>
                        <a:rPr lang="en-US" sz="1050" kern="100" dirty="0">
                          <a:effectLst/>
                        </a:rPr>
                        <a:t>/</a:t>
                      </a:r>
                      <a:r>
                        <a:rPr lang="zh-CN" sz="1050" kern="100" dirty="0">
                          <a:effectLst/>
                        </a:rPr>
                        <a:t>湿度等</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3754856881"/>
                  </a:ext>
                </a:extLst>
              </a:tr>
            </a:tbl>
          </a:graphicData>
        </a:graphic>
      </p:graphicFrame>
      <p:grpSp>
        <p:nvGrpSpPr>
          <p:cNvPr id="85" name="组合 84">
            <a:extLst>
              <a:ext uri="{FF2B5EF4-FFF2-40B4-BE49-F238E27FC236}">
                <a16:creationId xmlns:a16="http://schemas.microsoft.com/office/drawing/2014/main" id="{BF5BA256-4EE0-BCBD-47AC-0313F741B8BA}"/>
              </a:ext>
            </a:extLst>
          </p:cNvPr>
          <p:cNvGrpSpPr/>
          <p:nvPr/>
        </p:nvGrpSpPr>
        <p:grpSpPr>
          <a:xfrm>
            <a:off x="9521765" y="1774222"/>
            <a:ext cx="2470068" cy="1689810"/>
            <a:chOff x="9283710" y="1739190"/>
            <a:chExt cx="2470068" cy="1689810"/>
          </a:xfrm>
        </p:grpSpPr>
        <p:pic>
          <p:nvPicPr>
            <p:cNvPr id="27" name="图片 26">
              <a:extLst>
                <a:ext uri="{FF2B5EF4-FFF2-40B4-BE49-F238E27FC236}">
                  <a16:creationId xmlns:a16="http://schemas.microsoft.com/office/drawing/2014/main" id="{4BB5FC88-B0A0-2578-6786-EB5116633DDF}"/>
                </a:ext>
              </a:extLst>
            </p:cNvPr>
            <p:cNvPicPr>
              <a:picLocks noChangeAspect="1"/>
            </p:cNvPicPr>
            <p:nvPr/>
          </p:nvPicPr>
          <p:blipFill>
            <a:blip r:embed="rId5"/>
            <a:stretch>
              <a:fillRect/>
            </a:stretch>
          </p:blipFill>
          <p:spPr>
            <a:xfrm>
              <a:off x="9685774" y="1739190"/>
              <a:ext cx="1628098" cy="1689810"/>
            </a:xfrm>
            <a:prstGeom prst="rect">
              <a:avLst/>
            </a:prstGeom>
          </p:spPr>
        </p:pic>
        <p:sp>
          <p:nvSpPr>
            <p:cNvPr id="81" name="矩形: 圆角 80">
              <a:extLst>
                <a:ext uri="{FF2B5EF4-FFF2-40B4-BE49-F238E27FC236}">
                  <a16:creationId xmlns:a16="http://schemas.microsoft.com/office/drawing/2014/main" id="{59A38F21-EC87-F66B-EDEB-C161D1974E15}"/>
                </a:ext>
              </a:extLst>
            </p:cNvPr>
            <p:cNvSpPr/>
            <p:nvPr/>
          </p:nvSpPr>
          <p:spPr>
            <a:xfrm>
              <a:off x="9283710" y="1764743"/>
              <a:ext cx="2470068" cy="1661651"/>
            </a:xfrm>
            <a:prstGeom prst="round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84" name="组合 83">
            <a:extLst>
              <a:ext uri="{FF2B5EF4-FFF2-40B4-BE49-F238E27FC236}">
                <a16:creationId xmlns:a16="http://schemas.microsoft.com/office/drawing/2014/main" id="{1AF8026D-F2AF-C2EF-7FA6-3291EB0BF267}"/>
              </a:ext>
            </a:extLst>
          </p:cNvPr>
          <p:cNvGrpSpPr/>
          <p:nvPr/>
        </p:nvGrpSpPr>
        <p:grpSpPr>
          <a:xfrm>
            <a:off x="9521765" y="4503245"/>
            <a:ext cx="2470068" cy="1661651"/>
            <a:chOff x="6653133" y="4305691"/>
            <a:chExt cx="2470068" cy="1661651"/>
          </a:xfrm>
        </p:grpSpPr>
        <p:grpSp>
          <p:nvGrpSpPr>
            <p:cNvPr id="77" name="组合 76">
              <a:extLst>
                <a:ext uri="{FF2B5EF4-FFF2-40B4-BE49-F238E27FC236}">
                  <a16:creationId xmlns:a16="http://schemas.microsoft.com/office/drawing/2014/main" id="{EE618C12-1FE9-2D6E-78C8-851C4BFF28D6}"/>
                </a:ext>
              </a:extLst>
            </p:cNvPr>
            <p:cNvGrpSpPr/>
            <p:nvPr/>
          </p:nvGrpSpPr>
          <p:grpSpPr>
            <a:xfrm>
              <a:off x="7006496" y="4355033"/>
              <a:ext cx="1586300" cy="1587156"/>
              <a:chOff x="5848836" y="2760190"/>
              <a:chExt cx="2125052" cy="2121471"/>
            </a:xfrm>
          </p:grpSpPr>
          <p:pic>
            <p:nvPicPr>
              <p:cNvPr id="57" name="图片 56">
                <a:extLst>
                  <a:ext uri="{FF2B5EF4-FFF2-40B4-BE49-F238E27FC236}">
                    <a16:creationId xmlns:a16="http://schemas.microsoft.com/office/drawing/2014/main" id="{94A72F42-3C7C-393C-73B9-164E26C51B8B}"/>
                  </a:ext>
                </a:extLst>
              </p:cNvPr>
              <p:cNvPicPr>
                <a:picLocks noChangeAspect="1"/>
              </p:cNvPicPr>
              <p:nvPr/>
            </p:nvPicPr>
            <p:blipFill>
              <a:blip r:embed="rId6"/>
              <a:stretch>
                <a:fillRect/>
              </a:stretch>
            </p:blipFill>
            <p:spPr>
              <a:xfrm>
                <a:off x="6226928" y="2760190"/>
                <a:ext cx="1440616" cy="1012710"/>
              </a:xfrm>
              <a:prstGeom prst="rect">
                <a:avLst/>
              </a:prstGeom>
            </p:spPr>
          </p:pic>
          <p:pic>
            <p:nvPicPr>
              <p:cNvPr id="60" name="图片 59">
                <a:extLst>
                  <a:ext uri="{FF2B5EF4-FFF2-40B4-BE49-F238E27FC236}">
                    <a16:creationId xmlns:a16="http://schemas.microsoft.com/office/drawing/2014/main" id="{70CB0054-86A4-8983-CA23-A13DC639D05C}"/>
                  </a:ext>
                </a:extLst>
              </p:cNvPr>
              <p:cNvPicPr>
                <a:picLocks noChangeAspect="1"/>
              </p:cNvPicPr>
              <p:nvPr/>
            </p:nvPicPr>
            <p:blipFill>
              <a:blip r:embed="rId7"/>
              <a:stretch>
                <a:fillRect/>
              </a:stretch>
            </p:blipFill>
            <p:spPr>
              <a:xfrm>
                <a:off x="5848836" y="3734267"/>
                <a:ext cx="1440617" cy="1147394"/>
              </a:xfrm>
              <a:prstGeom prst="rect">
                <a:avLst/>
              </a:prstGeom>
            </p:spPr>
          </p:pic>
          <p:grpSp>
            <p:nvGrpSpPr>
              <p:cNvPr id="65" name="组合 64">
                <a:extLst>
                  <a:ext uri="{FF2B5EF4-FFF2-40B4-BE49-F238E27FC236}">
                    <a16:creationId xmlns:a16="http://schemas.microsoft.com/office/drawing/2014/main" id="{EDC328D7-06F9-FD7C-612C-A07F732BF3FC}"/>
                  </a:ext>
                </a:extLst>
              </p:cNvPr>
              <p:cNvGrpSpPr/>
              <p:nvPr/>
            </p:nvGrpSpPr>
            <p:grpSpPr>
              <a:xfrm>
                <a:off x="7325793" y="4005961"/>
                <a:ext cx="648095" cy="632461"/>
                <a:chOff x="7360806" y="3883758"/>
                <a:chExt cx="802127" cy="767804"/>
              </a:xfrm>
            </p:grpSpPr>
            <p:sp>
              <p:nvSpPr>
                <p:cNvPr id="61" name="椭圆 60">
                  <a:extLst>
                    <a:ext uri="{FF2B5EF4-FFF2-40B4-BE49-F238E27FC236}">
                      <a16:creationId xmlns:a16="http://schemas.microsoft.com/office/drawing/2014/main" id="{C281A3AF-C423-2E5E-CE7C-82771C3F5E1E}"/>
                    </a:ext>
                  </a:extLst>
                </p:cNvPr>
                <p:cNvSpPr/>
                <p:nvPr/>
              </p:nvSpPr>
              <p:spPr>
                <a:xfrm>
                  <a:off x="7360806" y="3883758"/>
                  <a:ext cx="802127" cy="767804"/>
                </a:xfrm>
                <a:prstGeom prst="ellipse">
                  <a:avLst/>
                </a:prstGeom>
                <a:solidFill>
                  <a:schemeClr val="bg1">
                    <a:lumMod val="9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a:extLst>
                    <a:ext uri="{FF2B5EF4-FFF2-40B4-BE49-F238E27FC236}">
                      <a16:creationId xmlns:a16="http://schemas.microsoft.com/office/drawing/2014/main" id="{C43ABC07-2BC5-6651-8872-5928436ACCDA}"/>
                    </a:ext>
                  </a:extLst>
                </p:cNvPr>
                <p:cNvSpPr/>
                <p:nvPr/>
              </p:nvSpPr>
              <p:spPr>
                <a:xfrm>
                  <a:off x="7569690" y="3883758"/>
                  <a:ext cx="384358" cy="767804"/>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82" name="矩形: 圆角 81">
              <a:extLst>
                <a:ext uri="{FF2B5EF4-FFF2-40B4-BE49-F238E27FC236}">
                  <a16:creationId xmlns:a16="http://schemas.microsoft.com/office/drawing/2014/main" id="{3314FADB-6899-CFCB-8E48-3EB766D92644}"/>
                </a:ext>
              </a:extLst>
            </p:cNvPr>
            <p:cNvSpPr/>
            <p:nvPr/>
          </p:nvSpPr>
          <p:spPr>
            <a:xfrm>
              <a:off x="6653133" y="4305691"/>
              <a:ext cx="2470068" cy="1661651"/>
            </a:xfrm>
            <a:prstGeom prst="round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86" name="组合 85">
            <a:extLst>
              <a:ext uri="{FF2B5EF4-FFF2-40B4-BE49-F238E27FC236}">
                <a16:creationId xmlns:a16="http://schemas.microsoft.com/office/drawing/2014/main" id="{8113809A-002C-4C34-28B0-2A7A4D663D13}"/>
              </a:ext>
            </a:extLst>
          </p:cNvPr>
          <p:cNvGrpSpPr/>
          <p:nvPr/>
        </p:nvGrpSpPr>
        <p:grpSpPr>
          <a:xfrm>
            <a:off x="6609603" y="4469611"/>
            <a:ext cx="2470068" cy="1709466"/>
            <a:chOff x="9315611" y="4236135"/>
            <a:chExt cx="2470068" cy="1709466"/>
          </a:xfrm>
        </p:grpSpPr>
        <p:pic>
          <p:nvPicPr>
            <p:cNvPr id="34" name="图片 33">
              <a:extLst>
                <a:ext uri="{FF2B5EF4-FFF2-40B4-BE49-F238E27FC236}">
                  <a16:creationId xmlns:a16="http://schemas.microsoft.com/office/drawing/2014/main" id="{21178F14-350E-6B0D-329B-707A5D8683E3}"/>
                </a:ext>
              </a:extLst>
            </p:cNvPr>
            <p:cNvPicPr>
              <a:picLocks noChangeAspect="1"/>
            </p:cNvPicPr>
            <p:nvPr/>
          </p:nvPicPr>
          <p:blipFill>
            <a:blip r:embed="rId8"/>
            <a:stretch>
              <a:fillRect/>
            </a:stretch>
          </p:blipFill>
          <p:spPr>
            <a:xfrm>
              <a:off x="9547601" y="4236135"/>
              <a:ext cx="2006087" cy="1695285"/>
            </a:xfrm>
            <a:prstGeom prst="rect">
              <a:avLst/>
            </a:prstGeom>
          </p:spPr>
        </p:pic>
        <p:sp>
          <p:nvSpPr>
            <p:cNvPr id="83" name="矩形: 圆角 82">
              <a:extLst>
                <a:ext uri="{FF2B5EF4-FFF2-40B4-BE49-F238E27FC236}">
                  <a16:creationId xmlns:a16="http://schemas.microsoft.com/office/drawing/2014/main" id="{454EC91C-9E0F-DF88-6BE0-F8614FFFD51C}"/>
                </a:ext>
              </a:extLst>
            </p:cNvPr>
            <p:cNvSpPr/>
            <p:nvPr/>
          </p:nvSpPr>
          <p:spPr>
            <a:xfrm>
              <a:off x="9315611" y="4283950"/>
              <a:ext cx="2470068" cy="1661651"/>
            </a:xfrm>
            <a:prstGeom prst="round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8" name="矩形: 圆角 87">
            <a:extLst>
              <a:ext uri="{FF2B5EF4-FFF2-40B4-BE49-F238E27FC236}">
                <a16:creationId xmlns:a16="http://schemas.microsoft.com/office/drawing/2014/main" id="{A171CC73-4982-E56C-F7CE-E7109359B3D2}"/>
              </a:ext>
            </a:extLst>
          </p:cNvPr>
          <p:cNvSpPr/>
          <p:nvPr/>
        </p:nvSpPr>
        <p:spPr>
          <a:xfrm>
            <a:off x="7037371" y="3662317"/>
            <a:ext cx="1486066" cy="433438"/>
          </a:xfrm>
          <a:prstGeom prst="roundRect">
            <a:avLst/>
          </a:prstGeom>
          <a:solidFill>
            <a:schemeClr val="bg1"/>
          </a:solidFill>
          <a:ln w="28575">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00000"/>
                </a:solidFill>
                <a:latin typeface="微软雅黑" panose="020B0503020204020204" pitchFamily="34" charset="-122"/>
                <a:ea typeface="微软雅黑" panose="020B0503020204020204" pitchFamily="34" charset="-122"/>
              </a:rPr>
              <a:t>现场与室内试验</a:t>
            </a:r>
          </a:p>
        </p:txBody>
      </p:sp>
      <p:sp>
        <p:nvSpPr>
          <p:cNvPr id="89" name="矩形: 圆角 88">
            <a:extLst>
              <a:ext uri="{FF2B5EF4-FFF2-40B4-BE49-F238E27FC236}">
                <a16:creationId xmlns:a16="http://schemas.microsoft.com/office/drawing/2014/main" id="{11F9D324-BA26-9BB6-058A-9D9F26C48331}"/>
              </a:ext>
            </a:extLst>
          </p:cNvPr>
          <p:cNvSpPr/>
          <p:nvPr/>
        </p:nvSpPr>
        <p:spPr>
          <a:xfrm>
            <a:off x="9994845" y="3668010"/>
            <a:ext cx="1486066" cy="433438"/>
          </a:xfrm>
          <a:prstGeom prst="roundRect">
            <a:avLst/>
          </a:prstGeom>
          <a:solidFill>
            <a:schemeClr val="bg1"/>
          </a:solidFill>
          <a:ln w="28575">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00000"/>
                </a:solidFill>
                <a:latin typeface="微软雅黑" panose="020B0503020204020204" pitchFamily="34" charset="-122"/>
                <a:ea typeface="微软雅黑" panose="020B0503020204020204" pitchFamily="34" charset="-122"/>
              </a:rPr>
              <a:t>测井解释方法</a:t>
            </a:r>
          </a:p>
        </p:txBody>
      </p:sp>
      <p:sp>
        <p:nvSpPr>
          <p:cNvPr id="90" name="矩形: 圆角 89">
            <a:extLst>
              <a:ext uri="{FF2B5EF4-FFF2-40B4-BE49-F238E27FC236}">
                <a16:creationId xmlns:a16="http://schemas.microsoft.com/office/drawing/2014/main" id="{A171CC73-4982-E56C-F7CE-E7109359B3D2}"/>
              </a:ext>
            </a:extLst>
          </p:cNvPr>
          <p:cNvSpPr/>
          <p:nvPr/>
        </p:nvSpPr>
        <p:spPr>
          <a:xfrm>
            <a:off x="6948420" y="6286512"/>
            <a:ext cx="1708591" cy="433438"/>
          </a:xfrm>
          <a:prstGeom prst="roundRect">
            <a:avLst/>
          </a:prstGeom>
          <a:solidFill>
            <a:schemeClr val="bg1"/>
          </a:solidFill>
          <a:ln w="28575">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三维地质力学模型</a:t>
            </a:r>
          </a:p>
        </p:txBody>
      </p:sp>
      <p:sp>
        <p:nvSpPr>
          <p:cNvPr id="91" name="矩形: 圆角 90">
            <a:extLst>
              <a:ext uri="{FF2B5EF4-FFF2-40B4-BE49-F238E27FC236}">
                <a16:creationId xmlns:a16="http://schemas.microsoft.com/office/drawing/2014/main" id="{A171CC73-4982-E56C-F7CE-E7109359B3D2}"/>
              </a:ext>
            </a:extLst>
          </p:cNvPr>
          <p:cNvSpPr/>
          <p:nvPr/>
        </p:nvSpPr>
        <p:spPr>
          <a:xfrm>
            <a:off x="10121532" y="6286512"/>
            <a:ext cx="1339896" cy="433438"/>
          </a:xfrm>
          <a:prstGeom prst="roundRect">
            <a:avLst/>
          </a:prstGeom>
          <a:solidFill>
            <a:schemeClr val="bg1"/>
          </a:solidFill>
          <a:ln w="28575">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地球物理方法</a:t>
            </a:r>
          </a:p>
        </p:txBody>
      </p:sp>
      <p:sp>
        <p:nvSpPr>
          <p:cNvPr id="93" name="文本框 92">
            <a:extLst>
              <a:ext uri="{FF2B5EF4-FFF2-40B4-BE49-F238E27FC236}">
                <a16:creationId xmlns:a16="http://schemas.microsoft.com/office/drawing/2014/main" id="{9FCB87BA-145F-CC9E-7A9D-4965C4697248}"/>
              </a:ext>
            </a:extLst>
          </p:cNvPr>
          <p:cNvSpPr txBox="1"/>
          <p:nvPr/>
        </p:nvSpPr>
        <p:spPr>
          <a:xfrm>
            <a:off x="2360468" y="2854041"/>
            <a:ext cx="1865990" cy="334259"/>
          </a:xfrm>
          <a:prstGeom prst="rect">
            <a:avLst/>
          </a:prstGeom>
          <a:noFill/>
        </p:spPr>
        <p:txBody>
          <a:bodyPr wrap="square">
            <a:spAutoFit/>
          </a:bodyPr>
          <a:lstStyle/>
          <a:p>
            <a:pPr algn="ctr">
              <a:lnSpc>
                <a:spcPct val="150000"/>
              </a:lnSpc>
              <a:buNone/>
            </a:pPr>
            <a:r>
              <a:rPr lang="zh-CN" altLang="zh-CN" sz="1200" b="1" kern="100" dirty="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地应力实验测量技术</a:t>
            </a:r>
          </a:p>
        </p:txBody>
      </p:sp>
      <p:grpSp>
        <p:nvGrpSpPr>
          <p:cNvPr id="108" name="组合 107">
            <a:extLst>
              <a:ext uri="{FF2B5EF4-FFF2-40B4-BE49-F238E27FC236}">
                <a16:creationId xmlns:a16="http://schemas.microsoft.com/office/drawing/2014/main" id="{DB3FB72E-20F5-89B7-0AE0-C49D17682340}"/>
              </a:ext>
            </a:extLst>
          </p:cNvPr>
          <p:cNvGrpSpPr/>
          <p:nvPr/>
        </p:nvGrpSpPr>
        <p:grpSpPr>
          <a:xfrm>
            <a:off x="168735" y="1867868"/>
            <a:ext cx="6144324" cy="768246"/>
            <a:chOff x="168735" y="1867868"/>
            <a:chExt cx="6144324" cy="768246"/>
          </a:xfrm>
        </p:grpSpPr>
        <p:sp>
          <p:nvSpPr>
            <p:cNvPr id="92" name="矩形 91">
              <a:extLst>
                <a:ext uri="{FF2B5EF4-FFF2-40B4-BE49-F238E27FC236}">
                  <a16:creationId xmlns:a16="http://schemas.microsoft.com/office/drawing/2014/main" id="{F6400013-D581-19FC-4494-82E741D8E08D}"/>
                </a:ext>
              </a:extLst>
            </p:cNvPr>
            <p:cNvSpPr/>
            <p:nvPr/>
          </p:nvSpPr>
          <p:spPr>
            <a:xfrm>
              <a:off x="168735" y="1868731"/>
              <a:ext cx="1145969" cy="74844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单点或局部地应力测量</a:t>
              </a:r>
            </a:p>
          </p:txBody>
        </p:sp>
        <p:sp>
          <p:nvSpPr>
            <p:cNvPr id="94" name="矩形 93">
              <a:extLst>
                <a:ext uri="{FF2B5EF4-FFF2-40B4-BE49-F238E27FC236}">
                  <a16:creationId xmlns:a16="http://schemas.microsoft.com/office/drawing/2014/main" id="{64FE9875-4DAD-F64A-621E-E9BAFD02BD6F}"/>
                </a:ext>
              </a:extLst>
            </p:cNvPr>
            <p:cNvSpPr/>
            <p:nvPr/>
          </p:nvSpPr>
          <p:spPr>
            <a:xfrm>
              <a:off x="1598962" y="1887674"/>
              <a:ext cx="1266293" cy="74844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连续剖面解释</a:t>
              </a:r>
            </a:p>
          </p:txBody>
        </p:sp>
        <p:sp>
          <p:nvSpPr>
            <p:cNvPr id="95" name="矩形 94">
              <a:extLst>
                <a:ext uri="{FF2B5EF4-FFF2-40B4-BE49-F238E27FC236}">
                  <a16:creationId xmlns:a16="http://schemas.microsoft.com/office/drawing/2014/main" id="{F6400013-D581-19FC-4494-82E741D8E08D}"/>
                </a:ext>
              </a:extLst>
            </p:cNvPr>
            <p:cNvSpPr/>
            <p:nvPr/>
          </p:nvSpPr>
          <p:spPr>
            <a:xfrm>
              <a:off x="3084655" y="1868731"/>
              <a:ext cx="1486891" cy="74844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区域地应力表征</a:t>
              </a:r>
            </a:p>
          </p:txBody>
        </p:sp>
        <p:sp>
          <p:nvSpPr>
            <p:cNvPr id="96" name="矩形 95">
              <a:extLst>
                <a:ext uri="{FF2B5EF4-FFF2-40B4-BE49-F238E27FC236}">
                  <a16:creationId xmlns:a16="http://schemas.microsoft.com/office/drawing/2014/main" id="{D01DEF69-6017-2784-6526-C5ECC6DC23D7}"/>
                </a:ext>
              </a:extLst>
            </p:cNvPr>
            <p:cNvSpPr/>
            <p:nvPr/>
          </p:nvSpPr>
          <p:spPr>
            <a:xfrm>
              <a:off x="4826168" y="1867868"/>
              <a:ext cx="1486891" cy="74844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三维可视化表征</a:t>
              </a:r>
            </a:p>
          </p:txBody>
        </p:sp>
        <p:sp>
          <p:nvSpPr>
            <p:cNvPr id="97" name="箭头: 右 96">
              <a:extLst>
                <a:ext uri="{FF2B5EF4-FFF2-40B4-BE49-F238E27FC236}">
                  <a16:creationId xmlns:a16="http://schemas.microsoft.com/office/drawing/2014/main" id="{DAAD7C2C-201D-3AB0-2D35-289700133792}"/>
                </a:ext>
              </a:extLst>
            </p:cNvPr>
            <p:cNvSpPr/>
            <p:nvPr/>
          </p:nvSpPr>
          <p:spPr>
            <a:xfrm>
              <a:off x="1335664" y="2181901"/>
              <a:ext cx="221047" cy="153439"/>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箭头: 右 97">
              <a:extLst>
                <a:ext uri="{FF2B5EF4-FFF2-40B4-BE49-F238E27FC236}">
                  <a16:creationId xmlns:a16="http://schemas.microsoft.com/office/drawing/2014/main" id="{F419C7EF-C510-C434-52F9-9A0CBE207C04}"/>
                </a:ext>
              </a:extLst>
            </p:cNvPr>
            <p:cNvSpPr/>
            <p:nvPr/>
          </p:nvSpPr>
          <p:spPr>
            <a:xfrm>
              <a:off x="2883537" y="2179844"/>
              <a:ext cx="221047" cy="153439"/>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箭头: 右 98">
              <a:extLst>
                <a:ext uri="{FF2B5EF4-FFF2-40B4-BE49-F238E27FC236}">
                  <a16:creationId xmlns:a16="http://schemas.microsoft.com/office/drawing/2014/main" id="{56CDD3AE-C0BF-61DC-5C69-B4F916FE3758}"/>
                </a:ext>
              </a:extLst>
            </p:cNvPr>
            <p:cNvSpPr/>
            <p:nvPr/>
          </p:nvSpPr>
          <p:spPr>
            <a:xfrm>
              <a:off x="4604584" y="2193730"/>
              <a:ext cx="221047" cy="153439"/>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73693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D7063-C1E4-DA89-8EDE-BDCBEE1494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6A9513-AFD2-FE6E-0F1D-D1F9CA079693}"/>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页岩储层地应力表征研究</a:t>
            </a:r>
          </a:p>
        </p:txBody>
      </p:sp>
      <p:pic>
        <p:nvPicPr>
          <p:cNvPr id="3" name="图片 2">
            <a:extLst>
              <a:ext uri="{FF2B5EF4-FFF2-40B4-BE49-F238E27FC236}">
                <a16:creationId xmlns:a16="http://schemas.microsoft.com/office/drawing/2014/main" id="{69845A06-3154-D245-4935-9BE1B5CDE98B}"/>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71AF1C07-FF82-5445-6E9B-9572377814AD}"/>
              </a:ext>
            </a:extLst>
          </p:cNvPr>
          <p:cNvSpPr txBox="1"/>
          <p:nvPr/>
        </p:nvSpPr>
        <p:spPr>
          <a:xfrm>
            <a:off x="351929" y="1043031"/>
            <a:ext cx="11618260" cy="961097"/>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t>压裂诱导应力、多井干扰、裂缝扩展、生产压降等都会导致地应力场发生变化</a:t>
            </a:r>
            <a:endParaRPr lang="en-US" altLang="zh-CN" sz="2000" b="1" dirty="0"/>
          </a:p>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近年来，地应力研究逐渐由三维静态地应力表征向四维动态地应力演化研究发展</a:t>
            </a:r>
          </a:p>
        </p:txBody>
      </p:sp>
      <p:pic>
        <p:nvPicPr>
          <p:cNvPr id="19" name="图片 18">
            <a:extLst>
              <a:ext uri="{FF2B5EF4-FFF2-40B4-BE49-F238E27FC236}">
                <a16:creationId xmlns:a16="http://schemas.microsoft.com/office/drawing/2014/main" id="{CD0F5A53-C460-2158-2304-E92DE0650DD4}"/>
              </a:ext>
            </a:extLst>
          </p:cNvPr>
          <p:cNvPicPr>
            <a:picLocks noChangeAspect="1"/>
          </p:cNvPicPr>
          <p:nvPr/>
        </p:nvPicPr>
        <p:blipFill>
          <a:blip r:embed="rId4"/>
          <a:stretch>
            <a:fillRect/>
          </a:stretch>
        </p:blipFill>
        <p:spPr>
          <a:xfrm>
            <a:off x="427662" y="2058504"/>
            <a:ext cx="4689500" cy="4249834"/>
          </a:xfrm>
          <a:prstGeom prst="rect">
            <a:avLst/>
          </a:prstGeom>
        </p:spPr>
      </p:pic>
      <p:sp>
        <p:nvSpPr>
          <p:cNvPr id="20" name="文本框 19">
            <a:extLst>
              <a:ext uri="{FF2B5EF4-FFF2-40B4-BE49-F238E27FC236}">
                <a16:creationId xmlns:a16="http://schemas.microsoft.com/office/drawing/2014/main" id="{F60C3715-7918-1B39-26B8-C3E6FB5D0A00}"/>
              </a:ext>
            </a:extLst>
          </p:cNvPr>
          <p:cNvSpPr txBox="1"/>
          <p:nvPr/>
        </p:nvSpPr>
        <p:spPr>
          <a:xfrm>
            <a:off x="1139656" y="6362715"/>
            <a:ext cx="34552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zh-CN"/>
            </a:defPPr>
            <a:lvl1pPr algn="ctr">
              <a:defRPr sz="1200" b="1">
                <a:solidFill>
                  <a:srgbClr val="C00000"/>
                </a:solidFill>
                <a:latin typeface="微软雅黑" panose="020B0503020204020204" pitchFamily="34" charset="-122"/>
                <a:ea typeface="微软雅黑" panose="020B0503020204020204" pitchFamily="34" charset="-122"/>
              </a:defRPr>
            </a:lvl1pPr>
          </a:lstStyle>
          <a:p>
            <a:r>
              <a:rPr lang="zh-CN" altLang="en-US" dirty="0"/>
              <a:t>地应力场演化原因及其影响</a:t>
            </a:r>
            <a:endParaRPr lang="en-US" altLang="zh-CN" dirty="0"/>
          </a:p>
          <a:p>
            <a:r>
              <a:rPr lang="zh-CN" altLang="en-US" dirty="0"/>
              <a:t>（史璨，</a:t>
            </a:r>
            <a:r>
              <a:rPr lang="en-US" altLang="zh-CN" dirty="0"/>
              <a:t>2023</a:t>
            </a:r>
            <a:r>
              <a:rPr lang="zh-CN" altLang="en-US" dirty="0"/>
              <a:t>）</a:t>
            </a:r>
          </a:p>
        </p:txBody>
      </p:sp>
      <p:pic>
        <p:nvPicPr>
          <p:cNvPr id="25" name="图片 24">
            <a:extLst>
              <a:ext uri="{FF2B5EF4-FFF2-40B4-BE49-F238E27FC236}">
                <a16:creationId xmlns:a16="http://schemas.microsoft.com/office/drawing/2014/main" id="{146F2407-825B-0636-8AC8-F3C98733DF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8244" y="2452254"/>
            <a:ext cx="5197280" cy="359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矩形 25">
            <a:extLst>
              <a:ext uri="{FF2B5EF4-FFF2-40B4-BE49-F238E27FC236}">
                <a16:creationId xmlns:a16="http://schemas.microsoft.com/office/drawing/2014/main" id="{884652F2-95B4-D0A0-9232-EAD46FA63525}"/>
              </a:ext>
            </a:extLst>
          </p:cNvPr>
          <p:cNvSpPr/>
          <p:nvPr/>
        </p:nvSpPr>
        <p:spPr>
          <a:xfrm>
            <a:off x="7087051" y="6308338"/>
            <a:ext cx="3284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zh-CN" sz="1200" b="1" dirty="0">
                <a:solidFill>
                  <a:srgbClr val="C00000"/>
                </a:solidFill>
                <a:latin typeface="微软雅黑" panose="020B0503020204020204" pitchFamily="34" charset="-122"/>
                <a:ea typeface="微软雅黑" panose="020B0503020204020204" pitchFamily="34" charset="-122"/>
              </a:rPr>
              <a:t>不同水力裂缝形态下孔隙压力及地应力分布变化</a:t>
            </a:r>
            <a:r>
              <a:rPr lang="zh-CN" altLang="en-US" sz="1200" b="1" dirty="0">
                <a:solidFill>
                  <a:srgbClr val="C00000"/>
                </a:solidFill>
                <a:latin typeface="微软雅黑" panose="020B0503020204020204" pitchFamily="34" charset="-122"/>
                <a:ea typeface="微软雅黑" panose="020B0503020204020204" pitchFamily="34" charset="-122"/>
              </a:rPr>
              <a:t>（朱海燕等，</a:t>
            </a:r>
            <a:r>
              <a:rPr lang="en-US" altLang="zh-CN" sz="1200" b="1" dirty="0">
                <a:solidFill>
                  <a:srgbClr val="C00000"/>
                </a:solidFill>
                <a:latin typeface="微软雅黑" panose="020B0503020204020204" pitchFamily="34" charset="-122"/>
                <a:ea typeface="微软雅黑" panose="020B0503020204020204" pitchFamily="34" charset="-122"/>
              </a:rPr>
              <a:t>2021</a:t>
            </a:r>
            <a:r>
              <a:rPr lang="zh-CN" altLang="en-US" sz="1200" b="1" dirty="0">
                <a:solidFill>
                  <a:srgbClr val="C0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182801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41DA0-6DAD-6567-B63E-ABC249D63A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162ECE7-5C6E-CA9B-54E7-85434E31239F}"/>
              </a:ext>
            </a:extLst>
          </p:cNvPr>
          <p:cNvSpPr txBox="1">
            <a:spLocks noChangeArrowheads="1"/>
          </p:cNvSpPr>
          <p:nvPr/>
        </p:nvSpPr>
        <p:spPr bwMode="auto">
          <a:xfrm>
            <a:off x="-178641" y="326398"/>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lang="zh-CN" altLang="en-US" dirty="0">
                <a:sym typeface="+mn-ea"/>
              </a:rPr>
              <a:t>汇报</a:t>
            </a: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提纲</a:t>
            </a:r>
          </a:p>
        </p:txBody>
      </p:sp>
      <p:sp>
        <p:nvSpPr>
          <p:cNvPr id="2" name="文本框 1">
            <a:extLst>
              <a:ext uri="{FF2B5EF4-FFF2-40B4-BE49-F238E27FC236}">
                <a16:creationId xmlns:a16="http://schemas.microsoft.com/office/drawing/2014/main" id="{1232C3A9-83B5-21EE-EA03-D19A203EA291}"/>
              </a:ext>
            </a:extLst>
          </p:cNvPr>
          <p:cNvSpPr txBox="1"/>
          <p:nvPr/>
        </p:nvSpPr>
        <p:spPr>
          <a:xfrm>
            <a:off x="2765029" y="2142247"/>
            <a:ext cx="6661941" cy="3409459"/>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一、</a:t>
            </a:r>
            <a:r>
              <a:rPr lang="zh-CN" altLang="en-US" sz="2800" dirty="0">
                <a:solidFill>
                  <a:schemeClr val="tx1"/>
                </a:solidFill>
              </a:rPr>
              <a:t>页岩储层地应力表征研究</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lang="zh-CN" altLang="en-US" sz="2800" dirty="0"/>
              <a:t>二、水力裂缝扩展规律研究</a:t>
            </a:r>
            <a:endParaRPr lang="en-US" altLang="zh-CN" sz="2800" dirty="0"/>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三、</a:t>
            </a:r>
            <a:r>
              <a:rPr lang="zh-CN" altLang="en-US" sz="2800" dirty="0">
                <a:solidFill>
                  <a:schemeClr val="tx1"/>
                </a:solidFill>
              </a:rPr>
              <a:t>地应力演化与裂缝扩展协同演化</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四、存在问题与未来展望</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p:txBody>
      </p:sp>
      <p:pic>
        <p:nvPicPr>
          <p:cNvPr id="3" name="图片 2">
            <a:extLst>
              <a:ext uri="{FF2B5EF4-FFF2-40B4-BE49-F238E27FC236}">
                <a16:creationId xmlns:a16="http://schemas.microsoft.com/office/drawing/2014/main" id="{B299EF03-2D14-69C0-144B-0F0F36B721FA}"/>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Tree>
    <p:extLst>
      <p:ext uri="{BB962C8B-B14F-4D97-AF65-F5344CB8AC3E}">
        <p14:creationId xmlns:p14="http://schemas.microsoft.com/office/powerpoint/2010/main" val="2675635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F9581-F044-C302-5A92-1EC02AAFBC5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392FC1-9E79-7C44-39E1-0A39B3E932DB}"/>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水力裂缝扩展规律研究</a:t>
            </a:r>
          </a:p>
        </p:txBody>
      </p:sp>
      <p:pic>
        <p:nvPicPr>
          <p:cNvPr id="3" name="图片 2">
            <a:extLst>
              <a:ext uri="{FF2B5EF4-FFF2-40B4-BE49-F238E27FC236}">
                <a16:creationId xmlns:a16="http://schemas.microsoft.com/office/drawing/2014/main" id="{31BF3A6B-4089-CB09-3881-2E4B178C4694}"/>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C7B7AC0D-858F-000C-480F-A5D466B9473E}"/>
              </a:ext>
            </a:extLst>
          </p:cNvPr>
          <p:cNvSpPr txBox="1"/>
          <p:nvPr/>
        </p:nvSpPr>
        <p:spPr>
          <a:xfrm>
            <a:off x="175404" y="1205494"/>
            <a:ext cx="11618260" cy="49866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水力裂缝扩展理论发展</a:t>
            </a:r>
          </a:p>
        </p:txBody>
      </p:sp>
      <p:pic>
        <p:nvPicPr>
          <p:cNvPr id="8" name="图片 7">
            <a:extLst>
              <a:ext uri="{FF2B5EF4-FFF2-40B4-BE49-F238E27FC236}">
                <a16:creationId xmlns:a16="http://schemas.microsoft.com/office/drawing/2014/main" id="{763D955A-43AF-6478-9A23-5C1E6B5D9008}"/>
              </a:ext>
            </a:extLst>
          </p:cNvPr>
          <p:cNvPicPr>
            <a:picLocks noChangeAspect="1"/>
          </p:cNvPicPr>
          <p:nvPr/>
        </p:nvPicPr>
        <p:blipFill>
          <a:blip r:embed="rId4"/>
          <a:srcRect r="36358" b="13053"/>
          <a:stretch>
            <a:fillRect/>
          </a:stretch>
        </p:blipFill>
        <p:spPr>
          <a:xfrm>
            <a:off x="1473389" y="2047035"/>
            <a:ext cx="3225466" cy="1234671"/>
          </a:xfrm>
          <a:prstGeom prst="rect">
            <a:avLst/>
          </a:prstGeom>
        </p:spPr>
      </p:pic>
      <p:grpSp>
        <p:nvGrpSpPr>
          <p:cNvPr id="16" name="组合 15">
            <a:extLst>
              <a:ext uri="{FF2B5EF4-FFF2-40B4-BE49-F238E27FC236}">
                <a16:creationId xmlns:a16="http://schemas.microsoft.com/office/drawing/2014/main" id="{75C16162-ED55-82AE-8CC1-D3F628FB3B6F}"/>
              </a:ext>
            </a:extLst>
          </p:cNvPr>
          <p:cNvGrpSpPr/>
          <p:nvPr/>
        </p:nvGrpSpPr>
        <p:grpSpPr>
          <a:xfrm>
            <a:off x="3215274" y="4729681"/>
            <a:ext cx="4039758" cy="1372414"/>
            <a:chOff x="4506850" y="3224337"/>
            <a:chExt cx="4399643" cy="1489221"/>
          </a:xfrm>
        </p:grpSpPr>
        <p:pic>
          <p:nvPicPr>
            <p:cNvPr id="13" name="图片 12">
              <a:extLst>
                <a:ext uri="{FF2B5EF4-FFF2-40B4-BE49-F238E27FC236}">
                  <a16:creationId xmlns:a16="http://schemas.microsoft.com/office/drawing/2014/main" id="{D654A04E-80C4-DBB5-FCDF-82CCCF081F3E}"/>
                </a:ext>
              </a:extLst>
            </p:cNvPr>
            <p:cNvPicPr>
              <a:picLocks noChangeAspect="1"/>
            </p:cNvPicPr>
            <p:nvPr/>
          </p:nvPicPr>
          <p:blipFill>
            <a:blip r:embed="rId5"/>
            <a:srcRect l="-50" t="-1165" r="55669" b="10833"/>
            <a:stretch>
              <a:fillRect/>
            </a:stretch>
          </p:blipFill>
          <p:spPr>
            <a:xfrm>
              <a:off x="6696752" y="3282468"/>
              <a:ext cx="2209741" cy="1431090"/>
            </a:xfrm>
            <a:prstGeom prst="rect">
              <a:avLst/>
            </a:prstGeom>
          </p:spPr>
        </p:pic>
        <p:pic>
          <p:nvPicPr>
            <p:cNvPr id="15" name="图片 14">
              <a:extLst>
                <a:ext uri="{FF2B5EF4-FFF2-40B4-BE49-F238E27FC236}">
                  <a16:creationId xmlns:a16="http://schemas.microsoft.com/office/drawing/2014/main" id="{76F98A61-0603-F1D5-DF1F-BB241A404CC8}"/>
                </a:ext>
              </a:extLst>
            </p:cNvPr>
            <p:cNvPicPr>
              <a:picLocks noChangeAspect="1"/>
            </p:cNvPicPr>
            <p:nvPr/>
          </p:nvPicPr>
          <p:blipFill>
            <a:blip r:embed="rId5"/>
            <a:srcRect l="56878" b="10389"/>
            <a:stretch>
              <a:fillRect/>
            </a:stretch>
          </p:blipFill>
          <p:spPr>
            <a:xfrm>
              <a:off x="4506850" y="3224337"/>
              <a:ext cx="2167630" cy="1433230"/>
            </a:xfrm>
            <a:prstGeom prst="rect">
              <a:avLst/>
            </a:prstGeom>
          </p:spPr>
        </p:pic>
      </p:grpSp>
      <p:grpSp>
        <p:nvGrpSpPr>
          <p:cNvPr id="54" name="组合 53">
            <a:extLst>
              <a:ext uri="{FF2B5EF4-FFF2-40B4-BE49-F238E27FC236}">
                <a16:creationId xmlns:a16="http://schemas.microsoft.com/office/drawing/2014/main" id="{D7C0FCBA-EF32-D518-9B3F-87CC3950F59C}"/>
              </a:ext>
            </a:extLst>
          </p:cNvPr>
          <p:cNvGrpSpPr/>
          <p:nvPr/>
        </p:nvGrpSpPr>
        <p:grpSpPr>
          <a:xfrm>
            <a:off x="447922" y="4294471"/>
            <a:ext cx="11073223" cy="141113"/>
            <a:chOff x="499281" y="4374219"/>
            <a:chExt cx="11073223" cy="141113"/>
          </a:xfrm>
        </p:grpSpPr>
        <p:cxnSp>
          <p:nvCxnSpPr>
            <p:cNvPr id="19" name="直接连接符 18">
              <a:extLst>
                <a:ext uri="{FF2B5EF4-FFF2-40B4-BE49-F238E27FC236}">
                  <a16:creationId xmlns:a16="http://schemas.microsoft.com/office/drawing/2014/main" id="{840211B7-F938-87D3-85B5-92385268FEC7}"/>
                </a:ext>
              </a:extLst>
            </p:cNvPr>
            <p:cNvCxnSpPr/>
            <p:nvPr/>
          </p:nvCxnSpPr>
          <p:spPr>
            <a:xfrm>
              <a:off x="526991" y="4441371"/>
              <a:ext cx="11045513"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4F9E12D7-D1B9-2C60-3FCC-545F103640CE}"/>
                </a:ext>
              </a:extLst>
            </p:cNvPr>
            <p:cNvSpPr/>
            <p:nvPr/>
          </p:nvSpPr>
          <p:spPr>
            <a:xfrm>
              <a:off x="499281" y="4384963"/>
              <a:ext cx="112816" cy="112816"/>
            </a:xfrm>
            <a:prstGeom prst="ellipse">
              <a:avLst/>
            </a:prstGeom>
            <a:solidFill>
              <a:srgbClr val="FF0000"/>
            </a:solidFill>
            <a:ln>
              <a:solidFill>
                <a:srgbClr val="FF0000"/>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580B881B-4647-3759-E4F8-95AB9152D7B8}"/>
                </a:ext>
              </a:extLst>
            </p:cNvPr>
            <p:cNvSpPr/>
            <p:nvPr/>
          </p:nvSpPr>
          <p:spPr>
            <a:xfrm>
              <a:off x="2618038" y="4374219"/>
              <a:ext cx="112816" cy="112816"/>
            </a:xfrm>
            <a:prstGeom prst="ellipse">
              <a:avLst/>
            </a:prstGeom>
            <a:solidFill>
              <a:srgbClr val="FF0000"/>
            </a:solidFill>
            <a:ln>
              <a:solidFill>
                <a:srgbClr val="FF0000"/>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951DC4A2-3C7B-52BF-7EA7-A06AA9F0BAD6}"/>
                </a:ext>
              </a:extLst>
            </p:cNvPr>
            <p:cNvSpPr/>
            <p:nvPr/>
          </p:nvSpPr>
          <p:spPr>
            <a:xfrm>
              <a:off x="5399834" y="4384963"/>
              <a:ext cx="112816" cy="112816"/>
            </a:xfrm>
            <a:prstGeom prst="ellipse">
              <a:avLst/>
            </a:prstGeom>
            <a:solidFill>
              <a:srgbClr val="FF0000"/>
            </a:solidFill>
            <a:ln>
              <a:solidFill>
                <a:srgbClr val="FF0000"/>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C79F8AD-B80C-A6F1-D7A4-EB6618A38C86}"/>
                </a:ext>
              </a:extLst>
            </p:cNvPr>
            <p:cNvSpPr/>
            <p:nvPr/>
          </p:nvSpPr>
          <p:spPr>
            <a:xfrm>
              <a:off x="7930267" y="4402516"/>
              <a:ext cx="112816" cy="112816"/>
            </a:xfrm>
            <a:prstGeom prst="ellipse">
              <a:avLst/>
            </a:prstGeom>
            <a:solidFill>
              <a:srgbClr val="FF0000"/>
            </a:solidFill>
            <a:ln>
              <a:solidFill>
                <a:srgbClr val="FF0000"/>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57BAF92A-9777-D946-6109-EE2F2DC036AE}"/>
                </a:ext>
              </a:extLst>
            </p:cNvPr>
            <p:cNvSpPr/>
            <p:nvPr/>
          </p:nvSpPr>
          <p:spPr>
            <a:xfrm>
              <a:off x="10517108" y="4384963"/>
              <a:ext cx="112816" cy="112816"/>
            </a:xfrm>
            <a:prstGeom prst="ellipse">
              <a:avLst/>
            </a:prstGeom>
            <a:solidFill>
              <a:srgbClr val="FF0000"/>
            </a:solidFill>
            <a:ln>
              <a:solidFill>
                <a:srgbClr val="FF0000"/>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7667B795-14DC-E2C6-4069-FF4F966E3432}"/>
              </a:ext>
            </a:extLst>
          </p:cNvPr>
          <p:cNvSpPr txBox="1"/>
          <p:nvPr/>
        </p:nvSpPr>
        <p:spPr>
          <a:xfrm>
            <a:off x="116109" y="3478153"/>
            <a:ext cx="1672815" cy="613694"/>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t>Hubber-Willis</a:t>
            </a:r>
          </a:p>
          <a:p>
            <a:r>
              <a:rPr lang="zh-CN" altLang="en-US" dirty="0"/>
              <a:t>水力压裂基本理论</a:t>
            </a:r>
          </a:p>
        </p:txBody>
      </p:sp>
      <p:sp>
        <p:nvSpPr>
          <p:cNvPr id="26" name="文本框 25">
            <a:extLst>
              <a:ext uri="{FF2B5EF4-FFF2-40B4-BE49-F238E27FC236}">
                <a16:creationId xmlns:a16="http://schemas.microsoft.com/office/drawing/2014/main" id="{1F2FFE23-EF89-6BC3-3F1E-16FF333B3C25}"/>
              </a:ext>
            </a:extLst>
          </p:cNvPr>
          <p:cNvSpPr txBox="1"/>
          <p:nvPr/>
        </p:nvSpPr>
        <p:spPr>
          <a:xfrm>
            <a:off x="101714" y="4520776"/>
            <a:ext cx="1436914" cy="613694"/>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裂缝沿最大水平主应力方向延伸</a:t>
            </a:r>
          </a:p>
        </p:txBody>
      </p:sp>
      <p:sp>
        <p:nvSpPr>
          <p:cNvPr id="27" name="文本框 26">
            <a:extLst>
              <a:ext uri="{FF2B5EF4-FFF2-40B4-BE49-F238E27FC236}">
                <a16:creationId xmlns:a16="http://schemas.microsoft.com/office/drawing/2014/main" id="{10C2A44F-9DEA-BEA0-8AD4-A63F51B69127}"/>
              </a:ext>
            </a:extLst>
          </p:cNvPr>
          <p:cNvSpPr txBox="1"/>
          <p:nvPr/>
        </p:nvSpPr>
        <p:spPr>
          <a:xfrm>
            <a:off x="2180882" y="3551482"/>
            <a:ext cx="2371252" cy="613694"/>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t>PKN/KGD</a:t>
            </a:r>
            <a:r>
              <a:rPr lang="zh-CN" altLang="en-US" dirty="0"/>
              <a:t>二维解析模型</a:t>
            </a:r>
            <a:endParaRPr lang="en-US" altLang="zh-CN" dirty="0"/>
          </a:p>
          <a:p>
            <a:r>
              <a:rPr lang="zh-CN" altLang="en-US" dirty="0"/>
              <a:t>平面应变假设</a:t>
            </a:r>
          </a:p>
        </p:txBody>
      </p:sp>
      <p:sp>
        <p:nvSpPr>
          <p:cNvPr id="28" name="文本框 27">
            <a:extLst>
              <a:ext uri="{FF2B5EF4-FFF2-40B4-BE49-F238E27FC236}">
                <a16:creationId xmlns:a16="http://schemas.microsoft.com/office/drawing/2014/main" id="{854CE568-A415-63BB-829A-F1C87F774D0F}"/>
              </a:ext>
            </a:extLst>
          </p:cNvPr>
          <p:cNvSpPr txBox="1"/>
          <p:nvPr/>
        </p:nvSpPr>
        <p:spPr>
          <a:xfrm>
            <a:off x="7358827" y="4415819"/>
            <a:ext cx="2371252" cy="613694"/>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数值模拟方法</a:t>
            </a:r>
            <a:endParaRPr lang="en-US" altLang="zh-CN" dirty="0"/>
          </a:p>
          <a:p>
            <a:r>
              <a:rPr lang="zh-CN" altLang="en-US" dirty="0"/>
              <a:t>考虑裂缝偏转与分叉</a:t>
            </a:r>
          </a:p>
        </p:txBody>
      </p:sp>
      <p:sp>
        <p:nvSpPr>
          <p:cNvPr id="29" name="文本框 28">
            <a:extLst>
              <a:ext uri="{FF2B5EF4-FFF2-40B4-BE49-F238E27FC236}">
                <a16:creationId xmlns:a16="http://schemas.microsoft.com/office/drawing/2014/main" id="{883762D9-90C9-1ACC-B25F-BF93DE8C2FAB}"/>
              </a:ext>
            </a:extLst>
          </p:cNvPr>
          <p:cNvSpPr txBox="1"/>
          <p:nvPr/>
        </p:nvSpPr>
        <p:spPr>
          <a:xfrm>
            <a:off x="4886844" y="3507493"/>
            <a:ext cx="2371252" cy="613694"/>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拟三维模型</a:t>
            </a:r>
            <a:endParaRPr lang="en-US" altLang="zh-CN" dirty="0"/>
          </a:p>
          <a:p>
            <a:r>
              <a:rPr lang="zh-CN" altLang="en-US" dirty="0"/>
              <a:t>考虑缝高变化</a:t>
            </a:r>
          </a:p>
        </p:txBody>
      </p:sp>
      <p:sp>
        <p:nvSpPr>
          <p:cNvPr id="30" name="文本框 29">
            <a:extLst>
              <a:ext uri="{FF2B5EF4-FFF2-40B4-BE49-F238E27FC236}">
                <a16:creationId xmlns:a16="http://schemas.microsoft.com/office/drawing/2014/main" id="{082ECE1D-B6D1-425D-3A0B-39372335E6D5}"/>
              </a:ext>
            </a:extLst>
          </p:cNvPr>
          <p:cNvSpPr txBox="1"/>
          <p:nvPr/>
        </p:nvSpPr>
        <p:spPr>
          <a:xfrm>
            <a:off x="10211181" y="3741412"/>
            <a:ext cx="1640402" cy="33669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复杂缝网模拟</a:t>
            </a:r>
          </a:p>
        </p:txBody>
      </p:sp>
      <p:pic>
        <p:nvPicPr>
          <p:cNvPr id="32" name="图片 31">
            <a:extLst>
              <a:ext uri="{FF2B5EF4-FFF2-40B4-BE49-F238E27FC236}">
                <a16:creationId xmlns:a16="http://schemas.microsoft.com/office/drawing/2014/main" id="{F4C0EF86-31E5-DD3B-328F-43BA136A516D}"/>
              </a:ext>
            </a:extLst>
          </p:cNvPr>
          <p:cNvPicPr>
            <a:picLocks noChangeAspect="1"/>
          </p:cNvPicPr>
          <p:nvPr/>
        </p:nvPicPr>
        <p:blipFill>
          <a:blip r:embed="rId6"/>
          <a:stretch>
            <a:fillRect/>
          </a:stretch>
        </p:blipFill>
        <p:spPr>
          <a:xfrm>
            <a:off x="6482319" y="1952790"/>
            <a:ext cx="3065469" cy="1692394"/>
          </a:xfrm>
          <a:prstGeom prst="rect">
            <a:avLst/>
          </a:prstGeom>
        </p:spPr>
      </p:pic>
      <p:pic>
        <p:nvPicPr>
          <p:cNvPr id="34" name="图片 33">
            <a:extLst>
              <a:ext uri="{FF2B5EF4-FFF2-40B4-BE49-F238E27FC236}">
                <a16:creationId xmlns:a16="http://schemas.microsoft.com/office/drawing/2014/main" id="{2F3F582F-0B47-ADEC-A2B0-F1A7785AA56D}"/>
              </a:ext>
            </a:extLst>
          </p:cNvPr>
          <p:cNvPicPr>
            <a:picLocks noChangeAspect="1"/>
          </p:cNvPicPr>
          <p:nvPr/>
        </p:nvPicPr>
        <p:blipFill>
          <a:blip r:embed="rId7"/>
          <a:stretch>
            <a:fillRect/>
          </a:stretch>
        </p:blipFill>
        <p:spPr>
          <a:xfrm>
            <a:off x="9408264" y="4464792"/>
            <a:ext cx="2443319" cy="1739084"/>
          </a:xfrm>
          <a:prstGeom prst="rect">
            <a:avLst/>
          </a:prstGeom>
        </p:spPr>
      </p:pic>
      <p:sp>
        <p:nvSpPr>
          <p:cNvPr id="35" name="文本框 34">
            <a:extLst>
              <a:ext uri="{FF2B5EF4-FFF2-40B4-BE49-F238E27FC236}">
                <a16:creationId xmlns:a16="http://schemas.microsoft.com/office/drawing/2014/main" id="{2656C3CA-B7F5-EBF3-878E-E21AFAACC410}"/>
              </a:ext>
            </a:extLst>
          </p:cNvPr>
          <p:cNvSpPr txBox="1"/>
          <p:nvPr/>
        </p:nvSpPr>
        <p:spPr>
          <a:xfrm>
            <a:off x="2516517" y="4332803"/>
            <a:ext cx="893570" cy="336695"/>
          </a:xfrm>
          <a:prstGeom prst="rect">
            <a:avLst/>
          </a:prstGeom>
          <a:noFill/>
        </p:spPr>
        <p:txBody>
          <a:bodyPr wrap="square">
            <a:spAutoFit/>
          </a:bodyPr>
          <a:lstStyle>
            <a:defPPr>
              <a:defRPr lang="zh-CN"/>
            </a:defPPr>
            <a:lvl1pPr algn="ctr">
              <a:lnSpc>
                <a:spcPct val="150000"/>
              </a:lnSpc>
              <a:buNone/>
              <a:defRPr sz="1200" b="1" kern="100">
                <a:solidFill>
                  <a:schemeClr val="tx1">
                    <a:lumMod val="65000"/>
                    <a:lumOff val="35000"/>
                  </a:schemeClr>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t>1960s</a:t>
            </a:r>
            <a:endParaRPr lang="zh-CN" altLang="en-US" dirty="0"/>
          </a:p>
        </p:txBody>
      </p:sp>
      <p:sp>
        <p:nvSpPr>
          <p:cNvPr id="36" name="文本框 35">
            <a:extLst>
              <a:ext uri="{FF2B5EF4-FFF2-40B4-BE49-F238E27FC236}">
                <a16:creationId xmlns:a16="http://schemas.microsoft.com/office/drawing/2014/main" id="{E1622EEC-F423-1734-D1CF-A9354086D139}"/>
              </a:ext>
            </a:extLst>
          </p:cNvPr>
          <p:cNvSpPr txBox="1"/>
          <p:nvPr/>
        </p:nvSpPr>
        <p:spPr>
          <a:xfrm>
            <a:off x="447922" y="4025557"/>
            <a:ext cx="893570" cy="33669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solidFill>
                  <a:schemeClr val="tx1">
                    <a:lumMod val="65000"/>
                    <a:lumOff val="35000"/>
                  </a:schemeClr>
                </a:solidFill>
              </a:rPr>
              <a:t>1950s</a:t>
            </a:r>
            <a:endParaRPr lang="zh-CN" altLang="en-US" dirty="0">
              <a:solidFill>
                <a:schemeClr val="tx1">
                  <a:lumMod val="65000"/>
                  <a:lumOff val="35000"/>
                </a:schemeClr>
              </a:solidFill>
            </a:endParaRPr>
          </a:p>
        </p:txBody>
      </p:sp>
      <p:sp>
        <p:nvSpPr>
          <p:cNvPr id="37" name="文本框 36">
            <a:extLst>
              <a:ext uri="{FF2B5EF4-FFF2-40B4-BE49-F238E27FC236}">
                <a16:creationId xmlns:a16="http://schemas.microsoft.com/office/drawing/2014/main" id="{304BF748-7079-1FE0-E9ED-DC57E8247444}"/>
              </a:ext>
            </a:extLst>
          </p:cNvPr>
          <p:cNvSpPr txBox="1"/>
          <p:nvPr/>
        </p:nvSpPr>
        <p:spPr>
          <a:xfrm>
            <a:off x="5421132" y="4048560"/>
            <a:ext cx="893570" cy="307777"/>
          </a:xfrm>
          <a:prstGeom prst="rect">
            <a:avLst/>
          </a:prstGeom>
          <a:noFill/>
        </p:spPr>
        <p:txBody>
          <a:bodyPr wrap="square">
            <a:spAutoFit/>
          </a:bodyPr>
          <a:lstStyle>
            <a:defPPr>
              <a:defRPr lang="zh-CN"/>
            </a:defPPr>
            <a:lvl1pPr algn="ctr">
              <a:lnSpc>
                <a:spcPct val="150000"/>
              </a:lnSpc>
              <a:buNone/>
              <a:defRPr sz="1200" b="1" kern="100">
                <a:solidFill>
                  <a:schemeClr val="tx1">
                    <a:lumMod val="65000"/>
                    <a:lumOff val="35000"/>
                  </a:schemeClr>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t>1980s</a:t>
            </a:r>
            <a:endParaRPr lang="zh-CN" altLang="en-US" dirty="0"/>
          </a:p>
        </p:txBody>
      </p:sp>
      <p:sp>
        <p:nvSpPr>
          <p:cNvPr id="38" name="文本框 37">
            <a:extLst>
              <a:ext uri="{FF2B5EF4-FFF2-40B4-BE49-F238E27FC236}">
                <a16:creationId xmlns:a16="http://schemas.microsoft.com/office/drawing/2014/main" id="{3377C79C-9C28-2A02-22CE-0012A5B3AFDC}"/>
              </a:ext>
            </a:extLst>
          </p:cNvPr>
          <p:cNvSpPr txBox="1"/>
          <p:nvPr/>
        </p:nvSpPr>
        <p:spPr>
          <a:xfrm>
            <a:off x="7986674" y="4032363"/>
            <a:ext cx="893570" cy="307777"/>
          </a:xfrm>
          <a:prstGeom prst="rect">
            <a:avLst/>
          </a:prstGeom>
          <a:noFill/>
        </p:spPr>
        <p:txBody>
          <a:bodyPr wrap="square">
            <a:spAutoFit/>
          </a:bodyPr>
          <a:lstStyle>
            <a:defPPr>
              <a:defRPr lang="zh-CN"/>
            </a:defPPr>
            <a:lvl1pPr algn="ctr">
              <a:lnSpc>
                <a:spcPct val="150000"/>
              </a:lnSpc>
              <a:buNone/>
              <a:defRPr sz="1200" b="1" kern="100">
                <a:solidFill>
                  <a:schemeClr val="tx1">
                    <a:lumMod val="65000"/>
                    <a:lumOff val="35000"/>
                  </a:schemeClr>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t>2000s</a:t>
            </a:r>
            <a:endParaRPr lang="zh-CN" altLang="en-US" dirty="0"/>
          </a:p>
        </p:txBody>
      </p:sp>
      <p:sp>
        <p:nvSpPr>
          <p:cNvPr id="39" name="文本框 36">
            <a:extLst>
              <a:ext uri="{FF2B5EF4-FFF2-40B4-BE49-F238E27FC236}">
                <a16:creationId xmlns:a16="http://schemas.microsoft.com/office/drawing/2014/main" id="{304BF748-7079-1FE0-E9ED-DC57E8247444}"/>
              </a:ext>
            </a:extLst>
          </p:cNvPr>
          <p:cNvSpPr txBox="1"/>
          <p:nvPr/>
        </p:nvSpPr>
        <p:spPr>
          <a:xfrm>
            <a:off x="10618240" y="4039054"/>
            <a:ext cx="893570" cy="307777"/>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tx1">
                    <a:lumMod val="50000"/>
                    <a:lumOff val="50000"/>
                  </a:schemeClr>
                </a:solidFill>
              </a:rPr>
              <a:t>2010s+</a:t>
            </a:r>
            <a:endParaRPr lang="zh-CN" altLang="en-US" dirty="0">
              <a:solidFill>
                <a:schemeClr val="tx1">
                  <a:lumMod val="50000"/>
                  <a:lumOff val="50000"/>
                </a:schemeClr>
              </a:solidFill>
            </a:endParaRPr>
          </a:p>
        </p:txBody>
      </p:sp>
      <p:grpSp>
        <p:nvGrpSpPr>
          <p:cNvPr id="44" name="组合 43">
            <a:extLst>
              <a:ext uri="{FF2B5EF4-FFF2-40B4-BE49-F238E27FC236}">
                <a16:creationId xmlns:a16="http://schemas.microsoft.com/office/drawing/2014/main" id="{AFC1E47C-FB66-DFC3-0643-0A8E3D410F8D}"/>
              </a:ext>
            </a:extLst>
          </p:cNvPr>
          <p:cNvGrpSpPr/>
          <p:nvPr/>
        </p:nvGrpSpPr>
        <p:grpSpPr>
          <a:xfrm>
            <a:off x="492415" y="6326282"/>
            <a:ext cx="2925304" cy="369900"/>
            <a:chOff x="496905" y="6294442"/>
            <a:chExt cx="2925304" cy="369900"/>
          </a:xfrm>
        </p:grpSpPr>
        <p:sp>
          <p:nvSpPr>
            <p:cNvPr id="40" name="矩形 39">
              <a:extLst>
                <a:ext uri="{FF2B5EF4-FFF2-40B4-BE49-F238E27FC236}">
                  <a16:creationId xmlns:a16="http://schemas.microsoft.com/office/drawing/2014/main" id="{579B6C55-FC40-7D5E-1D19-243494486485}"/>
                </a:ext>
              </a:extLst>
            </p:cNvPr>
            <p:cNvSpPr/>
            <p:nvPr/>
          </p:nvSpPr>
          <p:spPr>
            <a:xfrm>
              <a:off x="496905" y="6294442"/>
              <a:ext cx="1296509" cy="3699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理想均质假设</a:t>
              </a:r>
            </a:p>
          </p:txBody>
        </p:sp>
        <p:sp>
          <p:nvSpPr>
            <p:cNvPr id="42" name="矩形 41">
              <a:extLst>
                <a:ext uri="{FF2B5EF4-FFF2-40B4-BE49-F238E27FC236}">
                  <a16:creationId xmlns:a16="http://schemas.microsoft.com/office/drawing/2014/main" id="{87098F46-7613-9500-56B9-C3EC2A059EA9}"/>
                </a:ext>
              </a:extLst>
            </p:cNvPr>
            <p:cNvSpPr/>
            <p:nvPr/>
          </p:nvSpPr>
          <p:spPr>
            <a:xfrm>
              <a:off x="2133897" y="6294442"/>
              <a:ext cx="1288312" cy="3699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复杂地质条件</a:t>
              </a:r>
            </a:p>
          </p:txBody>
        </p:sp>
        <p:sp>
          <p:nvSpPr>
            <p:cNvPr id="43" name="箭头: 右 42">
              <a:extLst>
                <a:ext uri="{FF2B5EF4-FFF2-40B4-BE49-F238E27FC236}">
                  <a16:creationId xmlns:a16="http://schemas.microsoft.com/office/drawing/2014/main" id="{6CDB2CA4-206C-50F2-DFE7-57464B10C48D}"/>
                </a:ext>
              </a:extLst>
            </p:cNvPr>
            <p:cNvSpPr/>
            <p:nvPr/>
          </p:nvSpPr>
          <p:spPr>
            <a:xfrm>
              <a:off x="1848219" y="6348557"/>
              <a:ext cx="283563" cy="26167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a:extLst>
              <a:ext uri="{FF2B5EF4-FFF2-40B4-BE49-F238E27FC236}">
                <a16:creationId xmlns:a16="http://schemas.microsoft.com/office/drawing/2014/main" id="{0C344F52-6BCF-1D70-960E-B583E79BB457}"/>
              </a:ext>
            </a:extLst>
          </p:cNvPr>
          <p:cNvGrpSpPr/>
          <p:nvPr/>
        </p:nvGrpSpPr>
        <p:grpSpPr>
          <a:xfrm>
            <a:off x="4203656" y="6344249"/>
            <a:ext cx="2923189" cy="387867"/>
            <a:chOff x="496905" y="6294442"/>
            <a:chExt cx="2923189" cy="387867"/>
          </a:xfrm>
        </p:grpSpPr>
        <p:sp>
          <p:nvSpPr>
            <p:cNvPr id="47" name="矩形 46">
              <a:extLst>
                <a:ext uri="{FF2B5EF4-FFF2-40B4-BE49-F238E27FC236}">
                  <a16:creationId xmlns:a16="http://schemas.microsoft.com/office/drawing/2014/main" id="{3B34F2D2-6E9D-E4E2-BA77-8786C84A0CF0}"/>
                </a:ext>
              </a:extLst>
            </p:cNvPr>
            <p:cNvSpPr/>
            <p:nvPr/>
          </p:nvSpPr>
          <p:spPr>
            <a:xfrm>
              <a:off x="496905" y="6294442"/>
              <a:ext cx="1296509" cy="3699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单裂缝</a:t>
              </a:r>
            </a:p>
          </p:txBody>
        </p:sp>
        <p:sp>
          <p:nvSpPr>
            <p:cNvPr id="48" name="矩形 47">
              <a:extLst>
                <a:ext uri="{FF2B5EF4-FFF2-40B4-BE49-F238E27FC236}">
                  <a16:creationId xmlns:a16="http://schemas.microsoft.com/office/drawing/2014/main" id="{A817F8CA-C3E0-C7AB-D4DF-506A40DA8152}"/>
                </a:ext>
              </a:extLst>
            </p:cNvPr>
            <p:cNvSpPr/>
            <p:nvPr/>
          </p:nvSpPr>
          <p:spPr>
            <a:xfrm>
              <a:off x="2131782" y="6312409"/>
              <a:ext cx="1288312" cy="3699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复杂缝网</a:t>
              </a:r>
            </a:p>
          </p:txBody>
        </p:sp>
        <p:sp>
          <p:nvSpPr>
            <p:cNvPr id="49" name="箭头: 右 48">
              <a:extLst>
                <a:ext uri="{FF2B5EF4-FFF2-40B4-BE49-F238E27FC236}">
                  <a16:creationId xmlns:a16="http://schemas.microsoft.com/office/drawing/2014/main" id="{D1440E2B-CC3C-333B-54EF-21A92093276D}"/>
                </a:ext>
              </a:extLst>
            </p:cNvPr>
            <p:cNvSpPr/>
            <p:nvPr/>
          </p:nvSpPr>
          <p:spPr>
            <a:xfrm>
              <a:off x="1848219" y="6348557"/>
              <a:ext cx="283563" cy="26167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a:extLst>
              <a:ext uri="{FF2B5EF4-FFF2-40B4-BE49-F238E27FC236}">
                <a16:creationId xmlns:a16="http://schemas.microsoft.com/office/drawing/2014/main" id="{AFC1E47C-FB66-DFC3-0643-0A8E3D410F8D}"/>
              </a:ext>
            </a:extLst>
          </p:cNvPr>
          <p:cNvGrpSpPr/>
          <p:nvPr/>
        </p:nvGrpSpPr>
        <p:grpSpPr>
          <a:xfrm>
            <a:off x="8383126" y="6334737"/>
            <a:ext cx="2923189" cy="387867"/>
            <a:chOff x="496905" y="6294442"/>
            <a:chExt cx="2923189" cy="387867"/>
          </a:xfrm>
        </p:grpSpPr>
        <p:sp>
          <p:nvSpPr>
            <p:cNvPr id="51" name="矩形 50">
              <a:extLst>
                <a:ext uri="{FF2B5EF4-FFF2-40B4-BE49-F238E27FC236}">
                  <a16:creationId xmlns:a16="http://schemas.microsoft.com/office/drawing/2014/main" id="{579B6C55-FC40-7D5E-1D19-243494486485}"/>
                </a:ext>
              </a:extLst>
            </p:cNvPr>
            <p:cNvSpPr/>
            <p:nvPr/>
          </p:nvSpPr>
          <p:spPr>
            <a:xfrm>
              <a:off x="496905" y="6294442"/>
              <a:ext cx="1296509" cy="3699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解析模型</a:t>
              </a:r>
            </a:p>
          </p:txBody>
        </p:sp>
        <p:sp>
          <p:nvSpPr>
            <p:cNvPr id="52" name="矩形 51">
              <a:extLst>
                <a:ext uri="{FF2B5EF4-FFF2-40B4-BE49-F238E27FC236}">
                  <a16:creationId xmlns:a16="http://schemas.microsoft.com/office/drawing/2014/main" id="{87098F46-7613-9500-56B9-C3EC2A059EA9}"/>
                </a:ext>
              </a:extLst>
            </p:cNvPr>
            <p:cNvSpPr/>
            <p:nvPr/>
          </p:nvSpPr>
          <p:spPr>
            <a:xfrm>
              <a:off x="2131782" y="6312409"/>
              <a:ext cx="1288312" cy="3699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数值模拟</a:t>
              </a:r>
            </a:p>
          </p:txBody>
        </p:sp>
        <p:sp>
          <p:nvSpPr>
            <p:cNvPr id="53" name="箭头: 右 52">
              <a:extLst>
                <a:ext uri="{FF2B5EF4-FFF2-40B4-BE49-F238E27FC236}">
                  <a16:creationId xmlns:a16="http://schemas.microsoft.com/office/drawing/2014/main" id="{6CDB2CA4-206C-50F2-DFE7-57464B10C48D}"/>
                </a:ext>
              </a:extLst>
            </p:cNvPr>
            <p:cNvSpPr/>
            <p:nvPr/>
          </p:nvSpPr>
          <p:spPr>
            <a:xfrm>
              <a:off x="1832295" y="6358069"/>
              <a:ext cx="283563" cy="26167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b="1">
                <a:solidFill>
                  <a:schemeClr val="tx1">
                    <a:lumMod val="65000"/>
                    <a:lumOff val="3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507150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76A8F-C4C2-9782-78B6-FA7CD9CB87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D01574-68B3-E7DE-80A9-9E6414791559}"/>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水力裂缝扩展研究</a:t>
            </a:r>
          </a:p>
        </p:txBody>
      </p:sp>
      <p:pic>
        <p:nvPicPr>
          <p:cNvPr id="3" name="图片 2">
            <a:extLst>
              <a:ext uri="{FF2B5EF4-FFF2-40B4-BE49-F238E27FC236}">
                <a16:creationId xmlns:a16="http://schemas.microsoft.com/office/drawing/2014/main" id="{385D08A3-5651-9D8F-E0A5-E8C2EBD2AEFD}"/>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9E4B7DC2-BE9C-23AF-69D7-18D5012E0DF0}"/>
              </a:ext>
            </a:extLst>
          </p:cNvPr>
          <p:cNvSpPr txBox="1"/>
          <p:nvPr/>
        </p:nvSpPr>
        <p:spPr>
          <a:xfrm>
            <a:off x="310365" y="1499403"/>
            <a:ext cx="11618260" cy="874214"/>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Ø"/>
            </a:pPr>
            <a:r>
              <a:rPr lang="zh-CN" altLang="zh-CN" b="1" dirty="0"/>
              <a:t>数值模拟方法具有</a:t>
            </a:r>
            <a:r>
              <a:rPr lang="zh-CN" altLang="zh-CN" b="1" dirty="0">
                <a:solidFill>
                  <a:srgbClr val="C00000"/>
                </a:solidFill>
              </a:rPr>
              <a:t>高效率、低成本、可重复</a:t>
            </a:r>
            <a:r>
              <a:rPr lang="zh-CN" altLang="zh-CN" b="1" dirty="0"/>
              <a:t>等优点</a:t>
            </a:r>
            <a:r>
              <a:rPr lang="zh-CN" altLang="en-US" b="1" dirty="0"/>
              <a:t>，目前已成为研究裂缝扩展规律的重要手段</a:t>
            </a:r>
            <a:endParaRPr lang="en-US" altLang="zh-CN" b="1" dirty="0"/>
          </a:p>
          <a:p>
            <a:pPr marL="285750" indent="-285750" algn="just">
              <a:lnSpc>
                <a:spcPct val="150000"/>
              </a:lnSpc>
              <a:buClr>
                <a:srgbClr val="C00000"/>
              </a:buClr>
              <a:buFont typeface="Wingdings" panose="05000000000000000000" pitchFamily="2" charset="2"/>
              <a:buChar char="Ø"/>
            </a:pPr>
            <a:r>
              <a:rPr lang="zh-CN" altLang="en-US" b="1" dirty="0">
                <a:latin typeface="Times New Roman" panose="02020603050405020304" pitchFamily="18" charset="0"/>
                <a:ea typeface="微软雅黑" panose="020B0503020204020204" pitchFamily="34" charset="-122"/>
              </a:rPr>
              <a:t>不同的数值模拟方法在裂缝扩展模拟尺度、天然裂缝表征能力等方面各有优势</a:t>
            </a:r>
          </a:p>
        </p:txBody>
      </p:sp>
      <p:graphicFrame>
        <p:nvGraphicFramePr>
          <p:cNvPr id="2" name="表格 1">
            <a:extLst>
              <a:ext uri="{FF2B5EF4-FFF2-40B4-BE49-F238E27FC236}">
                <a16:creationId xmlns:a16="http://schemas.microsoft.com/office/drawing/2014/main" id="{E24B9FAE-4EC9-8AC3-3A9C-D9884888FAA3}"/>
              </a:ext>
            </a:extLst>
          </p:cNvPr>
          <p:cNvGraphicFramePr>
            <a:graphicFrameLocks noGrp="1"/>
          </p:cNvGraphicFramePr>
          <p:nvPr>
            <p:extLst>
              <p:ext uri="{D42A27DB-BD31-4B8C-83A1-F6EECF244321}">
                <p14:modId xmlns:p14="http://schemas.microsoft.com/office/powerpoint/2010/main" val="2696562170"/>
              </p:ext>
            </p:extLst>
          </p:nvPr>
        </p:nvGraphicFramePr>
        <p:xfrm>
          <a:off x="1247148" y="2740452"/>
          <a:ext cx="8757913" cy="4051810"/>
        </p:xfrm>
        <a:graphic>
          <a:graphicData uri="http://schemas.openxmlformats.org/drawingml/2006/table">
            <a:tbl>
              <a:tblPr firstRow="1" firstCol="1" bandRow="1">
                <a:tableStyleId>{69012ECD-51FC-41F1-AA8D-1B2483CD663E}</a:tableStyleId>
              </a:tblPr>
              <a:tblGrid>
                <a:gridCol w="1205347">
                  <a:extLst>
                    <a:ext uri="{9D8B030D-6E8A-4147-A177-3AD203B41FA5}">
                      <a16:colId xmlns:a16="http://schemas.microsoft.com/office/drawing/2014/main" val="3143964267"/>
                    </a:ext>
                  </a:extLst>
                </a:gridCol>
                <a:gridCol w="801584">
                  <a:extLst>
                    <a:ext uri="{9D8B030D-6E8A-4147-A177-3AD203B41FA5}">
                      <a16:colId xmlns:a16="http://schemas.microsoft.com/office/drawing/2014/main" val="31719155"/>
                    </a:ext>
                  </a:extLst>
                </a:gridCol>
                <a:gridCol w="3416130">
                  <a:extLst>
                    <a:ext uri="{9D8B030D-6E8A-4147-A177-3AD203B41FA5}">
                      <a16:colId xmlns:a16="http://schemas.microsoft.com/office/drawing/2014/main" val="3305284269"/>
                    </a:ext>
                  </a:extLst>
                </a:gridCol>
                <a:gridCol w="3334852">
                  <a:extLst>
                    <a:ext uri="{9D8B030D-6E8A-4147-A177-3AD203B41FA5}">
                      <a16:colId xmlns:a16="http://schemas.microsoft.com/office/drawing/2014/main" val="284305408"/>
                    </a:ext>
                  </a:extLst>
                </a:gridCol>
              </a:tblGrid>
              <a:tr h="386474">
                <a:tc>
                  <a:txBody>
                    <a:bodyPr/>
                    <a:lstStyle/>
                    <a:p>
                      <a:pPr indent="127000" algn="ctr">
                        <a:lnSpc>
                          <a:spcPct val="150000"/>
                        </a:lnSpc>
                        <a:buNone/>
                      </a:pPr>
                      <a:r>
                        <a:rPr lang="zh-CN" altLang="en-US" sz="1200" kern="100" dirty="0">
                          <a:solidFill>
                            <a:schemeClr val="tx1"/>
                          </a:solidFill>
                          <a:effectLst/>
                        </a:rPr>
                        <a:t>类型</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方法</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适用场景</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局限性</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255712199"/>
                  </a:ext>
                </a:extLst>
              </a:tr>
              <a:tr h="458167">
                <a:tc rowSpan="4">
                  <a:txBody>
                    <a:bodyPr/>
                    <a:lstStyle/>
                    <a:p>
                      <a:pPr indent="127000" algn="ctr">
                        <a:lnSpc>
                          <a:spcPct val="150000"/>
                        </a:lnSpc>
                        <a:buNone/>
                      </a:pPr>
                      <a:r>
                        <a:rPr lang="zh-CN" altLang="en-US" sz="1200" kern="100" dirty="0">
                          <a:effectLst/>
                        </a:rPr>
                        <a:t>连续介质法</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B w="12700" cap="flat" cmpd="sng" algn="ctr">
                      <a:solidFill>
                        <a:schemeClr val="tx2">
                          <a:lumMod val="40000"/>
                          <a:lumOff val="60000"/>
                        </a:schemeClr>
                      </a:solidFill>
                      <a:prstDash val="solid"/>
                      <a:round/>
                      <a:headEnd type="none" w="med" len="med"/>
                      <a:tailEnd type="none" w="med" len="med"/>
                    </a:lnB>
                  </a:tcPr>
                </a:tc>
                <a:tc>
                  <a:txBody>
                    <a:bodyPr/>
                    <a:lstStyle/>
                    <a:p>
                      <a:pPr indent="127000" algn="ctr">
                        <a:lnSpc>
                          <a:spcPct val="150000"/>
                        </a:lnSpc>
                        <a:buNone/>
                      </a:pPr>
                      <a:r>
                        <a:rPr lang="en-US" sz="1050" kern="100" dirty="0">
                          <a:effectLst/>
                        </a:rPr>
                        <a:t>FEM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储层应力、渗流及多场耦合分析</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通常依赖网格重构，复杂分叉和交汇处理困难</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73255753"/>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CZM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裂缝起裂、张开及断裂过程</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需预设潜在裂缝路径，界面参数标定难度较大。</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04108164"/>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XFEM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水力裂缝转向及其与天然裂缝相互作用</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多裂缝分叉、交汇及三维计算实现较复杂。</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24178747"/>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PFM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裂缝起裂、转向、分叉过程及复杂裂缝网络演化</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计算成本较高，结果受长度尺度和网格尺寸影响</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0324522"/>
                  </a:ext>
                </a:extLst>
              </a:tr>
              <a:tr h="458167">
                <a:tc rowSpan="4">
                  <a:txBody>
                    <a:bodyPr/>
                    <a:lstStyle/>
                    <a:p>
                      <a:pPr indent="127000" algn="ctr">
                        <a:lnSpc>
                          <a:spcPct val="150000"/>
                        </a:lnSpc>
                        <a:buNone/>
                      </a:pPr>
                      <a:r>
                        <a:rPr lang="zh-CN" altLang="en-US" sz="1200" kern="100" dirty="0">
                          <a:effectLst/>
                        </a:rPr>
                        <a:t>非连续介质法</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T w="12700" cap="flat" cmpd="sng" algn="ctr">
                      <a:solidFill>
                        <a:schemeClr val="tx2">
                          <a:lumMod val="40000"/>
                          <a:lumOff val="60000"/>
                        </a:schemeClr>
                      </a:solidFill>
                      <a:prstDash val="solid"/>
                      <a:round/>
                      <a:headEnd type="none" w="med" len="med"/>
                      <a:tailEnd type="none" w="med" len="med"/>
                    </a:lnT>
                  </a:tcPr>
                </a:tc>
                <a:tc>
                  <a:txBody>
                    <a:bodyPr/>
                    <a:lstStyle/>
                    <a:p>
                      <a:pPr indent="127000" algn="ctr">
                        <a:lnSpc>
                          <a:spcPct val="150000"/>
                        </a:lnSpc>
                        <a:buNone/>
                      </a:pPr>
                      <a:r>
                        <a:rPr lang="en-US" sz="1050" kern="100" dirty="0">
                          <a:effectLst/>
                        </a:rPr>
                        <a:t>DDM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缝间应力干扰及水力裂缝扩展</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对复杂非均质和强非线性问题适应性有限</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56845704"/>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DEM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非均质及裂缝性储层复杂网络形成过程</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细观参数需标定，存在尺度效应且三维计算量较大</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75651746"/>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DDA</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节理和断层控制的块状储层变形</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对完整岩石中新裂纹萌生的描述能力有限</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93958422"/>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FDEM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裂缝起裂、扩展过程及水力裂缝</a:t>
                      </a:r>
                      <a:r>
                        <a:rPr lang="en-US" sz="1050" kern="100" dirty="0">
                          <a:effectLst/>
                        </a:rPr>
                        <a:t>-</a:t>
                      </a:r>
                      <a:r>
                        <a:rPr lang="zh-CN" sz="1050" kern="100" dirty="0">
                          <a:effectLst/>
                        </a:rPr>
                        <a:t>天然裂缝相互作用</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模型参数和接触算法复杂，三维多场耦合计算成本高</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36943390"/>
                  </a:ext>
                </a:extLst>
              </a:tr>
            </a:tbl>
          </a:graphicData>
        </a:graphic>
      </p:graphicFrame>
      <p:sp>
        <p:nvSpPr>
          <p:cNvPr id="7" name="文本框 6">
            <a:extLst>
              <a:ext uri="{FF2B5EF4-FFF2-40B4-BE49-F238E27FC236}">
                <a16:creationId xmlns:a16="http://schemas.microsoft.com/office/drawing/2014/main" id="{80C46AC6-649A-96D8-7DC5-A1DB665696E6}"/>
              </a:ext>
            </a:extLst>
          </p:cNvPr>
          <p:cNvSpPr txBox="1"/>
          <p:nvPr/>
        </p:nvSpPr>
        <p:spPr>
          <a:xfrm>
            <a:off x="2646883" y="2335309"/>
            <a:ext cx="6112822" cy="334259"/>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页岩储</a:t>
            </a:r>
            <a:r>
              <a:rPr lang="zh-CN" altLang="zh-CN" dirty="0"/>
              <a:t>层裂缝扩展典型数值模拟方法对比</a:t>
            </a:r>
          </a:p>
        </p:txBody>
      </p:sp>
      <p:sp>
        <p:nvSpPr>
          <p:cNvPr id="6" name="文本框 5">
            <a:extLst>
              <a:ext uri="{FF2B5EF4-FFF2-40B4-BE49-F238E27FC236}">
                <a16:creationId xmlns:a16="http://schemas.microsoft.com/office/drawing/2014/main" id="{1D312F8B-849F-5BAA-D274-9AC8536E69DE}"/>
              </a:ext>
            </a:extLst>
          </p:cNvPr>
          <p:cNvSpPr txBox="1"/>
          <p:nvPr/>
        </p:nvSpPr>
        <p:spPr>
          <a:xfrm>
            <a:off x="119799" y="1043031"/>
            <a:ext cx="11618260" cy="49866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裂缝扩展数值模拟方法</a:t>
            </a:r>
          </a:p>
        </p:txBody>
      </p:sp>
    </p:spTree>
    <p:extLst>
      <p:ext uri="{BB962C8B-B14F-4D97-AF65-F5344CB8AC3E}">
        <p14:creationId xmlns:p14="http://schemas.microsoft.com/office/powerpoint/2010/main" val="2540050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9D32E-3361-6C7C-286F-7A2B3BA6BB0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1CEE73E-AB4D-A052-7222-E00DDD5DA28E}"/>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B9B372FF-3FA6-9B26-7890-0C87F779E040}"/>
              </a:ext>
            </a:extLst>
          </p:cNvPr>
          <p:cNvSpPr txBox="1"/>
          <p:nvPr/>
        </p:nvSpPr>
        <p:spPr>
          <a:xfrm>
            <a:off x="213455" y="1203693"/>
            <a:ext cx="2133268" cy="49866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储层非均质性</a:t>
            </a:r>
          </a:p>
        </p:txBody>
      </p:sp>
      <p:sp>
        <p:nvSpPr>
          <p:cNvPr id="2" name="文本框 1">
            <a:extLst>
              <a:ext uri="{FF2B5EF4-FFF2-40B4-BE49-F238E27FC236}">
                <a16:creationId xmlns:a16="http://schemas.microsoft.com/office/drawing/2014/main" id="{44C69410-A917-7F77-D235-5374456CD47D}"/>
              </a:ext>
            </a:extLst>
          </p:cNvPr>
          <p:cNvSpPr txBox="1"/>
          <p:nvPr/>
        </p:nvSpPr>
        <p:spPr>
          <a:xfrm>
            <a:off x="303716" y="1984739"/>
            <a:ext cx="4856111" cy="1156855"/>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矿物组分、脆性矿物含量、层理结构和岩性差异等会改变局部应力分布，控制裂缝偏转、分叉和非对称扩展</a:t>
            </a:r>
            <a:endParaRPr lang="en-US" altLang="zh-CN" sz="1600" b="1" dirty="0">
              <a:ea typeface="微软雅黑" panose="020B0503020204020204" pitchFamily="34" charset="-122"/>
            </a:endParaRPr>
          </a:p>
        </p:txBody>
      </p:sp>
      <p:pic>
        <p:nvPicPr>
          <p:cNvPr id="13" name="图片 12">
            <a:extLst>
              <a:ext uri="{FF2B5EF4-FFF2-40B4-BE49-F238E27FC236}">
                <a16:creationId xmlns:a16="http://schemas.microsoft.com/office/drawing/2014/main" id="{2FE3B72C-BC7A-6AA9-9EBD-9E220869070B}"/>
              </a:ext>
            </a:extLst>
          </p:cNvPr>
          <p:cNvPicPr>
            <a:picLocks noChangeAspect="1"/>
          </p:cNvPicPr>
          <p:nvPr/>
        </p:nvPicPr>
        <p:blipFill>
          <a:blip r:embed="rId4"/>
          <a:stretch>
            <a:fillRect/>
          </a:stretch>
        </p:blipFill>
        <p:spPr>
          <a:xfrm>
            <a:off x="5851417" y="4450382"/>
            <a:ext cx="5829066" cy="1677310"/>
          </a:xfrm>
          <a:prstGeom prst="rect">
            <a:avLst/>
          </a:prstGeom>
        </p:spPr>
      </p:pic>
      <p:sp>
        <p:nvSpPr>
          <p:cNvPr id="7" name="文本框 6">
            <a:extLst>
              <a:ext uri="{FF2B5EF4-FFF2-40B4-BE49-F238E27FC236}">
                <a16:creationId xmlns:a16="http://schemas.microsoft.com/office/drawing/2014/main" id="{243B40E7-BA88-7919-F2C1-12F26711788A}"/>
              </a:ext>
            </a:extLst>
          </p:cNvPr>
          <p:cNvSpPr txBox="1"/>
          <p:nvPr/>
        </p:nvSpPr>
        <p:spPr>
          <a:xfrm>
            <a:off x="303716" y="3631742"/>
            <a:ext cx="1328430" cy="499432"/>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地应力</a:t>
            </a:r>
          </a:p>
        </p:txBody>
      </p:sp>
      <p:sp>
        <p:nvSpPr>
          <p:cNvPr id="8" name="文本框 16">
            <a:extLst>
              <a:ext uri="{FF2B5EF4-FFF2-40B4-BE49-F238E27FC236}">
                <a16:creationId xmlns:a16="http://schemas.microsoft.com/office/drawing/2014/main" id="{5783AA09-DC3D-AC18-ECBE-798931DD1DE6}"/>
              </a:ext>
            </a:extLst>
          </p:cNvPr>
          <p:cNvSpPr txBox="1"/>
          <p:nvPr/>
        </p:nvSpPr>
        <p:spPr>
          <a:xfrm>
            <a:off x="213454" y="4342996"/>
            <a:ext cx="5036634" cy="152618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水平应力差越大、裂缝越倾向于形成单一主裂缝；水平应力差较小时，裂缝更容易发生偏转、分叉，有利于复杂缝网形成</a:t>
            </a:r>
            <a:endParaRPr lang="en-US" altLang="zh-CN" sz="1600" b="1" dirty="0">
              <a:ea typeface="微软雅黑" panose="020B0503020204020204" pitchFamily="34" charset="-122"/>
            </a:endParaRPr>
          </a:p>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垂向应力差异易形成应力屏障，控制裂缝纵向扩展</a:t>
            </a:r>
            <a:endParaRPr lang="en-US" altLang="zh-CN" sz="1600" b="1" dirty="0">
              <a:ea typeface="微软雅黑" panose="020B0503020204020204" pitchFamily="34" charset="-122"/>
            </a:endParaRPr>
          </a:p>
        </p:txBody>
      </p:sp>
      <p:pic>
        <p:nvPicPr>
          <p:cNvPr id="10" name="图片 9">
            <a:extLst>
              <a:ext uri="{FF2B5EF4-FFF2-40B4-BE49-F238E27FC236}">
                <a16:creationId xmlns:a16="http://schemas.microsoft.com/office/drawing/2014/main" id="{2B283589-974A-51EE-E8A6-DA4D335A2B48}"/>
              </a:ext>
            </a:extLst>
          </p:cNvPr>
          <p:cNvPicPr>
            <a:picLocks noChangeAspect="1"/>
          </p:cNvPicPr>
          <p:nvPr/>
        </p:nvPicPr>
        <p:blipFill>
          <a:blip r:embed="rId5"/>
          <a:srcRect r="7555"/>
          <a:stretch>
            <a:fillRect/>
          </a:stretch>
        </p:blipFill>
        <p:spPr>
          <a:xfrm>
            <a:off x="8597735" y="1586365"/>
            <a:ext cx="3403263" cy="2031117"/>
          </a:xfrm>
          <a:prstGeom prst="rect">
            <a:avLst/>
          </a:prstGeom>
        </p:spPr>
      </p:pic>
      <p:sp>
        <p:nvSpPr>
          <p:cNvPr id="11" name="文本框 10">
            <a:extLst>
              <a:ext uri="{FF2B5EF4-FFF2-40B4-BE49-F238E27FC236}">
                <a16:creationId xmlns:a16="http://schemas.microsoft.com/office/drawing/2014/main" id="{1AF95130-B535-A74A-B9F0-415F02E16536}"/>
              </a:ext>
            </a:extLst>
          </p:cNvPr>
          <p:cNvSpPr txBox="1"/>
          <p:nvPr/>
        </p:nvSpPr>
        <p:spPr>
          <a:xfrm>
            <a:off x="7335164" y="6127692"/>
            <a:ext cx="2787652" cy="611706"/>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不同地应力组合特征下的裂缝扩展形态</a:t>
            </a:r>
            <a:endParaRPr lang="en-US" altLang="zh-CN" dirty="0"/>
          </a:p>
          <a:p>
            <a:r>
              <a:rPr lang="zh-CN" altLang="en-US" dirty="0"/>
              <a:t>（张家明等，</a:t>
            </a:r>
            <a:r>
              <a:rPr lang="en-US" altLang="zh-CN" dirty="0"/>
              <a:t>2024</a:t>
            </a:r>
            <a:r>
              <a:rPr lang="zh-CN" altLang="en-US" dirty="0"/>
              <a:t>）</a:t>
            </a:r>
          </a:p>
        </p:txBody>
      </p:sp>
      <p:sp>
        <p:nvSpPr>
          <p:cNvPr id="14" name="文本框 13">
            <a:extLst>
              <a:ext uri="{FF2B5EF4-FFF2-40B4-BE49-F238E27FC236}">
                <a16:creationId xmlns:a16="http://schemas.microsoft.com/office/drawing/2014/main" id="{CD20F716-6665-8E23-44E9-2EB395BA8145}"/>
              </a:ext>
            </a:extLst>
          </p:cNvPr>
          <p:cNvSpPr txBox="1"/>
          <p:nvPr/>
        </p:nvSpPr>
        <p:spPr>
          <a:xfrm>
            <a:off x="5493648" y="3775908"/>
            <a:ext cx="3235342" cy="611706"/>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水力裂缝在不同岩性中扩展的缝高和缝宽曲线（任智慧，</a:t>
            </a:r>
            <a:r>
              <a:rPr lang="en-US" altLang="zh-CN" dirty="0"/>
              <a:t>2025</a:t>
            </a:r>
            <a:r>
              <a:rPr lang="zh-CN" altLang="en-US" dirty="0"/>
              <a:t>）</a:t>
            </a:r>
          </a:p>
        </p:txBody>
      </p:sp>
      <p:pic>
        <p:nvPicPr>
          <p:cNvPr id="16" name="图片 15">
            <a:extLst>
              <a:ext uri="{FF2B5EF4-FFF2-40B4-BE49-F238E27FC236}">
                <a16:creationId xmlns:a16="http://schemas.microsoft.com/office/drawing/2014/main" id="{5758332D-62E4-FDD4-5BB3-FE668C9468A1}"/>
              </a:ext>
            </a:extLst>
          </p:cNvPr>
          <p:cNvPicPr>
            <a:picLocks noChangeAspect="1"/>
          </p:cNvPicPr>
          <p:nvPr/>
        </p:nvPicPr>
        <p:blipFill>
          <a:blip r:embed="rId6"/>
          <a:stretch>
            <a:fillRect/>
          </a:stretch>
        </p:blipFill>
        <p:spPr>
          <a:xfrm>
            <a:off x="5340351" y="1267132"/>
            <a:ext cx="3257384" cy="2481125"/>
          </a:xfrm>
          <a:prstGeom prst="rect">
            <a:avLst/>
          </a:prstGeom>
        </p:spPr>
      </p:pic>
      <p:sp>
        <p:nvSpPr>
          <p:cNvPr id="17" name="文本框 16">
            <a:extLst>
              <a:ext uri="{FF2B5EF4-FFF2-40B4-BE49-F238E27FC236}">
                <a16:creationId xmlns:a16="http://schemas.microsoft.com/office/drawing/2014/main" id="{6578E948-BC06-0931-1D00-5B027F70B9E4}"/>
              </a:ext>
            </a:extLst>
          </p:cNvPr>
          <p:cNvSpPr txBox="1"/>
          <p:nvPr/>
        </p:nvSpPr>
        <p:spPr>
          <a:xfrm>
            <a:off x="8929788" y="3838676"/>
            <a:ext cx="3120162" cy="611706"/>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水平地应力差对水力裂缝转向扩展的影响</a:t>
            </a:r>
            <a:endParaRPr lang="en-US" altLang="zh-CN" dirty="0"/>
          </a:p>
          <a:p>
            <a:r>
              <a:rPr lang="zh-CN" altLang="en-US" dirty="0"/>
              <a:t>（陈勉，</a:t>
            </a:r>
            <a:r>
              <a:rPr lang="en-US" altLang="zh-CN" dirty="0"/>
              <a:t>2013</a:t>
            </a:r>
            <a:r>
              <a:rPr lang="zh-CN" altLang="en-US" dirty="0"/>
              <a:t>）</a:t>
            </a:r>
          </a:p>
        </p:txBody>
      </p:sp>
      <p:sp>
        <p:nvSpPr>
          <p:cNvPr id="6" name="TextBox 3">
            <a:extLst>
              <a:ext uri="{FF2B5EF4-FFF2-40B4-BE49-F238E27FC236}">
                <a16:creationId xmlns:a16="http://schemas.microsoft.com/office/drawing/2014/main" id="{7FE4F927-121D-A179-9DA3-CF6BFC3366F9}"/>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水力裂缝扩展研究</a:t>
            </a:r>
            <a:r>
              <a:rPr kumimoji="0" lang="en-US" altLang="zh-CN"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a:t>
            </a:r>
            <a:r>
              <a:rPr lang="zh-CN" altLang="en-US" dirty="0">
                <a:solidFill>
                  <a:schemeClr val="bg1">
                    <a:lumMod val="65000"/>
                  </a:schemeClr>
                </a:solidFill>
                <a:sym typeface="+mn-ea"/>
              </a:rPr>
              <a:t>裂缝扩展影响因素</a:t>
            </a:r>
            <a:endPar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endParaRPr>
          </a:p>
        </p:txBody>
      </p:sp>
    </p:spTree>
    <p:extLst>
      <p:ext uri="{BB962C8B-B14F-4D97-AF65-F5344CB8AC3E}">
        <p14:creationId xmlns:p14="http://schemas.microsoft.com/office/powerpoint/2010/main" val="3027193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35C27-4676-50BB-23E3-138E750512C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D45EEAA-E575-B709-0375-9F1044EFA5D9}"/>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2AFCEBAF-DB16-A263-CE01-DCA726F7C047}"/>
              </a:ext>
            </a:extLst>
          </p:cNvPr>
          <p:cNvSpPr txBox="1"/>
          <p:nvPr/>
        </p:nvSpPr>
        <p:spPr>
          <a:xfrm>
            <a:off x="125589" y="1065267"/>
            <a:ext cx="1672814" cy="49866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天然裂缝</a:t>
            </a:r>
          </a:p>
        </p:txBody>
      </p:sp>
      <p:sp>
        <p:nvSpPr>
          <p:cNvPr id="7" name="文本框 6">
            <a:extLst>
              <a:ext uri="{FF2B5EF4-FFF2-40B4-BE49-F238E27FC236}">
                <a16:creationId xmlns:a16="http://schemas.microsoft.com/office/drawing/2014/main" id="{AE5AC3EA-4EF2-1790-6243-91067C4B0A4C}"/>
              </a:ext>
            </a:extLst>
          </p:cNvPr>
          <p:cNvSpPr txBox="1"/>
          <p:nvPr/>
        </p:nvSpPr>
        <p:spPr>
          <a:xfrm>
            <a:off x="8864581" y="6495468"/>
            <a:ext cx="2640254" cy="276999"/>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水力裂缝与天然裂缝相互作用示意图</a:t>
            </a:r>
          </a:p>
        </p:txBody>
      </p:sp>
      <p:graphicFrame>
        <p:nvGraphicFramePr>
          <p:cNvPr id="8" name="表格 7">
            <a:extLst>
              <a:ext uri="{FF2B5EF4-FFF2-40B4-BE49-F238E27FC236}">
                <a16:creationId xmlns:a16="http://schemas.microsoft.com/office/drawing/2014/main" id="{659F3D6A-5BAF-2813-0732-795928BDC4C7}"/>
              </a:ext>
            </a:extLst>
          </p:cNvPr>
          <p:cNvGraphicFramePr>
            <a:graphicFrameLocks noGrp="1"/>
          </p:cNvGraphicFramePr>
          <p:nvPr>
            <p:extLst>
              <p:ext uri="{D42A27DB-BD31-4B8C-83A1-F6EECF244321}">
                <p14:modId xmlns:p14="http://schemas.microsoft.com/office/powerpoint/2010/main" val="1247698242"/>
              </p:ext>
            </p:extLst>
          </p:nvPr>
        </p:nvGraphicFramePr>
        <p:xfrm>
          <a:off x="526848" y="2957891"/>
          <a:ext cx="6792772" cy="3572744"/>
        </p:xfrm>
        <a:graphic>
          <a:graphicData uri="http://schemas.openxmlformats.org/drawingml/2006/table">
            <a:tbl>
              <a:tblPr firstRow="1" firstCol="1" bandRow="1">
                <a:tableStyleId>{69012ECD-51FC-41F1-AA8D-1B2483CD663E}</a:tableStyleId>
              </a:tblPr>
              <a:tblGrid>
                <a:gridCol w="1416944">
                  <a:extLst>
                    <a:ext uri="{9D8B030D-6E8A-4147-A177-3AD203B41FA5}">
                      <a16:colId xmlns:a16="http://schemas.microsoft.com/office/drawing/2014/main" val="772633118"/>
                    </a:ext>
                  </a:extLst>
                </a:gridCol>
                <a:gridCol w="2322976">
                  <a:extLst>
                    <a:ext uri="{9D8B030D-6E8A-4147-A177-3AD203B41FA5}">
                      <a16:colId xmlns:a16="http://schemas.microsoft.com/office/drawing/2014/main" val="3673843500"/>
                    </a:ext>
                  </a:extLst>
                </a:gridCol>
                <a:gridCol w="1582271">
                  <a:extLst>
                    <a:ext uri="{9D8B030D-6E8A-4147-A177-3AD203B41FA5}">
                      <a16:colId xmlns:a16="http://schemas.microsoft.com/office/drawing/2014/main" val="576834787"/>
                    </a:ext>
                  </a:extLst>
                </a:gridCol>
                <a:gridCol w="1470581">
                  <a:extLst>
                    <a:ext uri="{9D8B030D-6E8A-4147-A177-3AD203B41FA5}">
                      <a16:colId xmlns:a16="http://schemas.microsoft.com/office/drawing/2014/main" val="4007208640"/>
                    </a:ext>
                  </a:extLst>
                </a:gridCol>
              </a:tblGrid>
              <a:tr h="401644">
                <a:tc>
                  <a:txBody>
                    <a:bodyPr/>
                    <a:lstStyle/>
                    <a:p>
                      <a:pPr indent="127000" algn="ctr">
                        <a:lnSpc>
                          <a:spcPct val="150000"/>
                        </a:lnSpc>
                        <a:buNone/>
                      </a:pPr>
                      <a:r>
                        <a:rPr lang="zh-CN" sz="1050" kern="100" dirty="0">
                          <a:solidFill>
                            <a:schemeClr val="tx1"/>
                          </a:solidFill>
                          <a:effectLst/>
                        </a:rPr>
                        <a:t>判别依据</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050" kern="100" dirty="0">
                          <a:solidFill>
                            <a:schemeClr val="tx1"/>
                          </a:solidFill>
                          <a:effectLst/>
                        </a:rPr>
                        <a:t>主要内容</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050" kern="100" dirty="0">
                          <a:solidFill>
                            <a:schemeClr val="tx1"/>
                          </a:solidFill>
                          <a:effectLst/>
                        </a:rPr>
                        <a:t>影响因素</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050" kern="100" dirty="0">
                          <a:solidFill>
                            <a:schemeClr val="tx1"/>
                          </a:solidFill>
                          <a:effectLst/>
                        </a:rPr>
                        <a:t>代表学者</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3555011"/>
                  </a:ext>
                </a:extLst>
              </a:tr>
              <a:tr h="702678">
                <a:tc>
                  <a:txBody>
                    <a:bodyPr/>
                    <a:lstStyle/>
                    <a:p>
                      <a:pPr indent="127000" algn="ctr">
                        <a:lnSpc>
                          <a:spcPct val="150000"/>
                        </a:lnSpc>
                        <a:buNone/>
                      </a:pPr>
                      <a:r>
                        <a:rPr lang="zh-CN" sz="1050" kern="100" dirty="0">
                          <a:effectLst/>
                        </a:rPr>
                        <a:t>应力差与逼近角</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水平应力差较大时水力裂缝倾向穿越天然裂缝，水平应力差较小时易发生偏转或沿天然裂缝扩展。</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水平主应力差、方位逼近角、地应力状态</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a:effectLst/>
                        </a:rPr>
                        <a:t>Blanton</a:t>
                      </a:r>
                      <a:r>
                        <a:rPr lang="zh-CN" sz="1050" kern="100">
                          <a:effectLst/>
                        </a:rPr>
                        <a:t>、</a:t>
                      </a:r>
                      <a:r>
                        <a:rPr lang="en-US" sz="1050" kern="100">
                          <a:effectLst/>
                        </a:rPr>
                        <a:t>Warpinski</a:t>
                      </a:r>
                      <a:r>
                        <a:rPr lang="zh-CN" sz="1050" kern="100">
                          <a:effectLst/>
                        </a:rPr>
                        <a:t>、</a:t>
                      </a:r>
                      <a:r>
                        <a:rPr lang="en-US" sz="1050" kern="100">
                          <a:effectLst/>
                        </a:rPr>
                        <a:t>Teufel</a:t>
                      </a:r>
                      <a:r>
                        <a:rPr lang="zh-CN" sz="1050" kern="100">
                          <a:effectLst/>
                        </a:rPr>
                        <a:t>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41513949"/>
                  </a:ext>
                </a:extLst>
              </a:tr>
              <a:tr h="702678">
                <a:tc>
                  <a:txBody>
                    <a:bodyPr/>
                    <a:lstStyle/>
                    <a:p>
                      <a:pPr indent="127000" algn="ctr">
                        <a:lnSpc>
                          <a:spcPct val="150000"/>
                        </a:lnSpc>
                        <a:buNone/>
                      </a:pPr>
                      <a:r>
                        <a:rPr lang="zh-CN" sz="1050" kern="100">
                          <a:effectLst/>
                        </a:rPr>
                        <a:t>摩擦滑移条件</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剪应力超过天然裂缝抗剪强度时，天然裂缝发生剪切滑移。</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天然裂缝黏聚力、摩擦系数、天然裂缝面正应力、流体压力</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Renshaw</a:t>
                      </a:r>
                      <a:r>
                        <a:rPr lang="zh-CN" sz="1050" kern="100" dirty="0">
                          <a:effectLst/>
                        </a:rPr>
                        <a:t>、</a:t>
                      </a:r>
                      <a:r>
                        <a:rPr lang="en-US" sz="1050" kern="100" dirty="0">
                          <a:effectLst/>
                        </a:rPr>
                        <a:t>Pollard</a:t>
                      </a:r>
                      <a:r>
                        <a:rPr lang="zh-CN" sz="1050" kern="100" dirty="0">
                          <a:effectLst/>
                        </a:rPr>
                        <a:t>、</a:t>
                      </a:r>
                      <a:r>
                        <a:rPr lang="en-US" sz="1050" kern="100" dirty="0">
                          <a:effectLst/>
                        </a:rPr>
                        <a:t>Gu</a:t>
                      </a:r>
                      <a:r>
                        <a:rPr lang="zh-CN" sz="1050" kern="100" dirty="0">
                          <a:effectLst/>
                        </a:rPr>
                        <a:t>、</a:t>
                      </a:r>
                      <a:r>
                        <a:rPr lang="en-US" sz="1050" kern="100" dirty="0">
                          <a:effectLst/>
                        </a:rPr>
                        <a:t>Weng</a:t>
                      </a:r>
                      <a:r>
                        <a:rPr lang="zh-CN" sz="1050" kern="100" dirty="0">
                          <a:effectLst/>
                        </a:rPr>
                        <a:t>等</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34559729"/>
                  </a:ext>
                </a:extLst>
              </a:tr>
              <a:tr h="458840">
                <a:tc>
                  <a:txBody>
                    <a:bodyPr/>
                    <a:lstStyle/>
                    <a:p>
                      <a:pPr indent="127000" algn="ctr">
                        <a:lnSpc>
                          <a:spcPct val="150000"/>
                        </a:lnSpc>
                        <a:buNone/>
                      </a:pPr>
                      <a:r>
                        <a:rPr lang="zh-CN" sz="1050" kern="100">
                          <a:effectLst/>
                        </a:rPr>
                        <a:t>裂缝开启压力</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流体压力超过临界开启压力时，天然裂缝张开并参与扩展。</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天然裂缝法向应力、抗拉强度、流体压力</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Zhou</a:t>
                      </a:r>
                      <a:r>
                        <a:rPr lang="zh-CN" sz="1050" kern="100" dirty="0">
                          <a:effectLst/>
                        </a:rPr>
                        <a:t>、</a:t>
                      </a:r>
                      <a:r>
                        <a:rPr lang="en-US" sz="1050" kern="100" dirty="0">
                          <a:effectLst/>
                        </a:rPr>
                        <a:t>Zhang</a:t>
                      </a:r>
                      <a:r>
                        <a:rPr lang="zh-CN" sz="1050" kern="100" dirty="0">
                          <a:effectLst/>
                        </a:rPr>
                        <a:t>等</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39815034"/>
                  </a:ext>
                </a:extLst>
              </a:tr>
              <a:tr h="653452">
                <a:tc>
                  <a:txBody>
                    <a:bodyPr/>
                    <a:lstStyle/>
                    <a:p>
                      <a:pPr indent="127000" algn="ctr">
                        <a:lnSpc>
                          <a:spcPct val="150000"/>
                        </a:lnSpc>
                        <a:buNone/>
                      </a:pPr>
                      <a:r>
                        <a:rPr lang="zh-CN" sz="1050" kern="100">
                          <a:effectLst/>
                        </a:rPr>
                        <a:t>应力强度因子</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比较裂缝应力强度因子与岩石断裂韧度确定裂缝起裂及扩展模式。</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应力强度因子、断裂韧度、裂缝几何参数</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a:effectLst/>
                        </a:rPr>
                        <a:t>Erdogan</a:t>
                      </a:r>
                      <a:r>
                        <a:rPr lang="zh-CN" sz="1050" kern="100">
                          <a:effectLst/>
                        </a:rPr>
                        <a:t>、</a:t>
                      </a:r>
                      <a:r>
                        <a:rPr lang="en-US" sz="1050" kern="100">
                          <a:effectLst/>
                        </a:rPr>
                        <a:t>Sih</a:t>
                      </a:r>
                      <a:r>
                        <a:rPr lang="zh-CN" sz="1050" kern="100">
                          <a:effectLst/>
                        </a:rPr>
                        <a:t>、</a:t>
                      </a:r>
                      <a:r>
                        <a:rPr lang="en-US" sz="1050" kern="100">
                          <a:effectLst/>
                        </a:rPr>
                        <a:t>He</a:t>
                      </a:r>
                      <a:r>
                        <a:rPr lang="zh-CN" sz="1050" kern="100">
                          <a:effectLst/>
                        </a:rPr>
                        <a:t>、</a:t>
                      </a:r>
                      <a:r>
                        <a:rPr lang="en-US" sz="1050" kern="100">
                          <a:effectLst/>
                        </a:rPr>
                        <a:t>Zhao</a:t>
                      </a:r>
                      <a:r>
                        <a:rPr lang="zh-CN" sz="1050" kern="100">
                          <a:effectLst/>
                        </a:rPr>
                        <a:t>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89352012"/>
                  </a:ext>
                </a:extLst>
              </a:tr>
              <a:tr h="653452">
                <a:tc>
                  <a:txBody>
                    <a:bodyPr/>
                    <a:lstStyle/>
                    <a:p>
                      <a:pPr indent="127000" algn="ctr">
                        <a:lnSpc>
                          <a:spcPct val="150000"/>
                        </a:lnSpc>
                        <a:buNone/>
                      </a:pPr>
                      <a:r>
                        <a:rPr lang="zh-CN" sz="1050" kern="100">
                          <a:effectLst/>
                        </a:rPr>
                        <a:t>能量释放率</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G</a:t>
                      </a:r>
                      <a:r>
                        <a:rPr lang="zh-CN" sz="1050" kern="100" dirty="0">
                          <a:effectLst/>
                        </a:rPr>
                        <a:t>＞</a:t>
                      </a:r>
                      <a:r>
                        <a:rPr lang="en-US" sz="1050" kern="100" dirty="0">
                          <a:effectLst/>
                        </a:rPr>
                        <a:t>Gc</a:t>
                      </a:r>
                      <a:r>
                        <a:rPr lang="zh-CN" sz="1050" kern="100" dirty="0">
                          <a:effectLst/>
                        </a:rPr>
                        <a:t>时裂缝发生稳定扩展，并趋向选择能量消耗较低路径。</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能量释放率、断裂能、岩石韧性</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Zhou</a:t>
                      </a:r>
                      <a:r>
                        <a:rPr lang="zh-CN" sz="1050" kern="100" dirty="0">
                          <a:effectLst/>
                        </a:rPr>
                        <a:t>、</a:t>
                      </a:r>
                      <a:r>
                        <a:rPr lang="en-US" sz="1050" kern="100" dirty="0">
                          <a:effectLst/>
                        </a:rPr>
                        <a:t>Warpinski</a:t>
                      </a:r>
                      <a:r>
                        <a:rPr lang="zh-CN" sz="1050" kern="100" dirty="0">
                          <a:effectLst/>
                        </a:rPr>
                        <a:t>、</a:t>
                      </a:r>
                      <a:r>
                        <a:rPr lang="en-US" sz="1050" kern="100" dirty="0">
                          <a:effectLst/>
                        </a:rPr>
                        <a:t>Olson</a:t>
                      </a:r>
                      <a:r>
                        <a:rPr lang="zh-CN" sz="1050" kern="100" dirty="0">
                          <a:effectLst/>
                        </a:rPr>
                        <a:t>等</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60759164"/>
                  </a:ext>
                </a:extLst>
              </a:tr>
            </a:tbl>
          </a:graphicData>
        </a:graphic>
      </p:graphicFrame>
      <p:grpSp>
        <p:nvGrpSpPr>
          <p:cNvPr id="9" name="组合 8">
            <a:extLst>
              <a:ext uri="{FF2B5EF4-FFF2-40B4-BE49-F238E27FC236}">
                <a16:creationId xmlns:a16="http://schemas.microsoft.com/office/drawing/2014/main" id="{2F142EEA-044B-3A45-E004-6B94E135DB61}"/>
              </a:ext>
            </a:extLst>
          </p:cNvPr>
          <p:cNvGrpSpPr/>
          <p:nvPr/>
        </p:nvGrpSpPr>
        <p:grpSpPr>
          <a:xfrm>
            <a:off x="8752274" y="1156209"/>
            <a:ext cx="2640254" cy="5296302"/>
            <a:chOff x="8842737" y="1165689"/>
            <a:chExt cx="2720798" cy="5701032"/>
          </a:xfrm>
        </p:grpSpPr>
        <p:pic>
          <p:nvPicPr>
            <p:cNvPr id="10" name="图片 9">
              <a:extLst>
                <a:ext uri="{FF2B5EF4-FFF2-40B4-BE49-F238E27FC236}">
                  <a16:creationId xmlns:a16="http://schemas.microsoft.com/office/drawing/2014/main" id="{D72623F3-58E0-8997-5B99-8D362B1C11A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 t="17798" r="66871" b="-1668"/>
            <a:stretch>
              <a:fillRect/>
            </a:stretch>
          </p:blipFill>
          <p:spPr bwMode="auto">
            <a:xfrm>
              <a:off x="8842737" y="1165689"/>
              <a:ext cx="2717460" cy="2079141"/>
            </a:xfrm>
            <a:prstGeom prst="rect">
              <a:avLst/>
            </a:prstGeom>
            <a:ln>
              <a:noFill/>
            </a:ln>
            <a:extLst>
              <a:ext uri="{53640926-AAD7-44D8-BBD7-CCE9431645EC}">
                <a14:shadowObscured xmlns:a14="http://schemas.microsoft.com/office/drawing/2010/main"/>
              </a:ext>
            </a:extLst>
          </p:spPr>
        </p:pic>
        <p:pic>
          <p:nvPicPr>
            <p:cNvPr id="11" name="图片 10">
              <a:extLst>
                <a:ext uri="{FF2B5EF4-FFF2-40B4-BE49-F238E27FC236}">
                  <a16:creationId xmlns:a16="http://schemas.microsoft.com/office/drawing/2014/main" id="{B6E715A9-8CC5-C4D0-F3F1-C70D9B59AF3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3391" t="17445" r="33466" b="-1070"/>
            <a:stretch>
              <a:fillRect/>
            </a:stretch>
          </p:blipFill>
          <p:spPr bwMode="auto">
            <a:xfrm>
              <a:off x="8842737" y="2962115"/>
              <a:ext cx="2717460" cy="2072260"/>
            </a:xfrm>
            <a:prstGeom prst="rect">
              <a:avLst/>
            </a:prstGeom>
            <a:ln>
              <a:noFill/>
            </a:ln>
            <a:extLst>
              <a:ext uri="{53640926-AAD7-44D8-BBD7-CCE9431645EC}">
                <a14:shadowObscured xmlns:a14="http://schemas.microsoft.com/office/drawing/2010/main"/>
              </a:ext>
            </a:extLst>
          </p:spPr>
        </p:pic>
        <p:pic>
          <p:nvPicPr>
            <p:cNvPr id="12" name="图片 11">
              <a:extLst>
                <a:ext uri="{FF2B5EF4-FFF2-40B4-BE49-F238E27FC236}">
                  <a16:creationId xmlns:a16="http://schemas.microsoft.com/office/drawing/2014/main" id="{3C21316E-30E8-05C6-CB42-A25FAB085C8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7066" t="16729"/>
            <a:stretch>
              <a:fillRect/>
            </a:stretch>
          </p:blipFill>
          <p:spPr bwMode="auto">
            <a:xfrm>
              <a:off x="8842737" y="4787579"/>
              <a:ext cx="2720798" cy="2079142"/>
            </a:xfrm>
            <a:prstGeom prst="rect">
              <a:avLst/>
            </a:prstGeom>
            <a:ln>
              <a:noFill/>
            </a:ln>
            <a:extLst>
              <a:ext uri="{53640926-AAD7-44D8-BBD7-CCE9431645EC}">
                <a14:shadowObscured xmlns:a14="http://schemas.microsoft.com/office/drawing/2010/main"/>
              </a:ext>
            </a:extLst>
          </p:spPr>
        </p:pic>
      </p:grpSp>
      <p:sp>
        <p:nvSpPr>
          <p:cNvPr id="14" name="文本框 13">
            <a:extLst>
              <a:ext uri="{FF2B5EF4-FFF2-40B4-BE49-F238E27FC236}">
                <a16:creationId xmlns:a16="http://schemas.microsoft.com/office/drawing/2014/main" id="{C48A8FC7-4A9A-97B8-B2CF-8A6CAC7C7302}"/>
              </a:ext>
            </a:extLst>
          </p:cNvPr>
          <p:cNvSpPr txBox="1"/>
          <p:nvPr/>
        </p:nvSpPr>
        <p:spPr>
          <a:xfrm>
            <a:off x="46990" y="6530635"/>
            <a:ext cx="4261517" cy="293991"/>
          </a:xfrm>
          <a:prstGeom prst="rect">
            <a:avLst/>
          </a:prstGeom>
          <a:noFill/>
        </p:spPr>
        <p:txBody>
          <a:bodyPr wrap="square">
            <a:spAutoFit/>
          </a:bodyPr>
          <a:lstStyle/>
          <a:p>
            <a:pPr indent="127000" algn="just">
              <a:lnSpc>
                <a:spcPct val="150000"/>
              </a:lnSpc>
              <a:buNone/>
            </a:pPr>
            <a:r>
              <a:rPr lang="zh-CN" altLang="zh-CN" sz="1000" kern="100" dirty="0">
                <a:effectLst/>
                <a:latin typeface="Times New Roman" panose="02020603050405020304" pitchFamily="18" charset="0"/>
                <a:ea typeface="宋体" panose="02010600030101010101" pitchFamily="2" charset="-122"/>
                <a:cs typeface="Times New Roman" panose="02020603050405020304" pitchFamily="18" charset="0"/>
              </a:rPr>
              <a:t>注：</a:t>
            </a:r>
            <a:r>
              <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rPr>
              <a:t>G</a:t>
            </a:r>
            <a:r>
              <a:rPr lang="zh-CN" altLang="zh-CN" sz="1000" kern="100" dirty="0">
                <a:effectLst/>
                <a:latin typeface="Times New Roman" panose="02020603050405020304" pitchFamily="18" charset="0"/>
                <a:ea typeface="宋体" panose="02010600030101010101" pitchFamily="2" charset="-122"/>
                <a:cs typeface="Times New Roman" panose="02020603050405020304" pitchFamily="18" charset="0"/>
              </a:rPr>
              <a:t>为裂缝扩展过程中的能量释放率；</a:t>
            </a:r>
            <a:r>
              <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rPr>
              <a:t>Gc</a:t>
            </a:r>
            <a:r>
              <a:rPr lang="zh-CN" altLang="zh-CN" sz="1000" kern="100" dirty="0">
                <a:effectLst/>
                <a:latin typeface="Times New Roman" panose="02020603050405020304" pitchFamily="18" charset="0"/>
                <a:ea typeface="宋体" panose="02010600030101010101" pitchFamily="2" charset="-122"/>
                <a:cs typeface="Times New Roman" panose="02020603050405020304" pitchFamily="18" charset="0"/>
              </a:rPr>
              <a:t>为岩石断裂临界能量释放率</a:t>
            </a:r>
          </a:p>
        </p:txBody>
      </p:sp>
      <p:sp>
        <p:nvSpPr>
          <p:cNvPr id="16" name="文本框 15">
            <a:extLst>
              <a:ext uri="{FF2B5EF4-FFF2-40B4-BE49-F238E27FC236}">
                <a16:creationId xmlns:a16="http://schemas.microsoft.com/office/drawing/2014/main" id="{5FC3A694-A641-CCE7-3B91-2271AEBDAB57}"/>
              </a:ext>
            </a:extLst>
          </p:cNvPr>
          <p:cNvSpPr txBox="1"/>
          <p:nvPr/>
        </p:nvSpPr>
        <p:spPr>
          <a:xfrm>
            <a:off x="2363153" y="2622768"/>
            <a:ext cx="3120162" cy="276999"/>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zh-CN" dirty="0"/>
              <a:t>水力裂缝与天然裂缝相互作用关系判定准则</a:t>
            </a:r>
            <a:endParaRPr lang="zh-CN" altLang="en-US" dirty="0"/>
          </a:p>
        </p:txBody>
      </p:sp>
      <p:sp>
        <p:nvSpPr>
          <p:cNvPr id="17" name="文本框 16">
            <a:extLst>
              <a:ext uri="{FF2B5EF4-FFF2-40B4-BE49-F238E27FC236}">
                <a16:creationId xmlns:a16="http://schemas.microsoft.com/office/drawing/2014/main" id="{881B6641-A6AC-B38D-BC4C-0611DF3520DB}"/>
              </a:ext>
            </a:extLst>
          </p:cNvPr>
          <p:cNvSpPr txBox="1"/>
          <p:nvPr/>
        </p:nvSpPr>
        <p:spPr>
          <a:xfrm>
            <a:off x="268093" y="1569459"/>
            <a:ext cx="8166960" cy="78752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水力裂缝与天然裂缝相交时主要有</a:t>
            </a:r>
            <a:r>
              <a:rPr lang="en-US" altLang="zh-CN" sz="1600" b="1" dirty="0">
                <a:ea typeface="微软雅黑" panose="020B0503020204020204" pitchFamily="34" charset="-122"/>
              </a:rPr>
              <a:t>3</a:t>
            </a:r>
            <a:r>
              <a:rPr lang="zh-CN" altLang="en-US" sz="1600" b="1" dirty="0">
                <a:ea typeface="微软雅黑" panose="020B0503020204020204" pitchFamily="34" charset="-122"/>
              </a:rPr>
              <a:t>种模式：穿过、止裂、转向</a:t>
            </a:r>
            <a:endParaRPr lang="en-US" altLang="zh-CN" sz="1600" b="1" dirty="0">
              <a:ea typeface="微软雅黑" panose="020B0503020204020204" pitchFamily="34" charset="-122"/>
            </a:endParaRPr>
          </a:p>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天然裂缝开启或剪切滑移后会进一步改变局部应力分布，促使缝网持续演化</a:t>
            </a:r>
            <a:endParaRPr lang="en-US" altLang="zh-CN" sz="1600" b="1" dirty="0">
              <a:ea typeface="微软雅黑" panose="020B0503020204020204" pitchFamily="34" charset="-122"/>
            </a:endParaRPr>
          </a:p>
        </p:txBody>
      </p:sp>
      <p:sp>
        <p:nvSpPr>
          <p:cNvPr id="2" name="TextBox 3">
            <a:extLst>
              <a:ext uri="{FF2B5EF4-FFF2-40B4-BE49-F238E27FC236}">
                <a16:creationId xmlns:a16="http://schemas.microsoft.com/office/drawing/2014/main" id="{1C49A3A9-CB0D-5CDE-F684-E48C60A93201}"/>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水力裂缝扩展研究</a:t>
            </a:r>
            <a:r>
              <a:rPr kumimoji="0" lang="en-US" altLang="zh-CN"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a:t>
            </a:r>
            <a:r>
              <a:rPr lang="zh-CN" altLang="en-US" dirty="0">
                <a:solidFill>
                  <a:schemeClr val="bg1">
                    <a:lumMod val="65000"/>
                  </a:schemeClr>
                </a:solidFill>
                <a:sym typeface="+mn-ea"/>
              </a:rPr>
              <a:t>裂缝扩展影响因素</a:t>
            </a:r>
            <a:endPar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endParaRPr>
          </a:p>
        </p:txBody>
      </p:sp>
    </p:spTree>
    <p:extLst>
      <p:ext uri="{BB962C8B-B14F-4D97-AF65-F5344CB8AC3E}">
        <p14:creationId xmlns:p14="http://schemas.microsoft.com/office/powerpoint/2010/main" val="3144495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3C864-3227-1CB4-E841-21CF8E6F56B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8DD6B85D-6FA0-108D-E36E-DD571B057A3A}"/>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0E3E1D0F-21E4-A9F8-525C-FCE142CA2192}"/>
              </a:ext>
            </a:extLst>
          </p:cNvPr>
          <p:cNvSpPr txBox="1"/>
          <p:nvPr/>
        </p:nvSpPr>
        <p:spPr>
          <a:xfrm>
            <a:off x="160812" y="1029117"/>
            <a:ext cx="1589687" cy="49866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工程参数</a:t>
            </a:r>
          </a:p>
        </p:txBody>
      </p:sp>
      <p:pic>
        <p:nvPicPr>
          <p:cNvPr id="6" name="图片 5">
            <a:extLst>
              <a:ext uri="{FF2B5EF4-FFF2-40B4-BE49-F238E27FC236}">
                <a16:creationId xmlns:a16="http://schemas.microsoft.com/office/drawing/2014/main" id="{49E62761-6AAE-D22B-894F-F295D6DACE39}"/>
              </a:ext>
            </a:extLst>
          </p:cNvPr>
          <p:cNvPicPr>
            <a:picLocks noChangeAspect="1"/>
          </p:cNvPicPr>
          <p:nvPr/>
        </p:nvPicPr>
        <p:blipFill>
          <a:blip r:embed="rId4"/>
          <a:stretch>
            <a:fillRect/>
          </a:stretch>
        </p:blipFill>
        <p:spPr>
          <a:xfrm>
            <a:off x="5263978" y="3150172"/>
            <a:ext cx="6486172" cy="2581002"/>
          </a:xfrm>
          <a:prstGeom prst="rect">
            <a:avLst/>
          </a:prstGeom>
        </p:spPr>
      </p:pic>
      <p:sp>
        <p:nvSpPr>
          <p:cNvPr id="7" name="文本框 6">
            <a:extLst>
              <a:ext uri="{FF2B5EF4-FFF2-40B4-BE49-F238E27FC236}">
                <a16:creationId xmlns:a16="http://schemas.microsoft.com/office/drawing/2014/main" id="{3A0497DE-C631-E611-AB7E-3A726E5D453A}"/>
              </a:ext>
            </a:extLst>
          </p:cNvPr>
          <p:cNvSpPr txBox="1"/>
          <p:nvPr/>
        </p:nvSpPr>
        <p:spPr>
          <a:xfrm>
            <a:off x="7562616" y="6104128"/>
            <a:ext cx="2640254" cy="46166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流体黏度对裂缝扩展形态的影响（</a:t>
            </a:r>
            <a:r>
              <a:rPr lang="en-US" altLang="zh-CN" dirty="0"/>
              <a:t>Ren</a:t>
            </a:r>
            <a:r>
              <a:rPr lang="zh-CN" altLang="en-US" dirty="0"/>
              <a:t>，</a:t>
            </a:r>
            <a:r>
              <a:rPr lang="en-US" altLang="zh-CN" dirty="0"/>
              <a:t>2014</a:t>
            </a:r>
            <a:r>
              <a:rPr lang="zh-CN" altLang="en-US" dirty="0"/>
              <a:t>）</a:t>
            </a:r>
          </a:p>
        </p:txBody>
      </p:sp>
      <p:sp>
        <p:nvSpPr>
          <p:cNvPr id="8" name="文本框 7">
            <a:extLst>
              <a:ext uri="{FF2B5EF4-FFF2-40B4-BE49-F238E27FC236}">
                <a16:creationId xmlns:a16="http://schemas.microsoft.com/office/drawing/2014/main" id="{7721D1C1-D1D0-E00F-DE76-DB0D9C2F79DC}"/>
              </a:ext>
            </a:extLst>
          </p:cNvPr>
          <p:cNvSpPr txBox="1"/>
          <p:nvPr/>
        </p:nvSpPr>
        <p:spPr>
          <a:xfrm>
            <a:off x="163734" y="1576321"/>
            <a:ext cx="11864531" cy="78752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工程参数通过改变缝内流体压力场、流量分配、支撑剂输送效率等影响裂缝扩展形态</a:t>
            </a:r>
            <a:endParaRPr lang="en-US" altLang="zh-CN" sz="1600" b="1" dirty="0">
              <a:ea typeface="微软雅黑" panose="020B0503020204020204" pitchFamily="34" charset="-122"/>
            </a:endParaRPr>
          </a:p>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高排量能够增加缝内净压力，从而促进裂缝长度和宽度增长；高黏度压裂液有利于维持裂缝宽度和支撑剂运移（</a:t>
            </a:r>
            <a:r>
              <a:rPr lang="en-US" altLang="zh-CN" sz="1100" b="1" dirty="0">
                <a:ea typeface="微软雅黑" panose="020B0503020204020204" pitchFamily="34" charset="-122"/>
              </a:rPr>
              <a:t>Economides</a:t>
            </a:r>
            <a:r>
              <a:rPr lang="zh-CN" altLang="en-US" sz="1100" b="1" dirty="0">
                <a:ea typeface="微软雅黑" panose="020B0503020204020204" pitchFamily="34" charset="-122"/>
              </a:rPr>
              <a:t>，</a:t>
            </a:r>
            <a:r>
              <a:rPr lang="en-US" altLang="zh-CN" sz="1100" b="1" dirty="0">
                <a:ea typeface="微软雅黑" panose="020B0503020204020204" pitchFamily="34" charset="-122"/>
              </a:rPr>
              <a:t>2000</a:t>
            </a:r>
            <a:r>
              <a:rPr lang="zh-CN" altLang="en-US" sz="1100" b="1" dirty="0">
                <a:ea typeface="微软雅黑" panose="020B0503020204020204" pitchFamily="34" charset="-122"/>
              </a:rPr>
              <a:t>）</a:t>
            </a:r>
            <a:endParaRPr lang="en-US" altLang="zh-CN" sz="1600" b="1" dirty="0">
              <a:ea typeface="微软雅黑" panose="020B0503020204020204" pitchFamily="34" charset="-122"/>
            </a:endParaRPr>
          </a:p>
        </p:txBody>
      </p:sp>
      <p:pic>
        <p:nvPicPr>
          <p:cNvPr id="10" name="图片 9">
            <a:extLst>
              <a:ext uri="{FF2B5EF4-FFF2-40B4-BE49-F238E27FC236}">
                <a16:creationId xmlns:a16="http://schemas.microsoft.com/office/drawing/2014/main" id="{BFDAEB89-74A3-5520-C6CC-C9CD70ABD81C}"/>
              </a:ext>
            </a:extLst>
          </p:cNvPr>
          <p:cNvPicPr>
            <a:picLocks noChangeAspect="1"/>
          </p:cNvPicPr>
          <p:nvPr/>
        </p:nvPicPr>
        <p:blipFill>
          <a:blip r:embed="rId5"/>
          <a:stretch>
            <a:fillRect/>
          </a:stretch>
        </p:blipFill>
        <p:spPr>
          <a:xfrm>
            <a:off x="586367" y="2989161"/>
            <a:ext cx="4527898" cy="2979823"/>
          </a:xfrm>
          <a:prstGeom prst="rect">
            <a:avLst/>
          </a:prstGeom>
        </p:spPr>
      </p:pic>
      <p:sp>
        <p:nvSpPr>
          <p:cNvPr id="11" name="文本框 10">
            <a:extLst>
              <a:ext uri="{FF2B5EF4-FFF2-40B4-BE49-F238E27FC236}">
                <a16:creationId xmlns:a16="http://schemas.microsoft.com/office/drawing/2014/main" id="{FF5B06DE-F20A-00B5-F4FA-54C6D7ADB2DB}"/>
              </a:ext>
            </a:extLst>
          </p:cNvPr>
          <p:cNvSpPr txBox="1"/>
          <p:nvPr/>
        </p:nvSpPr>
        <p:spPr>
          <a:xfrm>
            <a:off x="1872480" y="6200340"/>
            <a:ext cx="1751611" cy="46166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不同排量下的缝宽对比</a:t>
            </a:r>
            <a:endParaRPr lang="en-US" altLang="zh-CN" dirty="0"/>
          </a:p>
          <a:p>
            <a:r>
              <a:rPr lang="zh-CN" altLang="en-US" dirty="0"/>
              <a:t>（梁淼等，</a:t>
            </a:r>
            <a:r>
              <a:rPr lang="en-US" altLang="zh-CN" dirty="0"/>
              <a:t>2026</a:t>
            </a:r>
            <a:r>
              <a:rPr lang="zh-CN" altLang="en-US" dirty="0"/>
              <a:t>）</a:t>
            </a:r>
          </a:p>
        </p:txBody>
      </p:sp>
      <p:sp>
        <p:nvSpPr>
          <p:cNvPr id="2" name="TextBox 3">
            <a:extLst>
              <a:ext uri="{FF2B5EF4-FFF2-40B4-BE49-F238E27FC236}">
                <a16:creationId xmlns:a16="http://schemas.microsoft.com/office/drawing/2014/main" id="{2289540D-0D1E-ABEF-8EB9-DF2FF269358C}"/>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水力裂缝扩展研究</a:t>
            </a:r>
            <a:r>
              <a:rPr kumimoji="0" lang="en-US" altLang="zh-CN"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a:t>
            </a:r>
            <a:r>
              <a:rPr lang="zh-CN" altLang="en-US" dirty="0">
                <a:solidFill>
                  <a:schemeClr val="bg1">
                    <a:lumMod val="65000"/>
                  </a:schemeClr>
                </a:solidFill>
                <a:sym typeface="+mn-ea"/>
              </a:rPr>
              <a:t>裂缝扩展影响因素</a:t>
            </a:r>
            <a:endPar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endParaRPr>
          </a:p>
        </p:txBody>
      </p:sp>
    </p:spTree>
    <p:extLst>
      <p:ext uri="{BB962C8B-B14F-4D97-AF65-F5344CB8AC3E}">
        <p14:creationId xmlns:p14="http://schemas.microsoft.com/office/powerpoint/2010/main" val="3926308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CEC5C-804E-5B4D-5876-4D39B965EE4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3EA9FE-23FA-3F44-F1FD-5876CA032A7F}"/>
              </a:ext>
            </a:extLst>
          </p:cNvPr>
          <p:cNvSpPr txBox="1">
            <a:spLocks noChangeArrowheads="1"/>
          </p:cNvSpPr>
          <p:nvPr/>
        </p:nvSpPr>
        <p:spPr bwMode="auto">
          <a:xfrm>
            <a:off x="-178641" y="326398"/>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lang="zh-CN" altLang="en-US" dirty="0">
                <a:sym typeface="+mn-ea"/>
              </a:rPr>
              <a:t>汇报</a:t>
            </a: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提纲</a:t>
            </a:r>
          </a:p>
        </p:txBody>
      </p:sp>
      <p:sp>
        <p:nvSpPr>
          <p:cNvPr id="2" name="文本框 1">
            <a:extLst>
              <a:ext uri="{FF2B5EF4-FFF2-40B4-BE49-F238E27FC236}">
                <a16:creationId xmlns:a16="http://schemas.microsoft.com/office/drawing/2014/main" id="{CB064C10-825B-6789-2479-22F08D103CEB}"/>
              </a:ext>
            </a:extLst>
          </p:cNvPr>
          <p:cNvSpPr txBox="1"/>
          <p:nvPr/>
        </p:nvSpPr>
        <p:spPr>
          <a:xfrm>
            <a:off x="2765029" y="2213499"/>
            <a:ext cx="6661941" cy="3409459"/>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一、</a:t>
            </a:r>
            <a:r>
              <a:rPr lang="zh-CN" altLang="en-US" sz="2800" dirty="0">
                <a:solidFill>
                  <a:schemeClr val="tx1"/>
                </a:solidFill>
              </a:rPr>
              <a:t>页岩储层地应力表征研究</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lang="zh-CN" altLang="en-US" sz="2800" dirty="0">
                <a:solidFill>
                  <a:schemeClr val="tx1"/>
                </a:solidFill>
              </a:rPr>
              <a:t>二、水力裂缝扩展规律研究</a:t>
            </a:r>
            <a:endParaRPr lang="en-US" altLang="zh-CN" sz="2800" dirty="0">
              <a:solidFill>
                <a:schemeClr val="tx1"/>
              </a:solidFill>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effectLst/>
                <a:uLnTx/>
                <a:uFillTx/>
                <a:ea typeface="方正大黑简体" panose="02010601030101010101" pitchFamily="2" charset="-122"/>
                <a:cs typeface="+mn-cs"/>
              </a:rPr>
              <a:t>三、</a:t>
            </a:r>
            <a:r>
              <a:rPr lang="zh-CN" altLang="en-US" sz="2800" dirty="0"/>
              <a:t>地应力演化与裂缝扩展协同演化</a:t>
            </a:r>
            <a:endParaRPr kumimoji="0" lang="en-US" altLang="zh-CN" sz="2800" b="1" i="0" u="none" strike="noStrike" kern="1200" cap="none" spc="0" normalizeH="0" baseline="0" noProof="0" dirty="0">
              <a:ln>
                <a:noFill/>
              </a:ln>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四、存在问题</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p:txBody>
      </p:sp>
      <p:pic>
        <p:nvPicPr>
          <p:cNvPr id="3" name="图片 2">
            <a:extLst>
              <a:ext uri="{FF2B5EF4-FFF2-40B4-BE49-F238E27FC236}">
                <a16:creationId xmlns:a16="http://schemas.microsoft.com/office/drawing/2014/main" id="{7FD42F24-8E68-B397-0284-BD4D49F07555}"/>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Tree>
    <p:extLst>
      <p:ext uri="{BB962C8B-B14F-4D97-AF65-F5344CB8AC3E}">
        <p14:creationId xmlns:p14="http://schemas.microsoft.com/office/powerpoint/2010/main" val="4170076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E83C2-7EFA-CCBD-3B1E-A91BCF61EF5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CE88F9-6C44-1AB2-0548-666E5752464E}"/>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地应力与裂缝扩展协同演化</a:t>
            </a:r>
          </a:p>
        </p:txBody>
      </p:sp>
      <p:pic>
        <p:nvPicPr>
          <p:cNvPr id="3" name="图片 2">
            <a:extLst>
              <a:ext uri="{FF2B5EF4-FFF2-40B4-BE49-F238E27FC236}">
                <a16:creationId xmlns:a16="http://schemas.microsoft.com/office/drawing/2014/main" id="{0E466761-D907-A340-994A-E524E709910A}"/>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6B17FA58-D03A-C557-2342-F2F18B052BD1}"/>
              </a:ext>
            </a:extLst>
          </p:cNvPr>
          <p:cNvSpPr txBox="1"/>
          <p:nvPr/>
        </p:nvSpPr>
        <p:spPr>
          <a:xfrm>
            <a:off x="314947" y="1299546"/>
            <a:ext cx="7491723" cy="960328"/>
          </a:xfrm>
          <a:prstGeom prst="rect">
            <a:avLst/>
          </a:prstGeom>
          <a:noFill/>
        </p:spPr>
        <p:txBody>
          <a:bodyPr wrap="square" rtlCol="0">
            <a:spAutoFit/>
          </a:bodyPr>
          <a:lstStyle/>
          <a:p>
            <a:pPr marL="342900" indent="-34290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地应力状态决定起裂压力、扩展方向、裂缝形态</a:t>
            </a:r>
            <a:endParaRPr lang="en-US" altLang="zh-CN" sz="2000" b="1" dirty="0">
              <a:latin typeface="Times New Roman" panose="02020603050405020304" pitchFamily="18" charset="0"/>
              <a:ea typeface="微软雅黑" panose="020B0503020204020204" pitchFamily="34" charset="-122"/>
            </a:endParaRPr>
          </a:p>
          <a:p>
            <a:pPr marL="342900" indent="-34290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水力裂缝扩展、滤失和天然裂缝滑移等改变局部地应力分布</a:t>
            </a:r>
          </a:p>
        </p:txBody>
      </p:sp>
      <p:sp>
        <p:nvSpPr>
          <p:cNvPr id="2" name="AutoShape 2" descr="地应力与裂缝扩展框架图">
            <a:extLst>
              <a:ext uri="{FF2B5EF4-FFF2-40B4-BE49-F238E27FC236}">
                <a16:creationId xmlns:a16="http://schemas.microsoft.com/office/drawing/2014/main" id="{2D038E53-D4FA-8AC6-A09A-38299D8CA753}"/>
              </a:ext>
            </a:extLst>
          </p:cNvPr>
          <p:cNvSpPr>
            <a:spLocks noChangeAspect="1" noChangeArrowheads="1"/>
          </p:cNvSpPr>
          <p:nvPr/>
        </p:nvSpPr>
        <p:spPr bwMode="auto">
          <a:xfrm>
            <a:off x="6644244"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5" name="组合 14">
            <a:extLst>
              <a:ext uri="{FF2B5EF4-FFF2-40B4-BE49-F238E27FC236}">
                <a16:creationId xmlns:a16="http://schemas.microsoft.com/office/drawing/2014/main" id="{4BCF7921-20C8-4741-7F7D-66786D47972A}"/>
              </a:ext>
            </a:extLst>
          </p:cNvPr>
          <p:cNvGrpSpPr/>
          <p:nvPr/>
        </p:nvGrpSpPr>
        <p:grpSpPr>
          <a:xfrm>
            <a:off x="2409280" y="3018906"/>
            <a:ext cx="7537096" cy="3158441"/>
            <a:chOff x="2021916" y="2182091"/>
            <a:chExt cx="7537096" cy="3158441"/>
          </a:xfrm>
        </p:grpSpPr>
        <p:sp>
          <p:nvSpPr>
            <p:cNvPr id="16" name="箭头: V 形 15">
              <a:extLst>
                <a:ext uri="{FF2B5EF4-FFF2-40B4-BE49-F238E27FC236}">
                  <a16:creationId xmlns:a16="http://schemas.microsoft.com/office/drawing/2014/main" id="{01FBA5BA-C459-CF87-6844-09C3678D7EEA}"/>
                </a:ext>
              </a:extLst>
            </p:cNvPr>
            <p:cNvSpPr/>
            <p:nvPr/>
          </p:nvSpPr>
          <p:spPr>
            <a:xfrm>
              <a:off x="2021916" y="2182091"/>
              <a:ext cx="1884274" cy="484632"/>
            </a:xfrm>
            <a:prstGeom prst="chevron">
              <a:avLst/>
            </a:prstGeom>
            <a:gradFill flip="none" rotWithShape="1">
              <a:gsLst>
                <a:gs pos="0">
                  <a:schemeClr val="tx2"/>
                </a:gs>
                <a:gs pos="97000">
                  <a:schemeClr val="tx2">
                    <a:lumMod val="40000"/>
                    <a:lumOff val="60000"/>
                  </a:schemeClr>
                </a:gs>
                <a:gs pos="100000">
                  <a:schemeClr val="accent1">
                    <a:tint val="23500"/>
                    <a:satMod val="16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矩形: 圆角 16">
              <a:extLst>
                <a:ext uri="{FF2B5EF4-FFF2-40B4-BE49-F238E27FC236}">
                  <a16:creationId xmlns:a16="http://schemas.microsoft.com/office/drawing/2014/main" id="{09931589-C971-5E23-E039-3CB3162505DD}"/>
                </a:ext>
              </a:extLst>
            </p:cNvPr>
            <p:cNvSpPr/>
            <p:nvPr/>
          </p:nvSpPr>
          <p:spPr>
            <a:xfrm>
              <a:off x="2167564" y="2798618"/>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孔隙压力扰动</a:t>
              </a:r>
            </a:p>
          </p:txBody>
        </p:sp>
        <p:sp>
          <p:nvSpPr>
            <p:cNvPr id="18" name="箭头: V 形 17">
              <a:extLst>
                <a:ext uri="{FF2B5EF4-FFF2-40B4-BE49-F238E27FC236}">
                  <a16:creationId xmlns:a16="http://schemas.microsoft.com/office/drawing/2014/main" id="{37FF8FDF-3D5B-4C91-B3FF-9D0184C1C3A6}"/>
                </a:ext>
              </a:extLst>
            </p:cNvPr>
            <p:cNvSpPr/>
            <p:nvPr/>
          </p:nvSpPr>
          <p:spPr>
            <a:xfrm>
              <a:off x="3906190" y="2182091"/>
              <a:ext cx="1884274" cy="484632"/>
            </a:xfrm>
            <a:prstGeom prst="chevron">
              <a:avLst/>
            </a:prstGeom>
            <a:gradFill flip="none" rotWithShape="1">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矩形: 圆角 18">
              <a:extLst>
                <a:ext uri="{FF2B5EF4-FFF2-40B4-BE49-F238E27FC236}">
                  <a16:creationId xmlns:a16="http://schemas.microsoft.com/office/drawing/2014/main" id="{8950E0D4-D48E-B7BA-4755-380D984651AF}"/>
                </a:ext>
              </a:extLst>
            </p:cNvPr>
            <p:cNvSpPr/>
            <p:nvPr/>
          </p:nvSpPr>
          <p:spPr>
            <a:xfrm>
              <a:off x="3983238" y="2798618"/>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有效应力变化</a:t>
              </a:r>
            </a:p>
          </p:txBody>
        </p:sp>
        <p:sp>
          <p:nvSpPr>
            <p:cNvPr id="20" name="箭头: V 形 19">
              <a:extLst>
                <a:ext uri="{FF2B5EF4-FFF2-40B4-BE49-F238E27FC236}">
                  <a16:creationId xmlns:a16="http://schemas.microsoft.com/office/drawing/2014/main" id="{10FD141E-8198-FF99-D123-D7058A794848}"/>
                </a:ext>
              </a:extLst>
            </p:cNvPr>
            <p:cNvSpPr/>
            <p:nvPr/>
          </p:nvSpPr>
          <p:spPr>
            <a:xfrm>
              <a:off x="5790464" y="2182091"/>
              <a:ext cx="1884274" cy="484632"/>
            </a:xfrm>
            <a:prstGeom prst="chevron">
              <a:avLst/>
            </a:prstGeom>
            <a:gradFill flip="none" rotWithShape="1">
              <a:gsLst>
                <a:gs pos="0">
                  <a:schemeClr val="tx2"/>
                </a:gs>
                <a:gs pos="97000">
                  <a:schemeClr val="tx2">
                    <a:lumMod val="40000"/>
                    <a:lumOff val="60000"/>
                  </a:schemeClr>
                </a:gs>
                <a:gs pos="100000">
                  <a:schemeClr val="accent1">
                    <a:tint val="23500"/>
                    <a:satMod val="16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矩形: 圆角 20">
              <a:extLst>
                <a:ext uri="{FF2B5EF4-FFF2-40B4-BE49-F238E27FC236}">
                  <a16:creationId xmlns:a16="http://schemas.microsoft.com/office/drawing/2014/main" id="{6CC97ADD-5CB1-B7EB-5999-D2D9714F1243}"/>
                </a:ext>
              </a:extLst>
            </p:cNvPr>
            <p:cNvSpPr/>
            <p:nvPr/>
          </p:nvSpPr>
          <p:spPr>
            <a:xfrm>
              <a:off x="5867512" y="2798618"/>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裂缝起裂扩展</a:t>
              </a:r>
            </a:p>
          </p:txBody>
        </p:sp>
        <p:sp>
          <p:nvSpPr>
            <p:cNvPr id="22" name="箭头: V 形 21">
              <a:extLst>
                <a:ext uri="{FF2B5EF4-FFF2-40B4-BE49-F238E27FC236}">
                  <a16:creationId xmlns:a16="http://schemas.microsoft.com/office/drawing/2014/main" id="{27565EBB-18A8-1061-75A0-B0ECE7107B2F}"/>
                </a:ext>
              </a:extLst>
            </p:cNvPr>
            <p:cNvSpPr/>
            <p:nvPr/>
          </p:nvSpPr>
          <p:spPr>
            <a:xfrm>
              <a:off x="7674738" y="2182091"/>
              <a:ext cx="1884274" cy="484632"/>
            </a:xfrm>
            <a:prstGeom prst="chevron">
              <a:avLst/>
            </a:prstGeom>
            <a:gradFill flip="none" rotWithShape="1">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矩形: 圆角 22">
              <a:extLst>
                <a:ext uri="{FF2B5EF4-FFF2-40B4-BE49-F238E27FC236}">
                  <a16:creationId xmlns:a16="http://schemas.microsoft.com/office/drawing/2014/main" id="{0078A7B1-E80C-6842-04D6-6B2E387EC388}"/>
                </a:ext>
              </a:extLst>
            </p:cNvPr>
            <p:cNvSpPr/>
            <p:nvPr/>
          </p:nvSpPr>
          <p:spPr>
            <a:xfrm>
              <a:off x="7751786" y="2798618"/>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应力阴影</a:t>
              </a:r>
            </a:p>
          </p:txBody>
        </p:sp>
        <p:sp>
          <p:nvSpPr>
            <p:cNvPr id="24" name="箭头: V 形 23">
              <a:extLst>
                <a:ext uri="{FF2B5EF4-FFF2-40B4-BE49-F238E27FC236}">
                  <a16:creationId xmlns:a16="http://schemas.microsoft.com/office/drawing/2014/main" id="{E08D3AF6-AC15-726F-7584-2F3D5B671B1E}"/>
                </a:ext>
              </a:extLst>
            </p:cNvPr>
            <p:cNvSpPr/>
            <p:nvPr/>
          </p:nvSpPr>
          <p:spPr>
            <a:xfrm flipH="1">
              <a:off x="2021916" y="4093623"/>
              <a:ext cx="1884274" cy="484632"/>
            </a:xfrm>
            <a:prstGeom prst="chevron">
              <a:avLst/>
            </a:prstGeom>
            <a:gradFill flip="none" rotWithShape="1">
              <a:gsLst>
                <a:gs pos="0">
                  <a:schemeClr val="tx2"/>
                </a:gs>
                <a:gs pos="97000">
                  <a:schemeClr val="tx2">
                    <a:lumMod val="40000"/>
                    <a:lumOff val="60000"/>
                  </a:schemeClr>
                </a:gs>
                <a:gs pos="100000">
                  <a:schemeClr val="accent1">
                    <a:tint val="23500"/>
                    <a:satMod val="16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矩形: 圆角 24">
              <a:extLst>
                <a:ext uri="{FF2B5EF4-FFF2-40B4-BE49-F238E27FC236}">
                  <a16:creationId xmlns:a16="http://schemas.microsoft.com/office/drawing/2014/main" id="{7B6A5D2D-3856-4C87-EEA8-AA7BC5B5DD34}"/>
                </a:ext>
              </a:extLst>
            </p:cNvPr>
            <p:cNvSpPr/>
            <p:nvPr/>
          </p:nvSpPr>
          <p:spPr>
            <a:xfrm flipH="1">
              <a:off x="2098964" y="4710150"/>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四维地应力再演化</a:t>
              </a:r>
            </a:p>
          </p:txBody>
        </p:sp>
        <p:sp>
          <p:nvSpPr>
            <p:cNvPr id="26" name="箭头: V 形 25">
              <a:extLst>
                <a:ext uri="{FF2B5EF4-FFF2-40B4-BE49-F238E27FC236}">
                  <a16:creationId xmlns:a16="http://schemas.microsoft.com/office/drawing/2014/main" id="{465D9BFA-778D-A335-D1FB-B3CDCA42B04E}"/>
                </a:ext>
              </a:extLst>
            </p:cNvPr>
            <p:cNvSpPr/>
            <p:nvPr/>
          </p:nvSpPr>
          <p:spPr>
            <a:xfrm flipH="1">
              <a:off x="3906190" y="4093623"/>
              <a:ext cx="1884274" cy="484632"/>
            </a:xfrm>
            <a:prstGeom prst="chevron">
              <a:avLst/>
            </a:prstGeom>
            <a:gradFill flip="none" rotWithShape="1">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矩形: 圆角 26">
              <a:extLst>
                <a:ext uri="{FF2B5EF4-FFF2-40B4-BE49-F238E27FC236}">
                  <a16:creationId xmlns:a16="http://schemas.microsoft.com/office/drawing/2014/main" id="{6C46C969-CFF1-F317-5E13-67CC40BEFE19}"/>
                </a:ext>
              </a:extLst>
            </p:cNvPr>
            <p:cNvSpPr/>
            <p:nvPr/>
          </p:nvSpPr>
          <p:spPr>
            <a:xfrm flipH="1">
              <a:off x="3983238" y="4710150"/>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生产压降</a:t>
              </a:r>
            </a:p>
          </p:txBody>
        </p:sp>
        <p:sp>
          <p:nvSpPr>
            <p:cNvPr id="28" name="箭头: V 形 27">
              <a:extLst>
                <a:ext uri="{FF2B5EF4-FFF2-40B4-BE49-F238E27FC236}">
                  <a16:creationId xmlns:a16="http://schemas.microsoft.com/office/drawing/2014/main" id="{E29D4711-EF91-6F94-62D4-44CFA8C4552C}"/>
                </a:ext>
              </a:extLst>
            </p:cNvPr>
            <p:cNvSpPr/>
            <p:nvPr/>
          </p:nvSpPr>
          <p:spPr>
            <a:xfrm flipH="1">
              <a:off x="5790464" y="4093623"/>
              <a:ext cx="1884274" cy="484632"/>
            </a:xfrm>
            <a:prstGeom prst="chevron">
              <a:avLst/>
            </a:prstGeom>
            <a:gradFill flip="none" rotWithShape="1">
              <a:gsLst>
                <a:gs pos="0">
                  <a:schemeClr val="tx2"/>
                </a:gs>
                <a:gs pos="97000">
                  <a:schemeClr val="tx2">
                    <a:lumMod val="40000"/>
                    <a:lumOff val="60000"/>
                  </a:schemeClr>
                </a:gs>
                <a:gs pos="100000">
                  <a:schemeClr val="accent1">
                    <a:tint val="23500"/>
                    <a:satMod val="16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矩形: 圆角 28">
              <a:extLst>
                <a:ext uri="{FF2B5EF4-FFF2-40B4-BE49-F238E27FC236}">
                  <a16:creationId xmlns:a16="http://schemas.microsoft.com/office/drawing/2014/main" id="{1E4B76EE-ED6A-D164-00DC-605846FC05BF}"/>
                </a:ext>
              </a:extLst>
            </p:cNvPr>
            <p:cNvSpPr/>
            <p:nvPr/>
          </p:nvSpPr>
          <p:spPr>
            <a:xfrm flipH="1">
              <a:off x="5867512" y="4710150"/>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复杂缝网形成</a:t>
              </a:r>
            </a:p>
          </p:txBody>
        </p:sp>
        <p:sp>
          <p:nvSpPr>
            <p:cNvPr id="30" name="箭头: V 形 29">
              <a:extLst>
                <a:ext uri="{FF2B5EF4-FFF2-40B4-BE49-F238E27FC236}">
                  <a16:creationId xmlns:a16="http://schemas.microsoft.com/office/drawing/2014/main" id="{8E8241D4-3F69-2195-4006-F2D371AB0C64}"/>
                </a:ext>
              </a:extLst>
            </p:cNvPr>
            <p:cNvSpPr/>
            <p:nvPr/>
          </p:nvSpPr>
          <p:spPr>
            <a:xfrm flipH="1">
              <a:off x="7674738" y="4093623"/>
              <a:ext cx="1884274" cy="484632"/>
            </a:xfrm>
            <a:prstGeom prst="chevron">
              <a:avLst/>
            </a:prstGeom>
            <a:gradFill flip="none" rotWithShape="1">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矩形: 圆角 30">
              <a:extLst>
                <a:ext uri="{FF2B5EF4-FFF2-40B4-BE49-F238E27FC236}">
                  <a16:creationId xmlns:a16="http://schemas.microsoft.com/office/drawing/2014/main" id="{09132D64-BEC5-6C1A-5F04-B5450F55B566}"/>
                </a:ext>
              </a:extLst>
            </p:cNvPr>
            <p:cNvSpPr/>
            <p:nvPr/>
          </p:nvSpPr>
          <p:spPr>
            <a:xfrm flipH="1">
              <a:off x="7751786" y="4710150"/>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天然裂缝活化</a:t>
              </a:r>
            </a:p>
          </p:txBody>
        </p:sp>
      </p:grpSp>
      <p:sp>
        <p:nvSpPr>
          <p:cNvPr id="32" name="箭头: 右弧形 31">
            <a:extLst>
              <a:ext uri="{FF2B5EF4-FFF2-40B4-BE49-F238E27FC236}">
                <a16:creationId xmlns:a16="http://schemas.microsoft.com/office/drawing/2014/main" id="{C071FF4A-0AD2-64D5-5CE8-03C2FCDAEAD2}"/>
              </a:ext>
            </a:extLst>
          </p:cNvPr>
          <p:cNvSpPr/>
          <p:nvPr/>
        </p:nvSpPr>
        <p:spPr>
          <a:xfrm>
            <a:off x="10189454" y="3383692"/>
            <a:ext cx="1641196" cy="2542309"/>
          </a:xfrm>
          <a:prstGeom prst="curvedLeftArrow">
            <a:avLst>
              <a:gd name="adj1" fmla="val 30147"/>
              <a:gd name="adj2" fmla="val 50000"/>
              <a:gd name="adj3" fmla="val 30487"/>
            </a:avLst>
          </a:prstGeom>
          <a:gradFill>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箭头: 右弧形 32">
            <a:extLst>
              <a:ext uri="{FF2B5EF4-FFF2-40B4-BE49-F238E27FC236}">
                <a16:creationId xmlns:a16="http://schemas.microsoft.com/office/drawing/2014/main" id="{7D57FC87-8063-6DC1-99C5-F15DA3056B26}"/>
              </a:ext>
            </a:extLst>
          </p:cNvPr>
          <p:cNvSpPr/>
          <p:nvPr/>
        </p:nvSpPr>
        <p:spPr>
          <a:xfrm flipH="1" flipV="1">
            <a:off x="534876" y="3261222"/>
            <a:ext cx="1641196" cy="2542309"/>
          </a:xfrm>
          <a:prstGeom prst="curvedLeftArrow">
            <a:avLst>
              <a:gd name="adj1" fmla="val 30147"/>
              <a:gd name="adj2" fmla="val 50000"/>
              <a:gd name="adj3" fmla="val 30487"/>
            </a:avLst>
          </a:prstGeom>
          <a:gradFill>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4010331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F2CED-2F82-D144-BC11-78ABFFCA79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A9B718-C3B1-0E15-8B2E-B3D6040581F2}"/>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地应力与裂缝扩展协同演化</a:t>
            </a:r>
          </a:p>
        </p:txBody>
      </p:sp>
      <p:pic>
        <p:nvPicPr>
          <p:cNvPr id="3" name="图片 2">
            <a:extLst>
              <a:ext uri="{FF2B5EF4-FFF2-40B4-BE49-F238E27FC236}">
                <a16:creationId xmlns:a16="http://schemas.microsoft.com/office/drawing/2014/main" id="{48EA2C19-8266-5048-DE08-761FA6F974A9}"/>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8" name="文本框 7">
            <a:extLst>
              <a:ext uri="{FF2B5EF4-FFF2-40B4-BE49-F238E27FC236}">
                <a16:creationId xmlns:a16="http://schemas.microsoft.com/office/drawing/2014/main" id="{9E42A7C7-F933-F1C7-F205-C75613F72232}"/>
              </a:ext>
            </a:extLst>
          </p:cNvPr>
          <p:cNvSpPr txBox="1"/>
          <p:nvPr/>
        </p:nvSpPr>
        <p:spPr>
          <a:xfrm>
            <a:off x="167232" y="1123037"/>
            <a:ext cx="2302835" cy="499432"/>
          </a:xfrm>
          <a:prstGeom prst="rect">
            <a:avLst/>
          </a:prstGeom>
          <a:noFill/>
        </p:spPr>
        <p:txBody>
          <a:bodyPr wrap="square" rtlCol="0">
            <a:spAutoFit/>
          </a:bodyPr>
          <a:lstStyle/>
          <a:p>
            <a:pPr marL="342900" indent="-34290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孔隙压力扩散</a:t>
            </a:r>
          </a:p>
        </p:txBody>
      </p:sp>
      <p:pic>
        <p:nvPicPr>
          <p:cNvPr id="10" name="图片 9">
            <a:extLst>
              <a:ext uri="{FF2B5EF4-FFF2-40B4-BE49-F238E27FC236}">
                <a16:creationId xmlns:a16="http://schemas.microsoft.com/office/drawing/2014/main" id="{94547BD2-0E37-69C6-B3F4-9442BDAA66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960" y="4187665"/>
            <a:ext cx="5645565" cy="1973974"/>
          </a:xfrm>
          <a:prstGeom prst="rect">
            <a:avLst/>
          </a:prstGeom>
        </p:spPr>
      </p:pic>
      <p:sp>
        <p:nvSpPr>
          <p:cNvPr id="11" name="文本框 10">
            <a:extLst>
              <a:ext uri="{FF2B5EF4-FFF2-40B4-BE49-F238E27FC236}">
                <a16:creationId xmlns:a16="http://schemas.microsoft.com/office/drawing/2014/main" id="{B1C7239A-ED15-E444-0FB0-7271A0125D8B}"/>
              </a:ext>
            </a:extLst>
          </p:cNvPr>
          <p:cNvSpPr txBox="1"/>
          <p:nvPr/>
        </p:nvSpPr>
        <p:spPr>
          <a:xfrm>
            <a:off x="1045029" y="6362715"/>
            <a:ext cx="4007921" cy="369332"/>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孔压扩散引发的诱导应力（</a:t>
            </a:r>
            <a:r>
              <a:rPr lang="en-US" altLang="zh-CN" dirty="0"/>
              <a:t>Li</a:t>
            </a:r>
            <a:r>
              <a:rPr lang="zh-CN" altLang="en-US" dirty="0"/>
              <a:t>，</a:t>
            </a:r>
            <a:r>
              <a:rPr lang="en-US" altLang="zh-CN" dirty="0"/>
              <a:t>2022</a:t>
            </a:r>
            <a:r>
              <a:rPr lang="zh-CN" altLang="en-US" dirty="0"/>
              <a:t>）</a:t>
            </a:r>
          </a:p>
        </p:txBody>
      </p:sp>
      <p:sp>
        <p:nvSpPr>
          <p:cNvPr id="12" name="文本框 11">
            <a:extLst>
              <a:ext uri="{FF2B5EF4-FFF2-40B4-BE49-F238E27FC236}">
                <a16:creationId xmlns:a16="http://schemas.microsoft.com/office/drawing/2014/main" id="{E92EB3D9-57CD-610F-69CE-847B5457205D}"/>
              </a:ext>
            </a:extLst>
          </p:cNvPr>
          <p:cNvSpPr txBox="1"/>
          <p:nvPr/>
        </p:nvSpPr>
        <p:spPr>
          <a:xfrm>
            <a:off x="391691" y="1630632"/>
            <a:ext cx="10087111" cy="78752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zh-CN" altLang="en-US" sz="1600" b="1" dirty="0"/>
              <a:t>压裂液滤失造成的孔隙压力升高会在裂缝周围产生孔弹性反向应力，改变裂缝净压力、闭合压力和扩展状态</a:t>
            </a:r>
            <a:endParaRPr lang="en-US" altLang="zh-CN" sz="1600" b="1" dirty="0"/>
          </a:p>
          <a:p>
            <a:pPr marL="285750" indent="-285750" algn="just">
              <a:lnSpc>
                <a:spcPct val="150000"/>
              </a:lnSpc>
              <a:buFont typeface="Wingdings" panose="05000000000000000000" pitchFamily="2" charset="2"/>
              <a:buChar char="Ø"/>
            </a:pPr>
            <a:r>
              <a:rPr lang="zh-CN" altLang="en-US" sz="1600" b="1" dirty="0"/>
              <a:t>孔隙压力变化通过调节有效应力和裂缝尖端应力状态控制裂缝的起裂压力、起裂位置及初始扩展方向</a:t>
            </a:r>
            <a:endParaRPr lang="en-US" altLang="zh-CN" sz="1600" b="1" dirty="0"/>
          </a:p>
        </p:txBody>
      </p:sp>
      <p:grpSp>
        <p:nvGrpSpPr>
          <p:cNvPr id="16" name="组合 15">
            <a:extLst>
              <a:ext uri="{FF2B5EF4-FFF2-40B4-BE49-F238E27FC236}">
                <a16:creationId xmlns:a16="http://schemas.microsoft.com/office/drawing/2014/main" id="{1BC0F6EC-E4F7-82F0-FCA4-2B180F2A743A}"/>
              </a:ext>
            </a:extLst>
          </p:cNvPr>
          <p:cNvGrpSpPr/>
          <p:nvPr/>
        </p:nvGrpSpPr>
        <p:grpSpPr>
          <a:xfrm>
            <a:off x="742012" y="2570416"/>
            <a:ext cx="6375879" cy="1116781"/>
            <a:chOff x="1307649" y="2184497"/>
            <a:chExt cx="6375879" cy="1116781"/>
          </a:xfrm>
        </p:grpSpPr>
        <p:sp>
          <p:nvSpPr>
            <p:cNvPr id="13" name="文本框 12">
              <a:extLst>
                <a:ext uri="{FF2B5EF4-FFF2-40B4-BE49-F238E27FC236}">
                  <a16:creationId xmlns:a16="http://schemas.microsoft.com/office/drawing/2014/main" id="{8974A81B-4A65-6BE5-3E81-8B12312F39B4}"/>
                </a:ext>
              </a:extLst>
            </p:cNvPr>
            <p:cNvSpPr txBox="1"/>
            <p:nvPr/>
          </p:nvSpPr>
          <p:spPr>
            <a:xfrm>
              <a:off x="1307649" y="2641223"/>
              <a:ext cx="1638794" cy="369332"/>
            </a:xfrm>
            <a:prstGeom prst="rect">
              <a:avLst/>
            </a:prstGeom>
            <a:noFill/>
          </p:spPr>
          <p:txBody>
            <a:bodyPr wrap="square" rtlCol="0">
              <a:spAutoFit/>
            </a:bodyPr>
            <a:lstStyle/>
            <a:p>
              <a:r>
                <a:rPr lang="zh-CN" altLang="en-US" b="1" dirty="0"/>
                <a:t>孔隙压力升高</a:t>
              </a:r>
            </a:p>
          </p:txBody>
        </p:sp>
        <p:sp>
          <p:nvSpPr>
            <p:cNvPr id="14" name="文本框 13">
              <a:extLst>
                <a:ext uri="{FF2B5EF4-FFF2-40B4-BE49-F238E27FC236}">
                  <a16:creationId xmlns:a16="http://schemas.microsoft.com/office/drawing/2014/main" id="{FD8C6161-6E60-E3C5-65CD-3AF09C83D9FB}"/>
                </a:ext>
              </a:extLst>
            </p:cNvPr>
            <p:cNvSpPr txBox="1"/>
            <p:nvPr/>
          </p:nvSpPr>
          <p:spPr>
            <a:xfrm>
              <a:off x="3402474" y="2184497"/>
              <a:ext cx="4281054" cy="1116781"/>
            </a:xfrm>
            <a:prstGeom prst="rect">
              <a:avLst/>
            </a:prstGeom>
            <a:noFill/>
          </p:spPr>
          <p:txBody>
            <a:bodyPr wrap="square" rtlCol="0">
              <a:spAutoFit/>
            </a:bodyPr>
            <a:lstStyle/>
            <a:p>
              <a:pPr algn="just">
                <a:lnSpc>
                  <a:spcPct val="200000"/>
                </a:lnSpc>
              </a:pPr>
              <a:r>
                <a:rPr lang="zh-CN" altLang="en-US" b="1" dirty="0">
                  <a:latin typeface="微软雅黑" panose="020B0503020204020204" pitchFamily="34" charset="-122"/>
                  <a:ea typeface="微软雅黑" panose="020B0503020204020204" pitchFamily="34" charset="-122"/>
                </a:rPr>
                <a:t>降低有效应力，促进裂缝张开或滑移</a:t>
              </a:r>
              <a:endParaRPr lang="en-US" altLang="zh-CN" b="1" dirty="0">
                <a:latin typeface="微软雅黑" panose="020B0503020204020204" pitchFamily="34" charset="-122"/>
                <a:ea typeface="微软雅黑" panose="020B0503020204020204" pitchFamily="34" charset="-122"/>
              </a:endParaRPr>
            </a:p>
            <a:p>
              <a:pPr algn="just">
                <a:lnSpc>
                  <a:spcPct val="200000"/>
                </a:lnSpc>
              </a:pPr>
              <a:r>
                <a:rPr lang="zh-CN" altLang="en-US" b="1" dirty="0">
                  <a:latin typeface="微软雅黑" panose="020B0503020204020204" pitchFamily="34" charset="-122"/>
                  <a:ea typeface="微软雅黑" panose="020B0503020204020204" pitchFamily="34" charset="-122"/>
                </a:rPr>
                <a:t>岩石骨架膨胀，形成附加应力</a:t>
              </a:r>
            </a:p>
          </p:txBody>
        </p:sp>
        <p:sp>
          <p:nvSpPr>
            <p:cNvPr id="15" name="左大括号 14">
              <a:extLst>
                <a:ext uri="{FF2B5EF4-FFF2-40B4-BE49-F238E27FC236}">
                  <a16:creationId xmlns:a16="http://schemas.microsoft.com/office/drawing/2014/main" id="{D9748CE7-4708-EC6B-B46C-A66051F1E853}"/>
                </a:ext>
              </a:extLst>
            </p:cNvPr>
            <p:cNvSpPr/>
            <p:nvPr/>
          </p:nvSpPr>
          <p:spPr>
            <a:xfrm>
              <a:off x="3001487" y="2464951"/>
              <a:ext cx="231569" cy="796861"/>
            </a:xfrm>
            <a:prstGeom prst="lef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aphicFrame>
        <p:nvGraphicFramePr>
          <p:cNvPr id="17" name="表格 16">
            <a:extLst>
              <a:ext uri="{FF2B5EF4-FFF2-40B4-BE49-F238E27FC236}">
                <a16:creationId xmlns:a16="http://schemas.microsoft.com/office/drawing/2014/main" id="{BCDEB7F1-0862-533F-1F28-AD4C0231A053}"/>
              </a:ext>
            </a:extLst>
          </p:cNvPr>
          <p:cNvGraphicFramePr>
            <a:graphicFrameLocks noGrp="1"/>
          </p:cNvGraphicFramePr>
          <p:nvPr>
            <p:extLst>
              <p:ext uri="{D42A27DB-BD31-4B8C-83A1-F6EECF244321}">
                <p14:modId xmlns:p14="http://schemas.microsoft.com/office/powerpoint/2010/main" val="1931502313"/>
              </p:ext>
            </p:extLst>
          </p:nvPr>
        </p:nvGraphicFramePr>
        <p:xfrm>
          <a:off x="6150719" y="3860888"/>
          <a:ext cx="5766471" cy="2627527"/>
        </p:xfrm>
        <a:graphic>
          <a:graphicData uri="http://schemas.openxmlformats.org/drawingml/2006/table">
            <a:tbl>
              <a:tblPr>
                <a:tableStyleId>{69012ECD-51FC-41F1-AA8D-1B2483CD663E}</a:tableStyleId>
              </a:tblPr>
              <a:tblGrid>
                <a:gridCol w="1708367">
                  <a:extLst>
                    <a:ext uri="{9D8B030D-6E8A-4147-A177-3AD203B41FA5}">
                      <a16:colId xmlns:a16="http://schemas.microsoft.com/office/drawing/2014/main" val="1940856061"/>
                    </a:ext>
                  </a:extLst>
                </a:gridCol>
                <a:gridCol w="2127134">
                  <a:extLst>
                    <a:ext uri="{9D8B030D-6E8A-4147-A177-3AD203B41FA5}">
                      <a16:colId xmlns:a16="http://schemas.microsoft.com/office/drawing/2014/main" val="4218540152"/>
                    </a:ext>
                  </a:extLst>
                </a:gridCol>
                <a:gridCol w="1930970">
                  <a:extLst>
                    <a:ext uri="{9D8B030D-6E8A-4147-A177-3AD203B41FA5}">
                      <a16:colId xmlns:a16="http://schemas.microsoft.com/office/drawing/2014/main" val="3611581579"/>
                    </a:ext>
                  </a:extLst>
                </a:gridCol>
              </a:tblGrid>
              <a:tr h="372819">
                <a:tc>
                  <a:txBody>
                    <a:bodyPr/>
                    <a:lstStyle/>
                    <a:p>
                      <a:pPr algn="ctr">
                        <a:buNone/>
                      </a:pPr>
                      <a:r>
                        <a:rPr lang="zh-CN" altLang="en-US" sz="1600" dirty="0"/>
                        <a:t>应力来源</a:t>
                      </a:r>
                    </a:p>
                  </a:txBody>
                  <a:tcPr anchor="ctr">
                    <a:solidFill>
                      <a:schemeClr val="accent1">
                        <a:lumMod val="20000"/>
                        <a:lumOff val="80000"/>
                      </a:schemeClr>
                    </a:solidFill>
                  </a:tcPr>
                </a:tc>
                <a:tc>
                  <a:txBody>
                    <a:bodyPr/>
                    <a:lstStyle/>
                    <a:p>
                      <a:pPr algn="ctr">
                        <a:buNone/>
                      </a:pPr>
                      <a:r>
                        <a:rPr lang="zh-CN" altLang="en-US" sz="1600" dirty="0"/>
                        <a:t>形成机制</a:t>
                      </a:r>
                    </a:p>
                  </a:txBody>
                  <a:tcPr anchor="ctr">
                    <a:solidFill>
                      <a:schemeClr val="accent1">
                        <a:lumMod val="20000"/>
                        <a:lumOff val="80000"/>
                      </a:schemeClr>
                    </a:solidFill>
                  </a:tcPr>
                </a:tc>
                <a:tc>
                  <a:txBody>
                    <a:bodyPr/>
                    <a:lstStyle/>
                    <a:p>
                      <a:pPr algn="ctr">
                        <a:buNone/>
                      </a:pPr>
                      <a:r>
                        <a:rPr lang="zh-CN" altLang="en-US" sz="1600" dirty="0"/>
                        <a:t>主要特征</a:t>
                      </a:r>
                    </a:p>
                  </a:txBody>
                  <a:tcPr anchor="ctr">
                    <a:solidFill>
                      <a:schemeClr val="accent1">
                        <a:lumMod val="20000"/>
                        <a:lumOff val="80000"/>
                      </a:schemeClr>
                    </a:solidFill>
                  </a:tcPr>
                </a:tc>
                <a:extLst>
                  <a:ext uri="{0D108BD9-81ED-4DB2-BD59-A6C34878D82A}">
                    <a16:rowId xmlns:a16="http://schemas.microsoft.com/office/drawing/2014/main" val="1244850017"/>
                  </a:ext>
                </a:extLst>
              </a:tr>
              <a:tr h="1127354">
                <a:tc>
                  <a:txBody>
                    <a:bodyPr/>
                    <a:lstStyle/>
                    <a:p>
                      <a:pPr algn="ctr">
                        <a:lnSpc>
                          <a:spcPct val="150000"/>
                        </a:lnSpc>
                        <a:buNone/>
                      </a:pPr>
                      <a:r>
                        <a:rPr lang="zh-CN" altLang="en-US" sz="1400" dirty="0"/>
                        <a:t>裂缝张开产生的</a:t>
                      </a:r>
                      <a:endParaRPr lang="en-US" altLang="zh-CN" sz="1400" dirty="0"/>
                    </a:p>
                    <a:p>
                      <a:pPr algn="ctr">
                        <a:lnSpc>
                          <a:spcPct val="150000"/>
                        </a:lnSpc>
                        <a:buNone/>
                      </a:pPr>
                      <a:r>
                        <a:rPr lang="zh-CN" altLang="en-US" sz="1400" dirty="0"/>
                        <a:t>弹性应力阴影</a:t>
                      </a:r>
                    </a:p>
                  </a:txBody>
                  <a:tcPr anchor="ctr"/>
                </a:tc>
                <a:tc>
                  <a:txBody>
                    <a:bodyPr/>
                    <a:lstStyle/>
                    <a:p>
                      <a:pPr algn="ctr">
                        <a:lnSpc>
                          <a:spcPct val="150000"/>
                        </a:lnSpc>
                        <a:buNone/>
                      </a:pPr>
                      <a:r>
                        <a:rPr lang="zh-CN" altLang="en-US" sz="1400"/>
                        <a:t>裂缝面位移使周围弹性介质发生变形</a:t>
                      </a:r>
                    </a:p>
                  </a:txBody>
                  <a:tcPr anchor="ctr"/>
                </a:tc>
                <a:tc>
                  <a:txBody>
                    <a:bodyPr/>
                    <a:lstStyle/>
                    <a:p>
                      <a:pPr algn="ctr">
                        <a:lnSpc>
                          <a:spcPct val="150000"/>
                        </a:lnSpc>
                        <a:buNone/>
                      </a:pPr>
                      <a:r>
                        <a:rPr lang="zh-CN" altLang="en-US" sz="1400" dirty="0"/>
                        <a:t>响应较快，与裂缝宽度、长度和间距密切相关</a:t>
                      </a:r>
                    </a:p>
                  </a:txBody>
                  <a:tcPr anchor="ctr"/>
                </a:tc>
                <a:extLst>
                  <a:ext uri="{0D108BD9-81ED-4DB2-BD59-A6C34878D82A}">
                    <a16:rowId xmlns:a16="http://schemas.microsoft.com/office/drawing/2014/main" val="313383997"/>
                  </a:ext>
                </a:extLst>
              </a:tr>
              <a:tr h="1127354">
                <a:tc>
                  <a:txBody>
                    <a:bodyPr/>
                    <a:lstStyle/>
                    <a:p>
                      <a:pPr algn="ctr">
                        <a:lnSpc>
                          <a:spcPct val="150000"/>
                        </a:lnSpc>
                        <a:buNone/>
                      </a:pPr>
                      <a:r>
                        <a:rPr lang="zh-CN" altLang="en-US" sz="1400" dirty="0"/>
                        <a:t>孔压扩散产生的</a:t>
                      </a:r>
                      <a:endParaRPr lang="en-US" altLang="zh-CN" sz="1400" dirty="0"/>
                    </a:p>
                    <a:p>
                      <a:pPr algn="ctr">
                        <a:lnSpc>
                          <a:spcPct val="150000"/>
                        </a:lnSpc>
                        <a:buNone/>
                      </a:pPr>
                      <a:r>
                        <a:rPr lang="zh-CN" altLang="en-US" sz="1400" dirty="0"/>
                        <a:t>孔弹性诱导应力</a:t>
                      </a:r>
                    </a:p>
                  </a:txBody>
                  <a:tcPr anchor="ctr"/>
                </a:tc>
                <a:tc>
                  <a:txBody>
                    <a:bodyPr/>
                    <a:lstStyle/>
                    <a:p>
                      <a:pPr algn="ctr">
                        <a:lnSpc>
                          <a:spcPct val="150000"/>
                        </a:lnSpc>
                        <a:buNone/>
                      </a:pPr>
                      <a:r>
                        <a:rPr lang="zh-CN" altLang="en-US" sz="1400" dirty="0"/>
                        <a:t>滤失流体提高基质孔压，受约束膨胀形成附加应力</a:t>
                      </a:r>
                    </a:p>
                  </a:txBody>
                  <a:tcPr anchor="ctr"/>
                </a:tc>
                <a:tc>
                  <a:txBody>
                    <a:bodyPr/>
                    <a:lstStyle/>
                    <a:p>
                      <a:pPr algn="ctr">
                        <a:lnSpc>
                          <a:spcPct val="150000"/>
                        </a:lnSpc>
                        <a:buNone/>
                      </a:pPr>
                      <a:r>
                        <a:rPr lang="zh-CN" altLang="en-US" sz="1400" dirty="0"/>
                        <a:t>具有扩散和时间依赖性，与渗透率、</a:t>
                      </a:r>
                      <a:r>
                        <a:rPr lang="en-US" altLang="zh-CN" sz="1400" dirty="0" err="1"/>
                        <a:t>Biot</a:t>
                      </a:r>
                      <a:r>
                        <a:rPr lang="zh-CN" altLang="en-US" sz="1400" dirty="0"/>
                        <a:t>系数及流体性质有关</a:t>
                      </a:r>
                    </a:p>
                  </a:txBody>
                  <a:tcPr anchor="ctr"/>
                </a:tc>
                <a:extLst>
                  <a:ext uri="{0D108BD9-81ED-4DB2-BD59-A6C34878D82A}">
                    <a16:rowId xmlns:a16="http://schemas.microsoft.com/office/drawing/2014/main" val="2676637132"/>
                  </a:ext>
                </a:extLst>
              </a:tr>
            </a:tbl>
          </a:graphicData>
        </a:graphic>
      </p:graphicFrame>
      <p:sp>
        <p:nvSpPr>
          <p:cNvPr id="18" name="文本框 17">
            <a:extLst>
              <a:ext uri="{FF2B5EF4-FFF2-40B4-BE49-F238E27FC236}">
                <a16:creationId xmlns:a16="http://schemas.microsoft.com/office/drawing/2014/main" id="{472A4B6D-D5D0-D5BB-7FF7-7ACFA273231C}"/>
              </a:ext>
            </a:extLst>
          </p:cNvPr>
          <p:cNvSpPr txBox="1"/>
          <p:nvPr/>
        </p:nvSpPr>
        <p:spPr>
          <a:xfrm>
            <a:off x="8311760" y="3466141"/>
            <a:ext cx="1444390" cy="334259"/>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两类诱导应力对比</a:t>
            </a:r>
            <a:endParaRPr lang="zh-CN" altLang="zh-CN" dirty="0"/>
          </a:p>
        </p:txBody>
      </p:sp>
    </p:spTree>
    <p:extLst>
      <p:ext uri="{BB962C8B-B14F-4D97-AF65-F5344CB8AC3E}">
        <p14:creationId xmlns:p14="http://schemas.microsoft.com/office/powerpoint/2010/main" val="1284010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E77C1-8717-6D97-A1CB-332F2DF53F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FD0198-C0ED-1E95-AA06-5EE74E93ACE0}"/>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地应力与裂缝扩展协同演化</a:t>
            </a:r>
          </a:p>
        </p:txBody>
      </p:sp>
      <p:pic>
        <p:nvPicPr>
          <p:cNvPr id="3" name="图片 2">
            <a:extLst>
              <a:ext uri="{FF2B5EF4-FFF2-40B4-BE49-F238E27FC236}">
                <a16:creationId xmlns:a16="http://schemas.microsoft.com/office/drawing/2014/main" id="{F7ADD30B-55AC-4F3E-D494-A8FE42F677B5}"/>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AAD67388-1FDF-C261-69E3-831BE2EDCFC4}"/>
              </a:ext>
            </a:extLst>
          </p:cNvPr>
          <p:cNvSpPr txBox="1"/>
          <p:nvPr/>
        </p:nvSpPr>
        <p:spPr>
          <a:xfrm>
            <a:off x="115233" y="1077305"/>
            <a:ext cx="5074839" cy="499432"/>
          </a:xfrm>
          <a:prstGeom prst="rect">
            <a:avLst/>
          </a:prstGeom>
          <a:noFill/>
        </p:spPr>
        <p:txBody>
          <a:bodyPr wrap="square" rtlCol="0">
            <a:spAutoFit/>
          </a:bodyPr>
          <a:lstStyle/>
          <a:p>
            <a:pPr marL="342900" indent="-34290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应力阴影与多簇裂缝竞争扩展</a:t>
            </a:r>
          </a:p>
        </p:txBody>
      </p:sp>
      <p:grpSp>
        <p:nvGrpSpPr>
          <p:cNvPr id="9" name="组合 8">
            <a:extLst>
              <a:ext uri="{FF2B5EF4-FFF2-40B4-BE49-F238E27FC236}">
                <a16:creationId xmlns:a16="http://schemas.microsoft.com/office/drawing/2014/main" id="{D8AF29A3-AD6D-AAB0-1FC2-8D1A8193FBD8}"/>
              </a:ext>
            </a:extLst>
          </p:cNvPr>
          <p:cNvGrpSpPr/>
          <p:nvPr/>
        </p:nvGrpSpPr>
        <p:grpSpPr>
          <a:xfrm>
            <a:off x="965853" y="4137524"/>
            <a:ext cx="4994222" cy="2212939"/>
            <a:chOff x="5806862" y="1471240"/>
            <a:chExt cx="5896271" cy="3239676"/>
          </a:xfrm>
        </p:grpSpPr>
        <p:pic>
          <p:nvPicPr>
            <p:cNvPr id="6" name="图片 5">
              <a:extLst>
                <a:ext uri="{FF2B5EF4-FFF2-40B4-BE49-F238E27FC236}">
                  <a16:creationId xmlns:a16="http://schemas.microsoft.com/office/drawing/2014/main" id="{7F985C07-2313-2BBC-C76F-D77084F2CDDC}"/>
                </a:ext>
              </a:extLst>
            </p:cNvPr>
            <p:cNvPicPr>
              <a:picLocks noChangeAspect="1"/>
            </p:cNvPicPr>
            <p:nvPr/>
          </p:nvPicPr>
          <p:blipFill>
            <a:blip r:embed="rId4"/>
            <a:stretch>
              <a:fillRect/>
            </a:stretch>
          </p:blipFill>
          <p:spPr>
            <a:xfrm>
              <a:off x="5836551" y="1471240"/>
              <a:ext cx="5836894" cy="1658907"/>
            </a:xfrm>
            <a:prstGeom prst="rect">
              <a:avLst/>
            </a:prstGeom>
            <a:noFill/>
          </p:spPr>
        </p:pic>
        <p:pic>
          <p:nvPicPr>
            <p:cNvPr id="8" name="图片 7">
              <a:extLst>
                <a:ext uri="{FF2B5EF4-FFF2-40B4-BE49-F238E27FC236}">
                  <a16:creationId xmlns:a16="http://schemas.microsoft.com/office/drawing/2014/main" id="{43515E8E-D158-346A-246A-BDA1F89FB9D7}"/>
                </a:ext>
              </a:extLst>
            </p:cNvPr>
            <p:cNvPicPr>
              <a:picLocks noChangeAspect="1"/>
            </p:cNvPicPr>
            <p:nvPr/>
          </p:nvPicPr>
          <p:blipFill>
            <a:blip r:embed="rId5"/>
            <a:stretch>
              <a:fillRect/>
            </a:stretch>
          </p:blipFill>
          <p:spPr>
            <a:xfrm>
              <a:off x="5806862" y="3076511"/>
              <a:ext cx="5896271" cy="1634405"/>
            </a:xfrm>
            <a:prstGeom prst="rect">
              <a:avLst/>
            </a:prstGeom>
            <a:noFill/>
          </p:spPr>
        </p:pic>
      </p:grpSp>
      <p:sp>
        <p:nvSpPr>
          <p:cNvPr id="10" name="文本框 9">
            <a:extLst>
              <a:ext uri="{FF2B5EF4-FFF2-40B4-BE49-F238E27FC236}">
                <a16:creationId xmlns:a16="http://schemas.microsoft.com/office/drawing/2014/main" id="{7778AC05-13B0-365C-8249-A009586C444B}"/>
              </a:ext>
            </a:extLst>
          </p:cNvPr>
          <p:cNvSpPr txBox="1"/>
          <p:nvPr/>
        </p:nvSpPr>
        <p:spPr>
          <a:xfrm>
            <a:off x="633597" y="6401880"/>
            <a:ext cx="5658734" cy="33669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裂缝高度及长度方向不同时刻的应力变化矢量图（刘伟，</a:t>
            </a:r>
            <a:r>
              <a:rPr lang="en-US" altLang="zh-CN" dirty="0"/>
              <a:t>2023</a:t>
            </a:r>
            <a:r>
              <a:rPr lang="zh-CN" altLang="en-US" dirty="0"/>
              <a:t>）</a:t>
            </a:r>
          </a:p>
        </p:txBody>
      </p:sp>
      <p:sp>
        <p:nvSpPr>
          <p:cNvPr id="16" name="文本框 15">
            <a:extLst>
              <a:ext uri="{FF2B5EF4-FFF2-40B4-BE49-F238E27FC236}">
                <a16:creationId xmlns:a16="http://schemas.microsoft.com/office/drawing/2014/main" id="{FD2A799F-0895-C6B3-6A1F-8EBE05D144DB}"/>
              </a:ext>
            </a:extLst>
          </p:cNvPr>
          <p:cNvSpPr txBox="1"/>
          <p:nvPr/>
        </p:nvSpPr>
        <p:spPr>
          <a:xfrm>
            <a:off x="115233" y="1600889"/>
            <a:ext cx="7800989" cy="226485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sz="1600" b="1" dirty="0">
                <a:latin typeface="微软雅黑" panose="020B0503020204020204" pitchFamily="34" charset="-122"/>
                <a:ea typeface="微软雅黑" panose="020B0503020204020204" pitchFamily="34" charset="-122"/>
              </a:rPr>
              <a:t>裂缝张开位移使两侧岩体产生弹性变形，并在周围裂缝形成附加应力，即应力阴影</a:t>
            </a:r>
            <a:endParaRPr lang="en-US" altLang="zh-CN" sz="1600" b="1"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sz="1600" b="1" dirty="0">
                <a:latin typeface="微软雅黑" panose="020B0503020204020204" pitchFamily="34" charset="-122"/>
                <a:ea typeface="微软雅黑" panose="020B0503020204020204" pitchFamily="34" charset="-122"/>
              </a:rPr>
              <a:t>多簇压裂中，率先起裂并快速延伸的裂缝会对邻近裂缝形成压制，使相邻簇破裂压力升高、进液减少、缝宽变小</a:t>
            </a:r>
            <a:endParaRPr lang="en-US" altLang="zh-CN" sz="1600" b="1" dirty="0">
              <a:latin typeface="微软雅黑" panose="020B0503020204020204" pitchFamily="34" charset="-122"/>
              <a:ea typeface="微软雅黑" panose="020B0503020204020204" pitchFamily="34" charset="-122"/>
            </a:endParaRPr>
          </a:p>
          <a:p>
            <a:pPr algn="just">
              <a:lnSpc>
                <a:spcPct val="150000"/>
              </a:lnSpc>
            </a:pPr>
            <a:r>
              <a:rPr lang="zh-CN" altLang="en-US" sz="1600" b="1" dirty="0">
                <a:latin typeface="微软雅黑" panose="020B0503020204020204" pitchFamily="34" charset="-122"/>
                <a:ea typeface="微软雅黑" panose="020B0503020204020204" pitchFamily="34" charset="-122"/>
              </a:rPr>
              <a:t>     最终导致“长缝更长、短缝更短”的非均匀扩展现象</a:t>
            </a:r>
            <a:endParaRPr lang="en-US" altLang="zh-CN" sz="1600" b="1"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sz="1600" b="1" dirty="0">
                <a:latin typeface="微软雅黑" panose="020B0503020204020204" pitchFamily="34" charset="-122"/>
                <a:ea typeface="微软雅黑" panose="020B0503020204020204" pitchFamily="34" charset="-122"/>
              </a:rPr>
              <a:t>工程上一般通过优化簇间距、限流射孔、提高射孔摩阻、暂堵转向等方式改善多簇裂缝均衡扩展。</a:t>
            </a:r>
          </a:p>
        </p:txBody>
      </p:sp>
      <p:pic>
        <p:nvPicPr>
          <p:cNvPr id="7" name="图片 6">
            <a:extLst>
              <a:ext uri="{FF2B5EF4-FFF2-40B4-BE49-F238E27FC236}">
                <a16:creationId xmlns:a16="http://schemas.microsoft.com/office/drawing/2014/main" id="{6850B0F2-3950-F92F-D381-5A887CB7F90C}"/>
              </a:ext>
            </a:extLst>
          </p:cNvPr>
          <p:cNvPicPr>
            <a:picLocks noChangeAspect="1"/>
          </p:cNvPicPr>
          <p:nvPr/>
        </p:nvPicPr>
        <p:blipFill>
          <a:blip r:embed="rId6"/>
          <a:stretch>
            <a:fillRect/>
          </a:stretch>
        </p:blipFill>
        <p:spPr>
          <a:xfrm>
            <a:off x="7916222" y="1435573"/>
            <a:ext cx="3473191" cy="2368085"/>
          </a:xfrm>
          <a:prstGeom prst="rect">
            <a:avLst/>
          </a:prstGeom>
        </p:spPr>
      </p:pic>
      <p:sp>
        <p:nvSpPr>
          <p:cNvPr id="11" name="文本框 10">
            <a:extLst>
              <a:ext uri="{FF2B5EF4-FFF2-40B4-BE49-F238E27FC236}">
                <a16:creationId xmlns:a16="http://schemas.microsoft.com/office/drawing/2014/main" id="{06C91062-474B-0222-A5B9-C5DC47CCE63B}"/>
              </a:ext>
            </a:extLst>
          </p:cNvPr>
          <p:cNvSpPr txBox="1"/>
          <p:nvPr/>
        </p:nvSpPr>
        <p:spPr>
          <a:xfrm>
            <a:off x="8054657" y="3996403"/>
            <a:ext cx="3099046" cy="33669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裂缝张开形成的应力扰动（苏超，</a:t>
            </a:r>
            <a:r>
              <a:rPr lang="en-US" altLang="zh-CN" dirty="0"/>
              <a:t>2017</a:t>
            </a:r>
            <a:r>
              <a:rPr lang="zh-CN" altLang="en-US" dirty="0"/>
              <a:t>）</a:t>
            </a:r>
          </a:p>
        </p:txBody>
      </p:sp>
      <p:pic>
        <p:nvPicPr>
          <p:cNvPr id="12" name="图片 11">
            <a:extLst>
              <a:ext uri="{FF2B5EF4-FFF2-40B4-BE49-F238E27FC236}">
                <a16:creationId xmlns:a16="http://schemas.microsoft.com/office/drawing/2014/main" id="{09471CC7-3420-8751-75BD-4D5D31E7BA33}"/>
              </a:ext>
            </a:extLst>
          </p:cNvPr>
          <p:cNvPicPr>
            <a:picLocks noChangeAspect="1"/>
          </p:cNvPicPr>
          <p:nvPr/>
        </p:nvPicPr>
        <p:blipFill>
          <a:blip r:embed="rId7"/>
          <a:stretch>
            <a:fillRect/>
          </a:stretch>
        </p:blipFill>
        <p:spPr>
          <a:xfrm>
            <a:off x="6458563" y="4718587"/>
            <a:ext cx="5458294" cy="1557219"/>
          </a:xfrm>
          <a:prstGeom prst="rect">
            <a:avLst/>
          </a:prstGeom>
        </p:spPr>
      </p:pic>
      <p:sp>
        <p:nvSpPr>
          <p:cNvPr id="13" name="文本框 12">
            <a:extLst>
              <a:ext uri="{FF2B5EF4-FFF2-40B4-BE49-F238E27FC236}">
                <a16:creationId xmlns:a16="http://schemas.microsoft.com/office/drawing/2014/main" id="{CE7A765C-0E59-7333-80E8-AC5EBBB2A7DF}"/>
              </a:ext>
            </a:extLst>
          </p:cNvPr>
          <p:cNvSpPr txBox="1"/>
          <p:nvPr/>
        </p:nvSpPr>
        <p:spPr>
          <a:xfrm>
            <a:off x="7540068" y="6401880"/>
            <a:ext cx="3927002" cy="33669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应力阴影效应对多条裂缝扩展的影响（</a:t>
            </a:r>
            <a:r>
              <a:rPr lang="en-US" altLang="zh-CN" dirty="0"/>
              <a:t>Gong</a:t>
            </a:r>
            <a:r>
              <a:rPr lang="zh-CN" altLang="en-US" dirty="0"/>
              <a:t>，</a:t>
            </a:r>
            <a:r>
              <a:rPr lang="en-US" altLang="zh-CN" dirty="0"/>
              <a:t>2022</a:t>
            </a:r>
            <a:r>
              <a:rPr lang="zh-CN" altLang="en-US" dirty="0"/>
              <a:t>）</a:t>
            </a:r>
          </a:p>
        </p:txBody>
      </p:sp>
    </p:spTree>
    <p:extLst>
      <p:ext uri="{BB962C8B-B14F-4D97-AF65-F5344CB8AC3E}">
        <p14:creationId xmlns:p14="http://schemas.microsoft.com/office/powerpoint/2010/main" val="2026418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6B4CA-85A1-33DC-343B-853B3373E3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FF5C81E-C477-D435-BBA4-9488205F87A8}"/>
              </a:ext>
            </a:extLst>
          </p:cNvPr>
          <p:cNvSpPr txBox="1">
            <a:spLocks noChangeArrowheads="1"/>
          </p:cNvSpPr>
          <p:nvPr/>
        </p:nvSpPr>
        <p:spPr bwMode="auto">
          <a:xfrm>
            <a:off x="-178641" y="326398"/>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lang="zh-CN" altLang="en-US" dirty="0">
                <a:sym typeface="+mn-ea"/>
              </a:rPr>
              <a:t>汇报</a:t>
            </a: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提纲</a:t>
            </a:r>
          </a:p>
        </p:txBody>
      </p:sp>
      <p:sp>
        <p:nvSpPr>
          <p:cNvPr id="2" name="文本框 1">
            <a:extLst>
              <a:ext uri="{FF2B5EF4-FFF2-40B4-BE49-F238E27FC236}">
                <a16:creationId xmlns:a16="http://schemas.microsoft.com/office/drawing/2014/main" id="{F01D8497-AAF1-1856-853C-BF8B29D2FDD6}"/>
              </a:ext>
            </a:extLst>
          </p:cNvPr>
          <p:cNvSpPr txBox="1"/>
          <p:nvPr/>
        </p:nvSpPr>
        <p:spPr>
          <a:xfrm>
            <a:off x="2765029" y="2213499"/>
            <a:ext cx="6661941" cy="3409459"/>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一、</a:t>
            </a:r>
            <a:r>
              <a:rPr lang="zh-CN" altLang="en-US" sz="2800" dirty="0">
                <a:solidFill>
                  <a:schemeClr val="tx1"/>
                </a:solidFill>
              </a:rPr>
              <a:t>页岩储层地应力表征研究</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lang="zh-CN" altLang="en-US" sz="2800" dirty="0">
                <a:solidFill>
                  <a:schemeClr val="tx1"/>
                </a:solidFill>
              </a:rPr>
              <a:t>二、水力裂缝扩展规律研究</a:t>
            </a:r>
            <a:endParaRPr lang="en-US" altLang="zh-CN" sz="2800" dirty="0">
              <a:solidFill>
                <a:schemeClr val="tx1"/>
              </a:solidFill>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三、</a:t>
            </a:r>
            <a:r>
              <a:rPr lang="zh-CN" altLang="en-US" sz="2800" dirty="0">
                <a:solidFill>
                  <a:schemeClr val="tx1"/>
                </a:solidFill>
              </a:rPr>
              <a:t>地应力演化与裂缝扩展协同演化</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effectLst/>
                <a:uLnTx/>
                <a:uFillTx/>
                <a:ea typeface="方正大黑简体" panose="02010601030101010101" pitchFamily="2" charset="-122"/>
                <a:cs typeface="+mn-cs"/>
              </a:rPr>
              <a:t>四、存在问题</a:t>
            </a:r>
            <a:endParaRPr kumimoji="0" lang="en-US" altLang="zh-CN" sz="2800" b="1" i="0" u="none" strike="noStrike" kern="1200" cap="none" spc="0" normalizeH="0" baseline="0" noProof="0" dirty="0">
              <a:ln>
                <a:noFill/>
              </a:ln>
              <a:effectLst/>
              <a:uLnTx/>
              <a:uFillTx/>
              <a:ea typeface="方正大黑简体" panose="02010601030101010101" pitchFamily="2" charset="-122"/>
              <a:cs typeface="+mn-cs"/>
            </a:endParaRPr>
          </a:p>
        </p:txBody>
      </p:sp>
      <p:pic>
        <p:nvPicPr>
          <p:cNvPr id="3" name="图片 2">
            <a:extLst>
              <a:ext uri="{FF2B5EF4-FFF2-40B4-BE49-F238E27FC236}">
                <a16:creationId xmlns:a16="http://schemas.microsoft.com/office/drawing/2014/main" id="{8C9E195C-9B94-8A00-A07B-32F584A7E724}"/>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Tree>
    <p:extLst>
      <p:ext uri="{BB962C8B-B14F-4D97-AF65-F5344CB8AC3E}">
        <p14:creationId xmlns:p14="http://schemas.microsoft.com/office/powerpoint/2010/main" val="2905089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F36C2-4896-BCBA-A9E8-4D32317FDF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AF71A8-769B-6A83-D0CB-A1AAF9D61C58}"/>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存在问题</a:t>
            </a:r>
          </a:p>
        </p:txBody>
      </p:sp>
      <p:pic>
        <p:nvPicPr>
          <p:cNvPr id="3" name="图片 2">
            <a:extLst>
              <a:ext uri="{FF2B5EF4-FFF2-40B4-BE49-F238E27FC236}">
                <a16:creationId xmlns:a16="http://schemas.microsoft.com/office/drawing/2014/main" id="{DE92FD66-978A-7321-D244-A26014C593A6}"/>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2" name="文本框 1">
            <a:extLst>
              <a:ext uri="{FF2B5EF4-FFF2-40B4-BE49-F238E27FC236}">
                <a16:creationId xmlns:a16="http://schemas.microsoft.com/office/drawing/2014/main" id="{09957511-19FB-ACAB-F228-9D1109B35F0B}"/>
              </a:ext>
            </a:extLst>
          </p:cNvPr>
          <p:cNvSpPr txBox="1"/>
          <p:nvPr/>
        </p:nvSpPr>
        <p:spPr>
          <a:xfrm>
            <a:off x="784465" y="1723768"/>
            <a:ext cx="10670059" cy="4412875"/>
          </a:xfrm>
          <a:prstGeom prst="rect">
            <a:avLst/>
          </a:prstGeom>
          <a:noFill/>
        </p:spPr>
        <p:txBody>
          <a:bodyPr wrap="square" rtlCol="0">
            <a:spAutoFit/>
          </a:bodyPr>
          <a:lstStyle/>
          <a:p>
            <a:pPr algn="just">
              <a:lnSpc>
                <a:spcPct val="200000"/>
              </a:lnSpc>
            </a:pP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目前已认识到地应力对裂缝扩展的控制作用，但多数研究更偏向于地应力对裂缝扩展的单向分析，对裂缝扩展过程中出现的地应力重分布认识不足；</a:t>
            </a:r>
            <a:endParaRPr lang="en-US" altLang="zh-CN" sz="2400" b="1" dirty="0">
              <a:latin typeface="微软雅黑" panose="020B0503020204020204" pitchFamily="34" charset="-122"/>
              <a:ea typeface="微软雅黑" panose="020B0503020204020204" pitchFamily="34" charset="-122"/>
            </a:endParaRPr>
          </a:p>
          <a:p>
            <a:pPr algn="just">
              <a:lnSpc>
                <a:spcPct val="200000"/>
              </a:lnSpc>
            </a:pP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复杂缝网模型更多关注裂缝几何形态，对导流能力、支撑剂铺置和长期产能响应考虑不足</a:t>
            </a:r>
            <a:endParaRPr lang="en-US" altLang="zh-CN" sz="2400" b="1" dirty="0">
              <a:latin typeface="微软雅黑" panose="020B0503020204020204" pitchFamily="34" charset="-122"/>
              <a:ea typeface="微软雅黑" panose="020B0503020204020204" pitchFamily="34" charset="-122"/>
            </a:endParaRPr>
          </a:p>
          <a:p>
            <a:pPr algn="just">
              <a:lnSpc>
                <a:spcPct val="200000"/>
              </a:lnSpc>
            </a:pP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长期动态演化研究薄弱，对压裂</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生产</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重复压裂全过程中的滞后效应、记忆效应和路径依赖认识不足</a:t>
            </a:r>
          </a:p>
        </p:txBody>
      </p:sp>
    </p:spTree>
    <p:extLst>
      <p:ext uri="{BB962C8B-B14F-4D97-AF65-F5344CB8AC3E}">
        <p14:creationId xmlns:p14="http://schemas.microsoft.com/office/powerpoint/2010/main" val="3089104746"/>
      </p:ext>
    </p:extLst>
  </p:cSld>
  <p:clrMapOvr>
    <a:masterClrMapping/>
  </p:clrMapOvr>
</p:sld>
</file>

<file path=ppt/theme/theme1.xml><?xml version="1.0" encoding="utf-8"?>
<a:theme xmlns:a="http://schemas.openxmlformats.org/drawingml/2006/main" name="1_工作要求-龙王庙开题">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方正大黑简体"/>
        <a:ea typeface="方正大黑简体"/>
        <a:cs typeface=""/>
      </a:majorFont>
      <a:minorFont>
        <a:latin typeface="方正大黑简体"/>
        <a:ea typeface="方正大黑简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37036</TotalTime>
  <Words>1686</Words>
  <Application>Microsoft Office PowerPoint</Application>
  <PresentationFormat>宽屏</PresentationFormat>
  <Paragraphs>244</Paragraphs>
  <Slides>16</Slides>
  <Notes>16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vt:i4>
      </vt:variant>
    </vt:vector>
  </HeadingPairs>
  <TitlesOfParts>
    <vt:vector size="24" baseType="lpstr">
      <vt:lpstr>等线</vt:lpstr>
      <vt:lpstr>方正大黑简体</vt:lpstr>
      <vt:lpstr>微软雅黑</vt:lpstr>
      <vt:lpstr>Arial</vt:lpstr>
      <vt:lpstr>Calibri</vt:lpstr>
      <vt:lpstr>Times New Roman</vt:lpstr>
      <vt:lpstr>Wingdings</vt:lpstr>
      <vt:lpstr>1_工作要求-龙王庙开题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晶 小</dc:creator>
  <cp:lastModifiedBy>晶 小</cp:lastModifiedBy>
  <cp:revision>195</cp:revision>
  <dcterms:created xsi:type="dcterms:W3CDTF">2025-10-29T11:34:36Z</dcterms:created>
  <dcterms:modified xsi:type="dcterms:W3CDTF">2026-07-16T10:01:44Z</dcterms:modified>
</cp:coreProperties>
</file>