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【开场白 — 约30秒】</a:t>
            </a:r>
            <a:br/>
            <a:br/>
            <a:r>
              <a:t>"老师好，我今天汇报的是我最近完成的一项研究工作。</a:t>
            </a:r>
            <a:br/>
            <a:br/>
            <a:r>
              <a:t>题目是《环氧树脂微球包覆亲油性Fe₃O₄纳米颗粒作为示踪支撑剂用于分段产量监测》，简称ESP-T。</a:t>
            </a:r>
            <a:br/>
            <a:br/>
            <a:r>
              <a:t>这项工作的核心思路是：用环氧树脂作为基体材料，把硬脂酸改性的纳米四氧化三铁包覆进去，做成一种既能支撑裂缝、又能长期监测各段产油量的双功能示踪支撑剂。</a:t>
            </a:r>
            <a:br/>
            <a:br/>
            <a:r>
              <a:t>今天我想向您汇报四个方面的内容：研究背景与问题、实验方案与结果、核心发现与创新点、以及接下来的投稿计划。希望听取您的意见。"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【研究背景 — 约1分30秒】</a:t>
            </a:r>
            <a:br/>
            <a:br/>
            <a:r>
              <a:t>"首先介绍这项研究的出发点。</a:t>
            </a:r>
            <a:br/>
            <a:br/>
            <a:r>
              <a:t>非常规油气（页岩油、致密油）目前占全球剩余可采储量的50%以上。水力压裂是开发这类资源的不可替代的核心技术。但压裂后有一个难题一直没解决得很好——不同压裂段的产油贡献差别很大，衰减速度也不一样。我们现在很难精确回答'每一段到底产了多少油'，导致后续的开发策略优化缺少数据支撑。这就是我做这项研究要解决的核心问题。</a:t>
            </a:r>
            <a:br/>
            <a:br/>
            <a:r>
              <a:t>现有的示踪技术主要有三类，各有各的短板。传统油溶性化学示踪剂跟压裂液不兼容，没法长期监测。涂层型示踪支撑剂的致命缺陷是：涂层一溶解监测就终止了，而且制备要涂覆、固化、多次处理，工艺复杂。聚苯乙烯微球示踪剂虽然能监测油相，但PS的机械强度不够、热稳定性也差，200度以上就出问题了，深井根本用不了。</a:t>
            </a:r>
            <a:br/>
            <a:br/>
            <a:r>
              <a:t>我梳理下来发现，行业的痛点很明确：缺一种能在井下长期稳定工作、专门针对油相的示踪方案。这正好为环氧树脂提供了一个切入点。"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【切入点与创新 — 约1分钟】</a:t>
            </a:r>
            <a:br/>
            <a:br/>
            <a:r>
              <a:t>"为什么选环氧树脂？这一点我想特别说明。</a:t>
            </a:r>
            <a:br/>
            <a:br/>
            <a:r>
              <a:t>环氧树脂的机械强度、热稳定性和耐化学性都远超聚苯乙烯。之前Li 2021和Wei 2024两个团队已经在环氧树脂包覆水溶性示踪剂方面做了探索，但他们做的是水相——定位产水层段。我查了很多文献，目前确实没有人把环氧树脂作为亲油性释放基体来做油相产量监测。这是我的切入点。</a:t>
            </a:r>
            <a:br/>
            <a:br/>
            <a:r>
              <a:t>具体来说，我的工作有三个层面的创新：</a:t>
            </a:r>
            <a:br/>
            <a:br/>
            <a:r>
              <a:t>第一是材料设计层面——用乳液聚合一步实现低密度调控、纳米改性和原位示踪包覆，跟传统的多步骤涂覆路线完全不一样。</a:t>
            </a:r>
            <a:br/>
            <a:br/>
            <a:r>
              <a:t>第二是表面工程层面——用硬脂酸做亲油改性，羧基跟Fe₃O₄表面羟基配位，长烷基链朝外构建疏水膜。这个设计的直接效果是把水接触角从72度拉到了104度，实现了亲水到疏水的翻转。</a:t>
            </a:r>
            <a:br/>
            <a:br/>
            <a:r>
              <a:t>第三是模型方法层面——我建立了一个基于tanh平滑过渡的分段ADE模型，把示踪突破曲线分解成Gaussian脉冲分量和erfc拖尾分量，两个分量有明确的物理对应。最终R方做到了0.9939，这为之后的产量定量提供了数学基础。"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【实验方案 — 约1分钟，快速过】</a:t>
            </a:r>
            <a:br/>
            <a:br/>
            <a:r>
              <a:t>"实验方案我快速过一下。</a:t>
            </a:r>
            <a:br/>
            <a:br/>
            <a:r>
              <a:t>合成路线分四步：第一步共沉淀法制备Mn掺杂的纳米Fe₃O₄；第二步硬脂酸乙醇溶液超声改性，得到亲油的nano-Fe₃O₄@SA；第三步是核心步骤——将改性纳米颗粒与E51环氧树脂、T31固化剂、中空玻璃微球预混，在SiO₂分散液和胍胶组成的稳定体系中进行乳液聚合；第四步50度固化、80度干燥。</a:t>
            </a:r>
            <a:br/>
            <a:br/>
            <a:r>
              <a:t>表征我做了八个方向：SEM看形貌和元素分布，TGA/DSC看热稳定性，水接触角看润湿性变化，物理力学按行业标准SY/T 5107测试，油水过滤时间间接评价导流能力，ICP-MS定量示踪释放浓度，然后用K-P模型分析释放动力学机制，最后用分段ADE模型拟合突破曲线验证监测精度。整个链条从材料到性能到应用是打通的。"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【SEM结果 — 约1分钟】</a:t>
            </a:r>
            <a:br/>
            <a:br/>
            <a:r>
              <a:t>"SEM是最直观的证据。</a:t>
            </a:r>
            <a:br/>
            <a:br/>
            <a:r>
              <a:t>对比纯环氧微球和掺了nano-Fe₃O₄@SA的ESP-T，低倍下两种微球都呈现优异的球度和单分散性，说明乳液聚合的工艺可控性很好，加不加纳米填料不影响微球成型。</a:t>
            </a:r>
            <a:br/>
            <a:br/>
            <a:r>
              <a:t>中高倍下差异就出来了。纯环氧表面是光滑的，ESP-T表面布满岛状凸起。这些凸起是硬脂酸包裹的纳米团簇，不是大块团聚——这说明硬脂酸改性确实有效抑制了相分离。</a:t>
            </a:r>
            <a:br/>
            <a:br/>
            <a:r>
              <a:t>最关键的是高倍下一个细节：纳米团簇和环氧基体之间没有界面裂缝，呈现嵌入键合状态。这是硬脂酸长烷基链跟环氧分子链之间形成了物理缠结和疏水相互作用的直接证据。如果只是表面附着，界面一定会有裂缝或脱粘痕迹。</a:t>
            </a:r>
            <a:br/>
            <a:br/>
            <a:r>
              <a:t>EDS面扫描也确认了——Fe元素信号遍布整个颗粒截面，不是只在表面。这证明纳米Fe₃O₄确实被包进了基体内部。</a:t>
            </a:r>
            <a:br/>
            <a:br/>
            <a:r>
              <a:t>不过我需要在汇报中诚实地说：形成机制（固化收缩把纳米团簇挤出到表面）是我基于SEM结果的推断，还需要原位表征来确认动力学过程。这在论文里我也如实写了。"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【性能数据 — 约1分30秒，重点】</a:t>
            </a:r>
            <a:br/>
            <a:br/>
            <a:r>
              <a:t>"材料做出来了，到底行不行？这一页是我们最硬的数据。</a:t>
            </a:r>
            <a:br/>
            <a:br/>
            <a:r>
              <a:t>第一个指标：热稳定性。初始分解温度357.27度。典型井下温度是80到150度，深井最高也就200度。我的材料在200度以下只有微量水分挥发，环氧基体纹丝不动。这就是选环氧树脂、不选聚苯乙烯的根本原因——PS两百多度就扛不住了。</a:t>
            </a:r>
            <a:br/>
            <a:br/>
            <a:r>
              <a:t>第二个指标：水接触角。从纯环氧的72.3度提升到104.6度，增加了32.3度。这个跃升意味着表面从弱亲水变成了明确疏水。原理是硬脂酸的羧基跟Fe₃O₄表面羟基配位成键，17个碳的长烷基链朝外定向排列，构建了一层疏水膜。</a:t>
            </a:r>
            <a:br/>
            <a:br/>
            <a:r>
              <a:t>第三个指标：体积密度0.646克每立方厘米，比水轻。这意味着在水基压裂液中可以自然悬浮，不需要额外加悬浮剂。</a:t>
            </a:r>
            <a:br/>
            <a:br/>
            <a:r>
              <a:t>下面的表格是按行业标准SY/T 5107测的：球度圆度超过0.9，酸溶解度3.3%远低于5%的标准限值，50MPa下破碎率2.9%，跟纯环氧的2.6%相当。这些硬指标说明ESP-T完全满足工业应用的基本门槛。"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【阻水亲油 — 约1分钟】</a:t>
            </a:r>
            <a:br/>
            <a:br/>
            <a:r>
              <a:t>"润湿性变化不只是接触角数字好看，它带来了实实在在的性能差异。</a:t>
            </a:r>
            <a:br/>
            <a:br/>
            <a:r>
              <a:t>最直观的对比：油过滤时间从15分11秒降到了5分11秒，缩短了66%；而水过滤时间反而从不到3分钟延长到了28分钟41秒，增大了接近10倍。阻水亲油的效果非常明显。</a:t>
            </a:r>
            <a:br/>
            <a:br/>
            <a:r>
              <a:t>这个设计的工程意义在于：在实际地层中，支撑剂充填层对油相提供增强导流，促进油向井筒流动；同时对水相增加阻力，帮助缓解水窜。这在含水率比较高的老井中可能会特别有价值。</a:t>
            </a:r>
            <a:br/>
            <a:br/>
            <a:r>
              <a:t>需要注意的一点是，过滤时间是导流能力的间接评价，不是直接渗透率测量。如果要定量说导流能力提升了多少，需要做岩心驱替的渗透率测试。"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【释放动力学 — 约1分30秒】</a:t>
            </a:r>
            <a:br/>
            <a:br/>
            <a:r>
              <a:t>"示踪剂怎么从支撑剂里释放出来？我用Korsmeyer-Peppas模型来定量描述。</a:t>
            </a:r>
            <a:br/>
            <a:br/>
            <a:r>
              <a:t>K-P模型是一个幂律关系：C/C₀ = K·tⁿ。扩散指数n是最关键的参数——它直接告诉我们哪种机制在主导释放。球形载体中，n≤0.43是纯浓度梯度驱动的Fick扩散，n≥0.85是纯聚合物松弛驱动的Case-II传输，中间这个区间是两种机制协同。</a:t>
            </a:r>
            <a:br/>
            <a:br/>
            <a:r>
              <a:t>我的数据：四个温度下n值全部落在0.45到0.85之间。这说明ESP-T的示踪释放不是简单的浓度差扩散，而是Fick扩散和聚合物松弛共同作用的结果。</a:t>
            </a:r>
            <a:br/>
            <a:br/>
            <a:r>
              <a:t>速率常数K从30度的0.055提升到120度的0.196，系统性递增。这很好解释：温度越高，溶剂越容易渗透进环氧交联网络，溶胀越快，分子链间的约束力减弱，传输通道扩大。</a:t>
            </a:r>
            <a:br/>
            <a:br/>
            <a:r>
              <a:t>四个温度的R方都在0.94以上，模型拟合质量没问题。但我需要主动说明一点：K-P模型是幂律形式，严格适用于释放初期(Mₜ/M∞ &lt; 0.6)。我的14天数据C/C₀已经超过了1，所以模型不能外推到实验时限之外。这在论文里我也做了明确声明，审稿人应该不会在这点上找茬。"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【核心结果 — 约2分钟，最重要的一页】</a:t>
            </a:r>
            <a:br/>
            <a:br/>
            <a:r>
              <a:t>"这一页是我认为全文最重要的成果——用分段ADE模型拟合示踪突破曲线。</a:t>
            </a:r>
            <a:br/>
            <a:br/>
            <a:r>
              <a:t>先交代一下为什么需要这个模型。示踪剂从支撑剂释放出来被油携带到井口，这个过程物理上天然分为两个阶段。关井期间积蓄的高浓度示踪剂团被一下子冲出来——这是ADE瞬时脉冲解，Gaussian形式的上升分量。残留在环氧基体里的示踪剂持续缓慢释放——这是ADE连续源解，erfc形式的拖尾分量。两个阶段之间我用tanh函数做平滑过渡，避免了阶跃拼接的数学不连续性。</a:t>
            </a:r>
            <a:br/>
            <a:br/>
            <a:r>
              <a:t>现在看关键数据。</a:t>
            </a:r>
            <a:br/>
            <a:br/>
            <a:r>
              <a:t>R方0.9939，RMSE 0.0210，全时间范围内残差都在正负两倍标准差以内。这个精度说明我的物理假设是正确的。</a:t>
            </a:r>
            <a:br/>
            <a:br/>
            <a:r>
              <a:t>拟合流量0.46毫升每分钟，跟我泵设的0.5对比，相对误差只有8%。平均停留时间37.4分钟跟理论对流传输时间38.6分钟的比值是0.967。这两个验证说明模型参数不是纯经验拟合——它们有明确且正确的物理对应关系。</a:t>
            </a:r>
            <a:br/>
            <a:br/>
            <a:r>
              <a:t>最后是最让我觉得有说服力的一个发现：我把C_rise和C_fall分别积分，发现erfc拖尾贡献了47%的总信号。将近一半！这意味着在流动条件下，基质扩散控制的持续释放仍然主导示踪传输。这从物理上证明了ESP-T做长期监测是可行的——不是所有示踪剂一股脑全出来了，而是有一半信号靠缓释在维持。</a:t>
            </a:r>
            <a:br/>
            <a:br/>
            <a:r>
              <a:t>Peclet数约等于1也印证了这一点：对流和弥散旗鼓相当，恰好是一个过渡状态，跟基质扩散控制源的渐进释放特征完全自洽。"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【两相流验证 — 约1分钟】</a:t>
            </a:r>
            <a:br/>
            <a:br/>
            <a:r>
              <a:t>"单相验证通过之后，我进一步测试了两相流条件下的表现。</a:t>
            </a:r>
            <a:br/>
            <a:br/>
            <a:r>
              <a:t>实验设计了三组油水比和四个总流量水平。先看浓度数据：浓度随总流量增大而降低，这是稀释效应，单位体积流体接触时间短了。但浓度受油水比影响不大。</a:t>
            </a:r>
            <a:br/>
            <a:br/>
            <a:r>
              <a:t>关键看示踪剂通量FO——单位时间通过井口的示踪剂质量，等价于支撑剂的释放速率。恒定油水比下FO跟总流量无关，因为油相跟支撑剂接触面积不变。但增大油水比，接触面积扩大，FO就上来了。</a:t>
            </a:r>
            <a:br/>
            <a:br/>
            <a:r>
              <a:t>核心验证在右边：我把FO以单相油驱稳态值3.187微克每分钟为基准做归一化，然后跟实际油相流量对比——三个油水比下高度吻合。这证明了在稳态条件下，恒定总流量时可以从FO变化曲线反推标记段的实际产油量。</a:t>
            </a:r>
            <a:br/>
            <a:br/>
            <a:r>
              <a:t>这是ESP-T能用于分段产量分配的实践基础。但这个结论有一个前提条件——稳态。如果生产中出现快速开井、关井、剧烈压力波动，FO跟实际流量的关系可能会偏离。这一点我在论文里也明确写了。"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【构效关系 — 约45秒】</a:t>
            </a:r>
            <a:br/>
            <a:br/>
            <a:r>
              <a:t>"这一页把整个工作的逻辑串起来。</a:t>
            </a:r>
            <a:br/>
            <a:br/>
            <a:r>
              <a:t>从硬脂酸改性到长烷基链缠结，到纳米团簇嵌入键合，到疏水表面，到阻水亲油的导流特性，到非Fick释放机制，最后到ADE模型验证和分段产量监测。这是一条从微观分子设计到宏观工程应用的完整链条，每一环都有对应的实验证据支撑。</a:t>
            </a:r>
            <a:br/>
            <a:br/>
            <a:r>
              <a:t>两个核心机制——润湿性转变和非Fick释放——不是孤立的，它们互相印证：疏水表面让油相更容易渗透进入环氧基体孔隙，而环氧基体本身的交联网络溶胀行为又决定了示踪剂的释放速率和模式。这两个机制的协同构成了ESP-T的科学基础。"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【局限性 — 约1分钟，主动提出】</a:t>
            </a:r>
            <a:br/>
            <a:br/>
            <a:r>
              <a:t>"这部分我想诚实地汇报目前工作还存在哪些问题，也想听听您的意见。</a:t>
            </a:r>
            <a:br/>
            <a:br/>
            <a:r>
              <a:t>第一，单段假设。目前实验和模型都是基于单裂缝段加均匀填充。实际矿场是多段、非均质的。从实验室到现场，这个可能是最大的鸿沟。</a:t>
            </a:r>
            <a:br/>
            <a:br/>
            <a:r>
              <a:t>第二，稳态假设。FO标定依赖稳态条件。实际生产中的瞬变工况——开井、关井、快速降压——FO跟油相流量的关系可能需要重新标定。</a:t>
            </a:r>
            <a:br/>
            <a:br/>
            <a:r>
              <a:t>第三，模型流体差异。我目前用的是十二烷模拟原油。真实原油里有沥青质、各种极性组分，粘度也不一样。沥青质会不会吸附到环氧表面影响释放？高粘度原油对溶胀动力学的影响有多大？这些我还没评估。</a:t>
            </a:r>
            <a:br/>
            <a:br/>
            <a:r>
              <a:t>第四，工况边界。目前测试到120度。超过120度或者遇到高矿化度、含CO₂、H₂S的地层流体，环氧基体和硬脂酸改性层的长期稳定性还需要专门测试。</a:t>
            </a:r>
            <a:br/>
            <a:br/>
            <a:r>
              <a:t>我想请老师特别指点一下：哪些局限是审稿人最可能在意的？我们应该在投稿前补充哪些实验或讨论？"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【总结 — 约1分钟】</a:t>
            </a:r>
            <a:br/>
            <a:br/>
            <a:r>
              <a:t>"最后总结一下我这篇工作的六点核心结论。</a:t>
            </a:r>
            <a:br/>
            <a:br/>
            <a:r>
              <a:t>第一，成功制备了ESP-T。nano-Fe₃O₄@SA均匀包覆在环氧基体里，球度超过0.9，满足SY/T标准。</a:t>
            </a:r>
            <a:br/>
            <a:br/>
            <a:r>
              <a:t>第二，性能上实现了三个关键指标：耐温357度远超井下需求、水接触角104.6度实现疏水、阻水亲油特性通过过滤时间实验得到了明确验证。</a:t>
            </a:r>
            <a:br/>
            <a:br/>
            <a:r>
              <a:t>第三，释放机制清晰：用K-P模型确认了Fick扩散和Case-II松弛协同的非Fick异常传输。</a:t>
            </a:r>
            <a:br/>
            <a:br/>
            <a:r>
              <a:t>第四，监测模型精度达到了我的预期：分段ADE模型R方0.9939，而且模型参数都有物理对应。</a:t>
            </a:r>
            <a:br/>
            <a:br/>
            <a:r>
              <a:t>第五，两相流验证通过：示踪剂通量可以定量油相产量，为分段产量分配提供了实验依据。</a:t>
            </a:r>
            <a:br/>
            <a:br/>
            <a:r>
              <a:t>第六，整体来看，这个材料把裂缝支撑和长期产量监测集成到了同一个体系里，在酸化压裂、深井、高压场景下应该都有应用潜力。</a:t>
            </a:r>
            <a:br/>
            <a:br/>
            <a:r>
              <a:t>我想请老师帮我判断一下：这个工作整体的完整性够不够投一个好的期刊？还需要补充哪些实验或讨论？"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【Slide 14 - 致谢】</a:t>
            </a:r>
            <a:br/>
            <a:r>
              <a:t>结束语建议:</a:t>
            </a:r>
            <a:br/>
            <a:br/>
            <a:r>
              <a:t>"以上是我对这篇论文的汇报。核心体会是：环氧树脂作为油相示踪基体这个方向还比较新，本文做了一个很好的概念验证和系统工作，但矿场验证和工业化路径还很远。</a:t>
            </a:r>
            <a:br/>
            <a:br/>
            <a:r>
              <a:t>请老师批评指正，谢谢！"</a:t>
            </a:r>
            <a:br/>
            <a:br/>
            <a:r>
              <a:t>（如果导师问到后续方向，可以结合CLAUDE.md中自己的开题方向——荧光压裂液裂缝监测——来讨论：ESP-T用的是磁性示踪+环氧包覆的思路，是否可以借鉴到荧光示踪体系中？环氧基体 vs 胍胶基体哪个更适合荧光粉的长期缓释？）</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000"/>
            </a:pPr>
            <a:r>
              <a:t>【投稿计划讨论 — 约2分钟】</a:t>
            </a:r>
            <a:br/>
            <a:br/>
            <a:r>
              <a:t>"最后我想跟您讨论一下投稿计划。</a:t>
            </a:r>
            <a:br/>
            <a:br/>
            <a:r>
              <a:t>我梳理了五个可能的目标期刊，列在这张表里。</a:t>
            </a:r>
            <a:br/>
            <a:br/>
            <a:r>
              <a:t>首选我考虑投Fuel。IF大概7.5，中科院一区Top期刊。Gong et al. 2024那篇用PS微球做油相示踪支撑剂的文章就发在Fuel上，说明这个期刊认可这个方向。我们跟Gong的差异化很清楚：他用PS基体，我们用环氧树脂——耐温从200度拉到357度，机械强度也更好。再加上我们的ADE分段模型R方做到了0.9939、erfc拖尾47%的定量证据，这在方法学上比Gong更进一步。</a:t>
            </a:r>
            <a:br/>
            <a:br/>
            <a:r>
              <a:t>备选是Geoenergy Science and Engineering，就是之前的Journal of Petroleum Science and Engineering。Zhao 2020、Zhou 2022、Li 2023这些做示踪支撑剂的文章全发在这个期刊上。好处是审稿人一定对口——他们审过这个细分方向的前人工作，能准确判断增量贡献。IF大概4.5，中科院二区。稳。</a:t>
            </a:r>
            <a:br/>
            <a:br/>
            <a:r>
              <a:t>保底的话，ACS Omega审稿比较快一两个月，接受率相对高，但IF只有4左右而且是三区。Colloids and Surfaces A也差不多，Gong et al. 2024关于纳米Fe₃O₄示踪剂的另一篇文章就在那儿。</a:t>
            </a:r>
            <a:br/>
            <a:br/>
            <a:r>
              <a:t>表格下面列了投稿前需要做的五件事，我想请老师帮我把关：</a:t>
            </a:r>
            <a:br/>
            <a:br/>
            <a:r>
              <a:t>TGA数据现在只测了空气气氛，要不要补一个氮气惰性气氛做对比？还有120度长期超过30天的稳定性数据要不要补？</a:t>
            </a:r>
            <a:br/>
            <a:br/>
            <a:r>
              <a:t>跟Gong 2024那篇文章的定量对比，我打算做一个综合性能雷达图，直观展示环氧vs PS在耐温、强度、密度、释放可控性这些维度上的差异。这个图我觉得放进论文会很有说服力。</a:t>
            </a:r>
            <a:br/>
            <a:br/>
            <a:r>
              <a:t>语言方面，我写的是英文稿，投稿前还需要润色。</a:t>
            </a:r>
            <a:br/>
            <a:br/>
            <a:r>
              <a:t>Cover Letter我想重点打两个亮点：首次用环氧树脂做油相示踪释放基体 + ADE分段模型的定量精度。</a:t>
            </a:r>
            <a:br/>
            <a:br/>
            <a:r>
              <a:t>这些想听听您的意见，特别是首投的目标期刊选择和还需要补充的实验。"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54864" cy="4114800"/>
          </a:xfrm>
          <a:prstGeom prst="rect">
            <a:avLst/>
          </a:prstGeom>
          <a:solidFill>
            <a:srgbClr val="C05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463040"/>
            <a:ext cx="10058400" cy="1280160"/>
          </a:xfrm>
          <a:prstGeom prst="rect">
            <a:avLst/>
          </a:prstGeom>
          <a:noFill/>
        </p:spPr>
        <p:txBody>
          <a:bodyPr wrap="square">
            <a:spAutoFit/>
          </a:bodyPr>
          <a:lstStyle/>
          <a:p>
            <a:pPr algn="l">
              <a:spcAft>
                <a:spcPts val="600"/>
              </a:spcAft>
              <a:defRPr sz="3000" b="1">
                <a:solidFill>
                  <a:srgbClr val="1A1A1A"/>
                </a:solidFill>
                <a:latin typeface="Microsoft YaHei"/>
              </a:defRPr>
            </a:pPr>
            <a:r>
              <a:t>环氧树脂微球包覆亲油性 Fe₃O₄ 纳米颗粒</a:t>
            </a:r>
            <a:br/>
            <a:r>
              <a:t>示踪支撑剂用于分段产量监测</a:t>
            </a:r>
          </a:p>
        </p:txBody>
      </p:sp>
      <p:sp>
        <p:nvSpPr>
          <p:cNvPr id="5" name="TextBox 4"/>
          <p:cNvSpPr txBox="1"/>
          <p:nvPr/>
        </p:nvSpPr>
        <p:spPr>
          <a:xfrm>
            <a:off x="1188720" y="2926080"/>
            <a:ext cx="10058400" cy="731520"/>
          </a:xfrm>
          <a:prstGeom prst="rect">
            <a:avLst/>
          </a:prstGeom>
          <a:noFill/>
        </p:spPr>
        <p:txBody>
          <a:bodyPr wrap="square">
            <a:spAutoFit/>
          </a:bodyPr>
          <a:lstStyle/>
          <a:p>
            <a:pPr algn="l">
              <a:spcAft>
                <a:spcPts val="280"/>
              </a:spcAft>
              <a:defRPr sz="1400" b="0">
                <a:solidFill>
                  <a:srgbClr val="8A8A8A"/>
                </a:solidFill>
                <a:latin typeface="Microsoft YaHei"/>
              </a:defRPr>
            </a:pPr>
            <a:r>
              <a:t>Epoxy Resin Microspheres Encapsulating Oleophilic Fe₃O₄</a:t>
            </a:r>
            <a:br/>
            <a:r>
              <a:t>Nanoparticles as Tracer Proppants for Production Allocation</a:t>
            </a:r>
          </a:p>
        </p:txBody>
      </p:sp>
      <p:cxnSp>
        <p:nvCxnSpPr>
          <p:cNvPr id="6" name="Connector 5"/>
          <p:cNvCxnSpPr/>
          <p:nvPr/>
        </p:nvCxnSpPr>
        <p:spPr>
          <a:xfrm>
            <a:off x="1188720" y="3840480"/>
            <a:ext cx="3840480" cy="0"/>
          </a:xfrm>
          <a:prstGeom prst="line">
            <a:avLst/>
          </a:prstGeom>
          <a:ln w="25400">
            <a:solidFill>
              <a:srgbClr val="C05C2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88720" y="4114800"/>
            <a:ext cx="7315200" cy="365760"/>
          </a:xfrm>
          <a:prstGeom prst="rect">
            <a:avLst/>
          </a:prstGeom>
          <a:noFill/>
        </p:spPr>
        <p:txBody>
          <a:bodyPr wrap="square">
            <a:spAutoFit/>
          </a:bodyPr>
          <a:lstStyle/>
          <a:p>
            <a:pPr algn="l">
              <a:spcAft>
                <a:spcPts val="259"/>
              </a:spcAft>
              <a:defRPr sz="1300" b="0">
                <a:solidFill>
                  <a:srgbClr val="2B5C8A"/>
                </a:solidFill>
                <a:latin typeface="Microsoft YaHei"/>
              </a:defRPr>
            </a:pPr>
            <a:r>
              <a:t>ESP-T: Epoxy resin microSpheres with oleophilic Tracer</a:t>
            </a:r>
          </a:p>
        </p:txBody>
      </p:sp>
      <p:sp>
        <p:nvSpPr>
          <p:cNvPr id="8" name="TextBox 7"/>
          <p:cNvSpPr txBox="1"/>
          <p:nvPr/>
        </p:nvSpPr>
        <p:spPr>
          <a:xfrm>
            <a:off x="1188720" y="4663440"/>
            <a:ext cx="7315200" cy="365760"/>
          </a:xfrm>
          <a:prstGeom prst="rect">
            <a:avLst/>
          </a:prstGeom>
          <a:noFill/>
        </p:spPr>
        <p:txBody>
          <a:bodyPr wrap="square">
            <a:spAutoFit/>
          </a:bodyPr>
          <a:lstStyle/>
          <a:p>
            <a:pPr algn="l">
              <a:spcAft>
                <a:spcPts val="239"/>
              </a:spcAft>
              <a:defRPr sz="1200" b="0">
                <a:solidFill>
                  <a:srgbClr val="8A8A8A"/>
                </a:solidFill>
                <a:latin typeface="Microsoft YaHei"/>
              </a:defRPr>
            </a:pPr>
            <a:r>
              <a:t>导师汇报  |  2026年6月</a:t>
            </a:r>
          </a:p>
        </p:txBody>
      </p:sp>
      <p:sp>
        <p:nvSpPr>
          <p:cNvPr id="9" name="TextBox 8"/>
          <p:cNvSpPr txBox="1"/>
          <p:nvPr/>
        </p:nvSpPr>
        <p:spPr>
          <a:xfrm>
            <a:off x="1188720" y="5029200"/>
            <a:ext cx="7315200" cy="365760"/>
          </a:xfrm>
          <a:prstGeom prst="rect">
            <a:avLst/>
          </a:prstGeom>
          <a:noFill/>
        </p:spPr>
        <p:txBody>
          <a:bodyPr wrap="square">
            <a:spAutoFit/>
          </a:bodyPr>
          <a:lstStyle/>
          <a:p>
            <a:pPr algn="l">
              <a:spcAft>
                <a:spcPts val="219"/>
              </a:spcAft>
              <a:defRPr sz="1100" b="0">
                <a:solidFill>
                  <a:srgbClr val="8A8A8A"/>
                </a:solidFill>
                <a:latin typeface="Microsoft YaHei"/>
              </a:defRPr>
            </a:pPr>
            <a:r>
              <a:t>材料 / 石油工程 — 非常规储层压裂示踪技术</a:t>
            </a:r>
          </a:p>
        </p:txBody>
      </p:sp>
      <p:sp>
        <p:nvSpPr>
          <p:cNvPr id="10" name="Rectangle 9"/>
          <p:cNvSpPr/>
          <p:nvPr/>
        </p:nvSpPr>
        <p:spPr>
          <a:xfrm>
            <a:off x="0" y="6784848"/>
            <a:ext cx="12191695" cy="73152"/>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spcAft>
                <a:spcPts val="519"/>
              </a:spcAft>
              <a:defRPr sz="2600" b="1">
                <a:solidFill>
                  <a:srgbClr val="1A1A1A"/>
                </a:solidFill>
                <a:latin typeface="Microsoft YaHei"/>
              </a:defRPr>
            </a:pPr>
            <a:r>
              <a:t>分段产量监测是压裂效果评价的核心需求</a:t>
            </a:r>
          </a:p>
        </p:txBody>
      </p:sp>
      <p:cxnSp>
        <p:nvCxnSpPr>
          <p:cNvPr id="4" name="Connector 3"/>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247120" y="6446520"/>
            <a:ext cx="731520" cy="274320"/>
          </a:xfrm>
          <a:prstGeom prst="rect">
            <a:avLst/>
          </a:prstGeom>
          <a:noFill/>
        </p:spPr>
        <p:txBody>
          <a:bodyPr wrap="square">
            <a:spAutoFit/>
          </a:bodyPr>
          <a:lstStyle/>
          <a:p>
            <a:pPr algn="r">
              <a:spcAft>
                <a:spcPts val="159"/>
              </a:spcAft>
              <a:defRPr sz="800" b="0">
                <a:solidFill>
                  <a:srgbClr val="8A8A8A"/>
                </a:solidFill>
                <a:latin typeface="Microsoft YaHei"/>
              </a:defRPr>
            </a:pPr>
            <a:r>
              <a:t>2/14</a:t>
            </a:r>
          </a:p>
        </p:txBody>
      </p:sp>
      <p:sp>
        <p:nvSpPr>
          <p:cNvPr id="6" name="TextBox 5"/>
          <p:cNvSpPr txBox="1"/>
          <p:nvPr/>
        </p:nvSpPr>
        <p:spPr>
          <a:xfrm>
            <a:off x="548640" y="1371600"/>
            <a:ext cx="5029200" cy="365760"/>
          </a:xfrm>
          <a:prstGeom prst="rect">
            <a:avLst/>
          </a:prstGeom>
          <a:noFill/>
        </p:spPr>
        <p:txBody>
          <a:bodyPr wrap="square">
            <a:spAutoFit/>
          </a:bodyPr>
          <a:lstStyle/>
          <a:p>
            <a:pPr algn="l">
              <a:spcAft>
                <a:spcPts val="319"/>
              </a:spcAft>
              <a:defRPr sz="1600" b="1">
                <a:solidFill>
                  <a:srgbClr val="C05C2C"/>
                </a:solidFill>
                <a:latin typeface="Microsoft YaHei"/>
              </a:defRPr>
            </a:pPr>
            <a:r>
              <a:t>核心矛盾</a:t>
            </a:r>
          </a:p>
        </p:txBody>
      </p:sp>
      <p:sp>
        <p:nvSpPr>
          <p:cNvPr id="7" name="TextBox 6"/>
          <p:cNvSpPr txBox="1"/>
          <p:nvPr/>
        </p:nvSpPr>
        <p:spPr>
          <a:xfrm>
            <a:off x="548640" y="1828800"/>
            <a:ext cx="5029200" cy="1828800"/>
          </a:xfrm>
          <a:prstGeom prst="rect">
            <a:avLst/>
          </a:prstGeom>
          <a:noFill/>
        </p:spPr>
        <p:txBody>
          <a:bodyPr wrap="square">
            <a:spAutoFit/>
          </a:bodyPr>
          <a:lstStyle/>
          <a:p>
            <a:pPr algn="l">
              <a:spcAft>
                <a:spcPts val="800"/>
              </a:spcAft>
              <a:defRPr sz="1300" b="0">
                <a:solidFill>
                  <a:srgbClr val="333333"/>
                </a:solidFill>
                <a:latin typeface="Microsoft YaHei"/>
              </a:defRPr>
            </a:pPr>
            <a:r>
              <a:t>• 压裂后各段产油贡献差异显著</a:t>
            </a:r>
            <a:br/>
            <a:r>
              <a:t>• 各段产量以不同速率衰减</a:t>
            </a:r>
            <a:br/>
            <a:r>
              <a:t>• 缺乏精确的分段产量分配手段</a:t>
            </a:r>
            <a:br/>
            <a:r>
              <a:t>• 导致开发策略优化缺乏数据支撑</a:t>
            </a:r>
          </a:p>
        </p:txBody>
      </p:sp>
      <p:sp>
        <p:nvSpPr>
          <p:cNvPr id="8" name="Rectangle 7"/>
          <p:cNvSpPr/>
          <p:nvPr/>
        </p:nvSpPr>
        <p:spPr>
          <a:xfrm>
            <a:off x="6583680" y="1463040"/>
            <a:ext cx="2286000" cy="9144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20840" y="1600200"/>
            <a:ext cx="2011680" cy="502920"/>
          </a:xfrm>
          <a:prstGeom prst="rect">
            <a:avLst/>
          </a:prstGeom>
          <a:noFill/>
        </p:spPr>
        <p:txBody>
          <a:bodyPr wrap="square">
            <a:spAutoFit/>
          </a:bodyPr>
          <a:lstStyle/>
          <a:p>
            <a:pPr algn="ctr">
              <a:spcAft>
                <a:spcPts val="439"/>
              </a:spcAft>
              <a:defRPr sz="2200" b="1">
                <a:solidFill>
                  <a:srgbClr val="2B5C8A"/>
                </a:solidFill>
                <a:latin typeface="Microsoft YaHei"/>
              </a:defRPr>
            </a:pPr>
            <a:r>
              <a:t>&gt;50%</a:t>
            </a:r>
          </a:p>
        </p:txBody>
      </p:sp>
      <p:sp>
        <p:nvSpPr>
          <p:cNvPr id="10" name="TextBox 9"/>
          <p:cNvSpPr txBox="1"/>
          <p:nvPr/>
        </p:nvSpPr>
        <p:spPr>
          <a:xfrm>
            <a:off x="6720840" y="1965960"/>
            <a:ext cx="2011680" cy="320040"/>
          </a:xfrm>
          <a:prstGeom prst="rect">
            <a:avLst/>
          </a:prstGeom>
          <a:noFill/>
        </p:spPr>
        <p:txBody>
          <a:bodyPr wrap="square">
            <a:spAutoFit/>
          </a:bodyPr>
          <a:lstStyle/>
          <a:p>
            <a:pPr algn="ctr">
              <a:spcAft>
                <a:spcPts val="179"/>
              </a:spcAft>
              <a:defRPr sz="900" b="0">
                <a:solidFill>
                  <a:srgbClr val="8A8A8A"/>
                </a:solidFill>
                <a:latin typeface="Microsoft YaHei"/>
              </a:defRPr>
            </a:pPr>
            <a:r>
              <a:t>非常规油气占全球</a:t>
            </a:r>
            <a:br/>
            <a:r>
              <a:t>剩余可采储量比例</a:t>
            </a:r>
          </a:p>
        </p:txBody>
      </p:sp>
      <p:sp>
        <p:nvSpPr>
          <p:cNvPr id="11" name="Rectangle 10"/>
          <p:cNvSpPr/>
          <p:nvPr/>
        </p:nvSpPr>
        <p:spPr>
          <a:xfrm>
            <a:off x="9144000" y="1463040"/>
            <a:ext cx="2468880" cy="9144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81160" y="1600200"/>
            <a:ext cx="2194560" cy="502920"/>
          </a:xfrm>
          <a:prstGeom prst="rect">
            <a:avLst/>
          </a:prstGeom>
          <a:noFill/>
        </p:spPr>
        <p:txBody>
          <a:bodyPr wrap="square">
            <a:spAutoFit/>
          </a:bodyPr>
          <a:lstStyle/>
          <a:p>
            <a:pPr algn="ctr">
              <a:spcAft>
                <a:spcPts val="439"/>
              </a:spcAft>
              <a:defRPr sz="2200" b="1">
                <a:solidFill>
                  <a:srgbClr val="2B5C8A"/>
                </a:solidFill>
                <a:latin typeface="Microsoft YaHei"/>
              </a:defRPr>
            </a:pPr>
            <a:r>
              <a:t>357.27°C</a:t>
            </a:r>
          </a:p>
        </p:txBody>
      </p:sp>
      <p:sp>
        <p:nvSpPr>
          <p:cNvPr id="13" name="TextBox 12"/>
          <p:cNvSpPr txBox="1"/>
          <p:nvPr/>
        </p:nvSpPr>
        <p:spPr>
          <a:xfrm>
            <a:off x="9281160" y="1965960"/>
            <a:ext cx="2194560" cy="320040"/>
          </a:xfrm>
          <a:prstGeom prst="rect">
            <a:avLst/>
          </a:prstGeom>
          <a:noFill/>
        </p:spPr>
        <p:txBody>
          <a:bodyPr wrap="square">
            <a:spAutoFit/>
          </a:bodyPr>
          <a:lstStyle/>
          <a:p>
            <a:pPr algn="ctr">
              <a:spcAft>
                <a:spcPts val="179"/>
              </a:spcAft>
              <a:defRPr sz="900" b="0">
                <a:solidFill>
                  <a:srgbClr val="8A8A8A"/>
                </a:solidFill>
                <a:latin typeface="Microsoft YaHei"/>
              </a:defRPr>
            </a:pPr>
            <a:r>
              <a:t>ESP-T 初始分解温度</a:t>
            </a:r>
            <a:br/>
            <a:r>
              <a:t>远超井下需求 (80-200°C)</a:t>
            </a:r>
          </a:p>
        </p:txBody>
      </p:sp>
      <p:sp>
        <p:nvSpPr>
          <p:cNvPr id="14" name="TextBox 13"/>
          <p:cNvSpPr txBox="1"/>
          <p:nvPr/>
        </p:nvSpPr>
        <p:spPr>
          <a:xfrm>
            <a:off x="548640" y="4023360"/>
            <a:ext cx="10972800" cy="365760"/>
          </a:xfrm>
          <a:prstGeom prst="rect">
            <a:avLst/>
          </a:prstGeom>
          <a:noFill/>
        </p:spPr>
        <p:txBody>
          <a:bodyPr wrap="square">
            <a:spAutoFit/>
          </a:bodyPr>
          <a:lstStyle/>
          <a:p>
            <a:pPr algn="l">
              <a:spcAft>
                <a:spcPts val="319"/>
              </a:spcAft>
              <a:defRPr sz="1600" b="1">
                <a:solidFill>
                  <a:srgbClr val="C05C2C"/>
                </a:solidFill>
                <a:latin typeface="Microsoft YaHei"/>
              </a:defRPr>
            </a:pPr>
            <a:r>
              <a:t>现有示踪技术的三大瓶颈</a:t>
            </a:r>
          </a:p>
        </p:txBody>
      </p:sp>
      <p:sp>
        <p:nvSpPr>
          <p:cNvPr id="15" name="Rectangle 14"/>
          <p:cNvSpPr/>
          <p:nvPr/>
        </p:nvSpPr>
        <p:spPr>
          <a:xfrm>
            <a:off x="548640" y="4572000"/>
            <a:ext cx="3474720" cy="164592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663440"/>
            <a:ext cx="3108960" cy="365760"/>
          </a:xfrm>
          <a:prstGeom prst="rect">
            <a:avLst/>
          </a:prstGeom>
          <a:noFill/>
        </p:spPr>
        <p:txBody>
          <a:bodyPr wrap="square">
            <a:spAutoFit/>
          </a:bodyPr>
          <a:lstStyle/>
          <a:p>
            <a:pPr algn="l">
              <a:spcAft>
                <a:spcPts val="259"/>
              </a:spcAft>
              <a:defRPr sz="1300" b="1">
                <a:solidFill>
                  <a:srgbClr val="2B5C8A"/>
                </a:solidFill>
                <a:latin typeface="Microsoft YaHei"/>
              </a:defRPr>
            </a:pPr>
            <a:r>
              <a:t>传统油溶性示踪剂</a:t>
            </a:r>
          </a:p>
        </p:txBody>
      </p:sp>
      <p:sp>
        <p:nvSpPr>
          <p:cNvPr id="17" name="TextBox 16"/>
          <p:cNvSpPr txBox="1"/>
          <p:nvPr/>
        </p:nvSpPr>
        <p:spPr>
          <a:xfrm>
            <a:off x="731520" y="5074920"/>
            <a:ext cx="3108960" cy="914400"/>
          </a:xfrm>
          <a:prstGeom prst="rect">
            <a:avLst/>
          </a:prstGeom>
          <a:noFill/>
        </p:spPr>
        <p:txBody>
          <a:bodyPr wrap="square">
            <a:spAutoFit/>
          </a:bodyPr>
          <a:lstStyle/>
          <a:p>
            <a:pPr algn="l">
              <a:spcAft>
                <a:spcPts val="219"/>
              </a:spcAft>
              <a:defRPr sz="1100" b="0">
                <a:solidFill>
                  <a:srgbClr val="333333"/>
                </a:solidFill>
                <a:latin typeface="Microsoft YaHei"/>
              </a:defRPr>
            </a:pPr>
            <a:r>
              <a:t>与压裂液兼容性差</a:t>
            </a:r>
            <a:br/>
            <a:r>
              <a:t>无法实现长期监测</a:t>
            </a:r>
          </a:p>
        </p:txBody>
      </p:sp>
      <p:sp>
        <p:nvSpPr>
          <p:cNvPr id="18" name="Rectangle 17"/>
          <p:cNvSpPr/>
          <p:nvPr/>
        </p:nvSpPr>
        <p:spPr>
          <a:xfrm>
            <a:off x="4389120" y="4572000"/>
            <a:ext cx="3474720" cy="164592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663440"/>
            <a:ext cx="3108960" cy="365760"/>
          </a:xfrm>
          <a:prstGeom prst="rect">
            <a:avLst/>
          </a:prstGeom>
          <a:noFill/>
        </p:spPr>
        <p:txBody>
          <a:bodyPr wrap="square">
            <a:spAutoFit/>
          </a:bodyPr>
          <a:lstStyle/>
          <a:p>
            <a:pPr algn="l">
              <a:spcAft>
                <a:spcPts val="259"/>
              </a:spcAft>
              <a:defRPr sz="1300" b="1">
                <a:solidFill>
                  <a:srgbClr val="2B5C8A"/>
                </a:solidFill>
                <a:latin typeface="Microsoft YaHei"/>
              </a:defRPr>
            </a:pPr>
            <a:r>
              <a:t>涂层型示踪支撑剂</a:t>
            </a:r>
          </a:p>
        </p:txBody>
      </p:sp>
      <p:sp>
        <p:nvSpPr>
          <p:cNvPr id="20" name="TextBox 19"/>
          <p:cNvSpPr txBox="1"/>
          <p:nvPr/>
        </p:nvSpPr>
        <p:spPr>
          <a:xfrm>
            <a:off x="4572000" y="5074920"/>
            <a:ext cx="3108960" cy="914400"/>
          </a:xfrm>
          <a:prstGeom prst="rect">
            <a:avLst/>
          </a:prstGeom>
          <a:noFill/>
        </p:spPr>
        <p:txBody>
          <a:bodyPr wrap="square">
            <a:spAutoFit/>
          </a:bodyPr>
          <a:lstStyle/>
          <a:p>
            <a:pPr algn="l">
              <a:spcAft>
                <a:spcPts val="219"/>
              </a:spcAft>
              <a:defRPr sz="1100" b="0">
                <a:solidFill>
                  <a:srgbClr val="333333"/>
                </a:solidFill>
                <a:latin typeface="Microsoft YaHei"/>
              </a:defRPr>
            </a:pPr>
            <a:r>
              <a:t>涂层溶解即终止监测</a:t>
            </a:r>
            <a:br/>
            <a:r>
              <a:t>多步骤制备工艺复杂</a:t>
            </a:r>
          </a:p>
        </p:txBody>
      </p:sp>
      <p:sp>
        <p:nvSpPr>
          <p:cNvPr id="21" name="Rectangle 20"/>
          <p:cNvSpPr/>
          <p:nvPr/>
        </p:nvSpPr>
        <p:spPr>
          <a:xfrm>
            <a:off x="8229600" y="4572000"/>
            <a:ext cx="3474720" cy="164592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4663440"/>
            <a:ext cx="3108960" cy="365760"/>
          </a:xfrm>
          <a:prstGeom prst="rect">
            <a:avLst/>
          </a:prstGeom>
          <a:noFill/>
        </p:spPr>
        <p:txBody>
          <a:bodyPr wrap="square">
            <a:spAutoFit/>
          </a:bodyPr>
          <a:lstStyle/>
          <a:p>
            <a:pPr algn="l">
              <a:spcAft>
                <a:spcPts val="259"/>
              </a:spcAft>
              <a:defRPr sz="1300" b="1">
                <a:solidFill>
                  <a:srgbClr val="2B5C8A"/>
                </a:solidFill>
                <a:latin typeface="Microsoft YaHei"/>
              </a:defRPr>
            </a:pPr>
            <a:r>
              <a:t>PS微球示踪剂</a:t>
            </a:r>
          </a:p>
        </p:txBody>
      </p:sp>
      <p:sp>
        <p:nvSpPr>
          <p:cNvPr id="23" name="TextBox 22"/>
          <p:cNvSpPr txBox="1"/>
          <p:nvPr/>
        </p:nvSpPr>
        <p:spPr>
          <a:xfrm>
            <a:off x="8412480" y="5074920"/>
            <a:ext cx="3108960" cy="914400"/>
          </a:xfrm>
          <a:prstGeom prst="rect">
            <a:avLst/>
          </a:prstGeom>
          <a:noFill/>
        </p:spPr>
        <p:txBody>
          <a:bodyPr wrap="square">
            <a:spAutoFit/>
          </a:bodyPr>
          <a:lstStyle/>
          <a:p>
            <a:pPr algn="l">
              <a:spcAft>
                <a:spcPts val="219"/>
              </a:spcAft>
              <a:defRPr sz="1100" b="0">
                <a:solidFill>
                  <a:srgbClr val="333333"/>
                </a:solidFill>
                <a:latin typeface="Microsoft YaHei"/>
              </a:defRPr>
            </a:pPr>
            <a:r>
              <a:t>机械强度差</a:t>
            </a:r>
            <a:br/>
            <a:r>
              <a:t>热稳定性不足 (&lt;200°C)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spcAft>
                <a:spcPts val="519"/>
              </a:spcAft>
              <a:defRPr sz="2600" b="1">
                <a:solidFill>
                  <a:srgbClr val="1A1A1A"/>
                </a:solidFill>
                <a:latin typeface="Microsoft YaHei"/>
              </a:defRPr>
            </a:pPr>
            <a:r>
              <a:t>环氧树脂作为油相示踪释放基体的研究空白</a:t>
            </a:r>
          </a:p>
        </p:txBody>
      </p:sp>
      <p:cxnSp>
        <p:nvCxnSpPr>
          <p:cNvPr id="4" name="Connector 3"/>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247120" y="6446520"/>
            <a:ext cx="731520" cy="274320"/>
          </a:xfrm>
          <a:prstGeom prst="rect">
            <a:avLst/>
          </a:prstGeom>
          <a:noFill/>
        </p:spPr>
        <p:txBody>
          <a:bodyPr wrap="square">
            <a:spAutoFit/>
          </a:bodyPr>
          <a:lstStyle/>
          <a:p>
            <a:pPr algn="r">
              <a:spcAft>
                <a:spcPts val="159"/>
              </a:spcAft>
              <a:defRPr sz="800" b="0">
                <a:solidFill>
                  <a:srgbClr val="8A8A8A"/>
                </a:solidFill>
                <a:latin typeface="Microsoft YaHei"/>
              </a:defRPr>
            </a:pPr>
            <a:r>
              <a:t>3/14</a:t>
            </a:r>
          </a:p>
        </p:txBody>
      </p:sp>
      <p:sp>
        <p:nvSpPr>
          <p:cNvPr id="6" name="TextBox 5"/>
          <p:cNvSpPr txBox="1"/>
          <p:nvPr/>
        </p:nvSpPr>
        <p:spPr>
          <a:xfrm>
            <a:off x="548640" y="1371600"/>
            <a:ext cx="10972800" cy="320040"/>
          </a:xfrm>
          <a:prstGeom prst="rect">
            <a:avLst/>
          </a:prstGeom>
          <a:noFill/>
        </p:spPr>
        <p:txBody>
          <a:bodyPr wrap="square">
            <a:spAutoFit/>
          </a:bodyPr>
          <a:lstStyle/>
          <a:p>
            <a:pPr algn="l">
              <a:spcAft>
                <a:spcPts val="319"/>
              </a:spcAft>
              <a:defRPr sz="1600" b="1">
                <a:solidFill>
                  <a:srgbClr val="C05C2C"/>
                </a:solidFill>
                <a:latin typeface="Microsoft YaHei"/>
              </a:defRPr>
            </a:pPr>
            <a:r>
              <a:t>已有研究 vs 本文切入点</a:t>
            </a:r>
          </a:p>
        </p:txBody>
      </p:sp>
      <p:graphicFrame>
        <p:nvGraphicFramePr>
          <p:cNvPr id="7" name="Table 6"/>
          <p:cNvGraphicFramePr>
            <a:graphicFrameLocks noGrp="1"/>
          </p:cNvGraphicFramePr>
          <p:nvPr/>
        </p:nvGraphicFramePr>
        <p:xfrm>
          <a:off x="548640" y="1920240"/>
          <a:ext cx="11064240" cy="237744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475488">
                <a:tc>
                  <a:txBody>
                    <a:bodyPr/>
                    <a:lstStyle/>
                    <a:p>
                      <a:pPr>
                        <a:defRPr sz="1100" b="1">
                          <a:solidFill>
                            <a:srgbClr val="FFFFFF"/>
                          </a:solidFill>
                          <a:latin typeface="Microsoft YaHei"/>
                        </a:defRPr>
                      </a:pPr>
                      <a:r>
                        <a:t>研究</a:t>
                      </a:r>
                    </a:p>
                  </a:txBody>
                  <a:tcPr>
                    <a:solidFill>
                      <a:srgbClr val="2B5C8A"/>
                    </a:solidFill>
                  </a:tcPr>
                </a:tc>
                <a:tc>
                  <a:txBody>
                    <a:bodyPr/>
                    <a:lstStyle/>
                    <a:p>
                      <a:pPr>
                        <a:defRPr sz="1100" b="1">
                          <a:solidFill>
                            <a:srgbClr val="FFFFFF"/>
                          </a:solidFill>
                          <a:latin typeface="Microsoft YaHei"/>
                        </a:defRPr>
                      </a:pPr>
                      <a:r>
                        <a:t>基体材料</a:t>
                      </a:r>
                    </a:p>
                  </a:txBody>
                  <a:tcPr>
                    <a:solidFill>
                      <a:srgbClr val="2B5C8A"/>
                    </a:solidFill>
                  </a:tcPr>
                </a:tc>
                <a:tc>
                  <a:txBody>
                    <a:bodyPr/>
                    <a:lstStyle/>
                    <a:p>
                      <a:pPr>
                        <a:defRPr sz="1100" b="1">
                          <a:solidFill>
                            <a:srgbClr val="FFFFFF"/>
                          </a:solidFill>
                          <a:latin typeface="Microsoft YaHei"/>
                        </a:defRPr>
                      </a:pPr>
                      <a:r>
                        <a:t>示踪剂类型</a:t>
                      </a:r>
                    </a:p>
                  </a:txBody>
                  <a:tcPr>
                    <a:solidFill>
                      <a:srgbClr val="2B5C8A"/>
                    </a:solidFill>
                  </a:tcPr>
                </a:tc>
                <a:tc>
                  <a:txBody>
                    <a:bodyPr/>
                    <a:lstStyle/>
                    <a:p>
                      <a:pPr>
                        <a:defRPr sz="1100" b="1">
                          <a:solidFill>
                            <a:srgbClr val="FFFFFF"/>
                          </a:solidFill>
                          <a:latin typeface="Microsoft YaHei"/>
                        </a:defRPr>
                      </a:pPr>
                      <a:r>
                        <a:t>监测相态</a:t>
                      </a:r>
                    </a:p>
                  </a:txBody>
                  <a:tcPr>
                    <a:solidFill>
                      <a:srgbClr val="2B5C8A"/>
                    </a:solidFill>
                  </a:tcPr>
                </a:tc>
                <a:tc>
                  <a:txBody>
                    <a:bodyPr/>
                    <a:lstStyle/>
                    <a:p>
                      <a:pPr>
                        <a:defRPr sz="1100" b="1">
                          <a:solidFill>
                            <a:srgbClr val="FFFFFF"/>
                          </a:solidFill>
                          <a:latin typeface="Microsoft YaHei"/>
                        </a:defRPr>
                      </a:pPr>
                      <a:r>
                        <a:t>局限性</a:t>
                      </a:r>
                    </a:p>
                  </a:txBody>
                  <a:tcPr>
                    <a:solidFill>
                      <a:srgbClr val="2B5C8A"/>
                    </a:solidFill>
                  </a:tcPr>
                </a:tc>
              </a:tr>
              <a:tr h="475488">
                <a:tc>
                  <a:txBody>
                    <a:bodyPr/>
                    <a:lstStyle/>
                    <a:p>
                      <a:pPr>
                        <a:defRPr sz="1100">
                          <a:solidFill>
                            <a:srgbClr val="333333"/>
                          </a:solidFill>
                          <a:latin typeface="Microsoft YaHei"/>
                        </a:defRPr>
                      </a:pPr>
                      <a:r>
                        <a:t>Li et al. 2021 [26]</a:t>
                      </a:r>
                    </a:p>
                  </a:txBody>
                  <a:tcPr/>
                </a:tc>
                <a:tc>
                  <a:txBody>
                    <a:bodyPr/>
                    <a:lstStyle/>
                    <a:p>
                      <a:pPr>
                        <a:defRPr sz="1100">
                          <a:solidFill>
                            <a:srgbClr val="333333"/>
                          </a:solidFill>
                          <a:latin typeface="Microsoft YaHei"/>
                        </a:defRPr>
                      </a:pPr>
                      <a:r>
                        <a:t>环氧树脂</a:t>
                      </a:r>
                    </a:p>
                  </a:txBody>
                  <a:tcPr/>
                </a:tc>
                <a:tc>
                  <a:txBody>
                    <a:bodyPr/>
                    <a:lstStyle/>
                    <a:p>
                      <a:pPr>
                        <a:defRPr sz="1100">
                          <a:solidFill>
                            <a:srgbClr val="333333"/>
                          </a:solidFill>
                          <a:latin typeface="Microsoft YaHei"/>
                        </a:defRPr>
                      </a:pPr>
                      <a:r>
                        <a:t>水溶性示踪剂</a:t>
                      </a:r>
                    </a:p>
                  </a:txBody>
                  <a:tcPr/>
                </a:tc>
                <a:tc>
                  <a:txBody>
                    <a:bodyPr/>
                    <a:lstStyle/>
                    <a:p>
                      <a:pPr>
                        <a:defRPr sz="1100">
                          <a:solidFill>
                            <a:srgbClr val="333333"/>
                          </a:solidFill>
                          <a:latin typeface="Microsoft YaHei"/>
                        </a:defRPr>
                      </a:pPr>
                      <a:r>
                        <a:t>💧 水相</a:t>
                      </a:r>
                    </a:p>
                  </a:txBody>
                  <a:tcPr/>
                </a:tc>
                <a:tc>
                  <a:txBody>
                    <a:bodyPr/>
                    <a:lstStyle/>
                    <a:p>
                      <a:pPr>
                        <a:defRPr sz="1100">
                          <a:solidFill>
                            <a:srgbClr val="333333"/>
                          </a:solidFill>
                          <a:latin typeface="Microsoft YaHei"/>
                        </a:defRPr>
                      </a:pPr>
                      <a:r>
                        <a:t>仅水相释放</a:t>
                      </a:r>
                    </a:p>
                  </a:txBody>
                  <a:tcPr/>
                </a:tc>
              </a:tr>
              <a:tr h="475488">
                <a:tc>
                  <a:txBody>
                    <a:bodyPr/>
                    <a:lstStyle/>
                    <a:p>
                      <a:pPr>
                        <a:defRPr sz="1100">
                          <a:solidFill>
                            <a:srgbClr val="333333"/>
                          </a:solidFill>
                          <a:latin typeface="Microsoft YaHei"/>
                        </a:defRPr>
                      </a:pPr>
                      <a:r>
                        <a:t>Wei et al. 2024 [27]</a:t>
                      </a:r>
                    </a:p>
                  </a:txBody>
                  <a:tcPr/>
                </a:tc>
                <a:tc>
                  <a:txBody>
                    <a:bodyPr/>
                    <a:lstStyle/>
                    <a:p>
                      <a:pPr>
                        <a:defRPr sz="1100">
                          <a:solidFill>
                            <a:srgbClr val="333333"/>
                          </a:solidFill>
                          <a:latin typeface="Microsoft YaHei"/>
                        </a:defRPr>
                      </a:pPr>
                      <a:r>
                        <a:t>环氧树脂</a:t>
                      </a:r>
                    </a:p>
                  </a:txBody>
                  <a:tcPr/>
                </a:tc>
                <a:tc>
                  <a:txBody>
                    <a:bodyPr/>
                    <a:lstStyle/>
                    <a:p>
                      <a:pPr>
                        <a:defRPr sz="1100">
                          <a:solidFill>
                            <a:srgbClr val="333333"/>
                          </a:solidFill>
                          <a:latin typeface="Microsoft YaHei"/>
                        </a:defRPr>
                      </a:pPr>
                      <a:r>
                        <a:t>水溶性示踪剂</a:t>
                      </a:r>
                    </a:p>
                  </a:txBody>
                  <a:tcPr/>
                </a:tc>
                <a:tc>
                  <a:txBody>
                    <a:bodyPr/>
                    <a:lstStyle/>
                    <a:p>
                      <a:pPr>
                        <a:defRPr sz="1100">
                          <a:solidFill>
                            <a:srgbClr val="333333"/>
                          </a:solidFill>
                          <a:latin typeface="Microsoft YaHei"/>
                        </a:defRPr>
                      </a:pPr>
                      <a:r>
                        <a:t>💧 水相</a:t>
                      </a:r>
                    </a:p>
                  </a:txBody>
                  <a:tcPr/>
                </a:tc>
                <a:tc>
                  <a:txBody>
                    <a:bodyPr/>
                    <a:lstStyle/>
                    <a:p>
                      <a:pPr>
                        <a:defRPr sz="1100">
                          <a:solidFill>
                            <a:srgbClr val="333333"/>
                          </a:solidFill>
                          <a:latin typeface="Microsoft YaHei"/>
                        </a:defRPr>
                      </a:pPr>
                      <a:r>
                        <a:t>定位产水层段</a:t>
                      </a:r>
                    </a:p>
                  </a:txBody>
                  <a:tcPr/>
                </a:tc>
              </a:tr>
              <a:tr h="475488">
                <a:tc>
                  <a:txBody>
                    <a:bodyPr/>
                    <a:lstStyle/>
                    <a:p>
                      <a:pPr>
                        <a:defRPr sz="1100">
                          <a:solidFill>
                            <a:srgbClr val="333333"/>
                          </a:solidFill>
                          <a:latin typeface="Microsoft YaHei"/>
                        </a:defRPr>
                      </a:pPr>
                      <a:r>
                        <a:t>Gong et al. 2024 [19]</a:t>
                      </a:r>
                    </a:p>
                  </a:txBody>
                  <a:tcPr/>
                </a:tc>
                <a:tc>
                  <a:txBody>
                    <a:bodyPr/>
                    <a:lstStyle/>
                    <a:p>
                      <a:pPr>
                        <a:defRPr sz="1100">
                          <a:solidFill>
                            <a:srgbClr val="333333"/>
                          </a:solidFill>
                          <a:latin typeface="Microsoft YaHei"/>
                        </a:defRPr>
                      </a:pPr>
                      <a:r>
                        <a:t>聚苯乙烯(PS)</a:t>
                      </a:r>
                    </a:p>
                  </a:txBody>
                  <a:tcPr/>
                </a:tc>
                <a:tc>
                  <a:txBody>
                    <a:bodyPr/>
                    <a:lstStyle/>
                    <a:p>
                      <a:pPr>
                        <a:defRPr sz="1100">
                          <a:solidFill>
                            <a:srgbClr val="333333"/>
                          </a:solidFill>
                          <a:latin typeface="Microsoft YaHei"/>
                        </a:defRPr>
                      </a:pPr>
                      <a:r>
                        <a:t>油溶性示踪剂</a:t>
                      </a:r>
                    </a:p>
                  </a:txBody>
                  <a:tcPr/>
                </a:tc>
                <a:tc>
                  <a:txBody>
                    <a:bodyPr/>
                    <a:lstStyle/>
                    <a:p>
                      <a:pPr>
                        <a:defRPr sz="1100">
                          <a:solidFill>
                            <a:srgbClr val="333333"/>
                          </a:solidFill>
                          <a:latin typeface="Microsoft YaHei"/>
                        </a:defRPr>
                      </a:pPr>
                      <a:r>
                        <a:t>🛢️ 油相</a:t>
                      </a:r>
                    </a:p>
                  </a:txBody>
                  <a:tcPr/>
                </a:tc>
                <a:tc>
                  <a:txBody>
                    <a:bodyPr/>
                    <a:lstStyle/>
                    <a:p>
                      <a:pPr>
                        <a:defRPr sz="1100">
                          <a:solidFill>
                            <a:srgbClr val="333333"/>
                          </a:solidFill>
                          <a:latin typeface="Microsoft YaHei"/>
                        </a:defRPr>
                      </a:pPr>
                      <a:r>
                        <a:t>PS强度/热稳定性不足</a:t>
                      </a:r>
                    </a:p>
                  </a:txBody>
                  <a:tcPr/>
                </a:tc>
              </a:tr>
              <a:tr h="475488">
                <a:tc>
                  <a:txBody>
                    <a:bodyPr/>
                    <a:lstStyle/>
                    <a:p>
                      <a:pPr>
                        <a:defRPr sz="1100" b="1">
                          <a:solidFill>
                            <a:srgbClr val="C05C2C"/>
                          </a:solidFill>
                          <a:latin typeface="Microsoft YaHei"/>
                        </a:defRPr>
                      </a:pPr>
                      <a:r>
                        <a:t>本文 ESP-T</a:t>
                      </a:r>
                    </a:p>
                  </a:txBody>
                  <a:tcPr>
                    <a:solidFill>
                      <a:srgbClr val="F5F3EF"/>
                    </a:solidFill>
                  </a:tcPr>
                </a:tc>
                <a:tc>
                  <a:txBody>
                    <a:bodyPr/>
                    <a:lstStyle/>
                    <a:p>
                      <a:pPr>
                        <a:defRPr sz="1100" b="1">
                          <a:solidFill>
                            <a:srgbClr val="C05C2C"/>
                          </a:solidFill>
                          <a:latin typeface="Microsoft YaHei"/>
                        </a:defRPr>
                      </a:pPr>
                      <a:r>
                        <a:t>环氧树脂</a:t>
                      </a:r>
                    </a:p>
                  </a:txBody>
                  <a:tcPr>
                    <a:solidFill>
                      <a:srgbClr val="F5F3EF"/>
                    </a:solidFill>
                  </a:tcPr>
                </a:tc>
                <a:tc>
                  <a:txBody>
                    <a:bodyPr/>
                    <a:lstStyle/>
                    <a:p>
                      <a:pPr>
                        <a:defRPr sz="1100" b="1">
                          <a:solidFill>
                            <a:srgbClr val="C05C2C"/>
                          </a:solidFill>
                          <a:latin typeface="Microsoft YaHei"/>
                        </a:defRPr>
                      </a:pPr>
                      <a:r>
                        <a:t>亲油 nano-Fe₃O₄@SA</a:t>
                      </a:r>
                    </a:p>
                  </a:txBody>
                  <a:tcPr>
                    <a:solidFill>
                      <a:srgbClr val="F5F3EF"/>
                    </a:solidFill>
                  </a:tcPr>
                </a:tc>
                <a:tc>
                  <a:txBody>
                    <a:bodyPr/>
                    <a:lstStyle/>
                    <a:p>
                      <a:pPr>
                        <a:defRPr sz="1100" b="1">
                          <a:solidFill>
                            <a:srgbClr val="C05C2C"/>
                          </a:solidFill>
                          <a:latin typeface="Microsoft YaHei"/>
                        </a:defRPr>
                      </a:pPr>
                      <a:r>
                        <a:t>🛢️ 油相 ✓</a:t>
                      </a:r>
                    </a:p>
                  </a:txBody>
                  <a:tcPr>
                    <a:solidFill>
                      <a:srgbClr val="F5F3EF"/>
                    </a:solidFill>
                  </a:tcPr>
                </a:tc>
                <a:tc>
                  <a:txBody>
                    <a:bodyPr/>
                    <a:lstStyle/>
                    <a:p>
                      <a:pPr>
                        <a:defRPr sz="1100" b="1">
                          <a:solidFill>
                            <a:srgbClr val="C05C2C"/>
                          </a:solidFill>
                          <a:latin typeface="Microsoft YaHei"/>
                        </a:defRPr>
                      </a:pPr>
                      <a:r>
                        <a:t>首次油相监测 ✓</a:t>
                      </a:r>
                    </a:p>
                  </a:txBody>
                  <a:tcPr>
                    <a:solidFill>
                      <a:srgbClr val="F5F3EF"/>
                    </a:solidFill>
                  </a:tcPr>
                </a:tc>
              </a:tr>
            </a:tbl>
          </a:graphicData>
        </a:graphic>
      </p:graphicFrame>
      <p:sp>
        <p:nvSpPr>
          <p:cNvPr id="8" name="TextBox 7"/>
          <p:cNvSpPr txBox="1"/>
          <p:nvPr/>
        </p:nvSpPr>
        <p:spPr>
          <a:xfrm>
            <a:off x="548640" y="4663440"/>
            <a:ext cx="10972800" cy="548640"/>
          </a:xfrm>
          <a:prstGeom prst="rect">
            <a:avLst/>
          </a:prstGeom>
          <a:noFill/>
        </p:spPr>
        <p:txBody>
          <a:bodyPr wrap="square">
            <a:spAutoFit/>
          </a:bodyPr>
          <a:lstStyle/>
          <a:p>
            <a:pPr algn="l">
              <a:spcAft>
                <a:spcPts val="280"/>
              </a:spcAft>
              <a:defRPr sz="1400" b="1">
                <a:solidFill>
                  <a:srgbClr val="C05C2C"/>
                </a:solidFill>
                <a:latin typeface="Microsoft YaHei"/>
              </a:defRPr>
            </a:pPr>
            <a:r>
              <a:t>▸ 核心创新：首次以环氧树脂为亲油性释放基体，通过硬脂酸改性实现 nano-Fe₃O₄@SA 的均匀包覆</a:t>
            </a:r>
          </a:p>
        </p:txBody>
      </p:sp>
      <p:sp>
        <p:nvSpPr>
          <p:cNvPr id="9" name="TextBox 8"/>
          <p:cNvSpPr txBox="1"/>
          <p:nvPr/>
        </p:nvSpPr>
        <p:spPr>
          <a:xfrm>
            <a:off x="548640" y="5303520"/>
            <a:ext cx="10972800" cy="365760"/>
          </a:xfrm>
          <a:prstGeom prst="rect">
            <a:avLst/>
          </a:prstGeom>
          <a:noFill/>
        </p:spPr>
        <p:txBody>
          <a:bodyPr wrap="square">
            <a:spAutoFit/>
          </a:bodyPr>
          <a:lstStyle/>
          <a:p>
            <a:pPr algn="l">
              <a:spcAft>
                <a:spcPts val="300"/>
              </a:spcAft>
              <a:defRPr sz="1500" b="1">
                <a:solidFill>
                  <a:srgbClr val="2B5C8A"/>
                </a:solidFill>
                <a:latin typeface="Microsoft YaHei"/>
              </a:defRPr>
            </a:pPr>
            <a:r>
              <a:t>三合一思路</a:t>
            </a:r>
          </a:p>
        </p:txBody>
      </p:sp>
      <p:sp>
        <p:nvSpPr>
          <p:cNvPr id="10" name="TextBox 9"/>
          <p:cNvSpPr txBox="1"/>
          <p:nvPr/>
        </p:nvSpPr>
        <p:spPr>
          <a:xfrm>
            <a:off x="731520" y="5760720"/>
            <a:ext cx="3474720" cy="365760"/>
          </a:xfrm>
          <a:prstGeom prst="rect">
            <a:avLst/>
          </a:prstGeom>
          <a:noFill/>
        </p:spPr>
        <p:txBody>
          <a:bodyPr wrap="square">
            <a:spAutoFit/>
          </a:bodyPr>
          <a:lstStyle/>
          <a:p>
            <a:pPr algn="l">
              <a:spcAft>
                <a:spcPts val="219"/>
              </a:spcAft>
              <a:defRPr sz="1100" b="0">
                <a:solidFill>
                  <a:srgbClr val="333333"/>
                </a:solidFill>
                <a:latin typeface="Microsoft YaHei"/>
              </a:defRPr>
            </a:pPr>
            <a:r>
              <a:t>✅  乳液聚合一步合成 —— 低密度调控 + 纳米改性 + 原位包覆</a:t>
            </a:r>
          </a:p>
        </p:txBody>
      </p:sp>
      <p:sp>
        <p:nvSpPr>
          <p:cNvPr id="11" name="TextBox 10"/>
          <p:cNvSpPr txBox="1"/>
          <p:nvPr/>
        </p:nvSpPr>
        <p:spPr>
          <a:xfrm>
            <a:off x="4480559" y="5760720"/>
            <a:ext cx="3474720" cy="365760"/>
          </a:xfrm>
          <a:prstGeom prst="rect">
            <a:avLst/>
          </a:prstGeom>
          <a:noFill/>
        </p:spPr>
        <p:txBody>
          <a:bodyPr wrap="square">
            <a:spAutoFit/>
          </a:bodyPr>
          <a:lstStyle/>
          <a:p>
            <a:pPr algn="l">
              <a:spcAft>
                <a:spcPts val="219"/>
              </a:spcAft>
              <a:defRPr sz="1100" b="0">
                <a:solidFill>
                  <a:srgbClr val="333333"/>
                </a:solidFill>
                <a:latin typeface="Microsoft YaHei"/>
              </a:defRPr>
            </a:pPr>
            <a:r>
              <a:t>✅  硬脂酸表面改性 —— 亲油化，WCA 从 72.3° → 104.6°</a:t>
            </a:r>
          </a:p>
        </p:txBody>
      </p:sp>
      <p:sp>
        <p:nvSpPr>
          <p:cNvPr id="12" name="TextBox 11"/>
          <p:cNvSpPr txBox="1"/>
          <p:nvPr/>
        </p:nvSpPr>
        <p:spPr>
          <a:xfrm>
            <a:off x="8229600" y="5760720"/>
            <a:ext cx="3474720" cy="365760"/>
          </a:xfrm>
          <a:prstGeom prst="rect">
            <a:avLst/>
          </a:prstGeom>
          <a:noFill/>
        </p:spPr>
        <p:txBody>
          <a:bodyPr wrap="square">
            <a:spAutoFit/>
          </a:bodyPr>
          <a:lstStyle/>
          <a:p>
            <a:pPr algn="l">
              <a:spcAft>
                <a:spcPts val="219"/>
              </a:spcAft>
              <a:defRPr sz="1100" b="0">
                <a:solidFill>
                  <a:srgbClr val="333333"/>
                </a:solidFill>
                <a:latin typeface="Microsoft YaHei"/>
              </a:defRPr>
            </a:pPr>
            <a:r>
              <a:t>✅  ADE分段模型 —— 物理意义清晰，R² = 0.9939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spcAft>
                <a:spcPts val="519"/>
              </a:spcAft>
              <a:defRPr sz="2600" b="1">
                <a:solidFill>
                  <a:srgbClr val="1A1A1A"/>
                </a:solidFill>
                <a:latin typeface="Microsoft YaHei"/>
              </a:defRPr>
            </a:pPr>
            <a:r>
              <a:t>ESP-T 的合成路线与表征体系</a:t>
            </a:r>
          </a:p>
        </p:txBody>
      </p:sp>
      <p:cxnSp>
        <p:nvCxnSpPr>
          <p:cNvPr id="4" name="Connector 3"/>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247120" y="6446520"/>
            <a:ext cx="731520" cy="274320"/>
          </a:xfrm>
          <a:prstGeom prst="rect">
            <a:avLst/>
          </a:prstGeom>
          <a:noFill/>
        </p:spPr>
        <p:txBody>
          <a:bodyPr wrap="square">
            <a:spAutoFit/>
          </a:bodyPr>
          <a:lstStyle/>
          <a:p>
            <a:pPr algn="r">
              <a:spcAft>
                <a:spcPts val="159"/>
              </a:spcAft>
              <a:defRPr sz="800" b="0">
                <a:solidFill>
                  <a:srgbClr val="8A8A8A"/>
                </a:solidFill>
                <a:latin typeface="Microsoft YaHei"/>
              </a:defRPr>
            </a:pPr>
            <a:r>
              <a:t>4/14</a:t>
            </a:r>
          </a:p>
        </p:txBody>
      </p:sp>
      <p:sp>
        <p:nvSpPr>
          <p:cNvPr id="6" name="TextBox 5"/>
          <p:cNvSpPr txBox="1"/>
          <p:nvPr/>
        </p:nvSpPr>
        <p:spPr>
          <a:xfrm>
            <a:off x="548640" y="1371600"/>
            <a:ext cx="4572000" cy="320040"/>
          </a:xfrm>
          <a:prstGeom prst="rect">
            <a:avLst/>
          </a:prstGeom>
          <a:noFill/>
        </p:spPr>
        <p:txBody>
          <a:bodyPr wrap="square">
            <a:spAutoFit/>
          </a:bodyPr>
          <a:lstStyle/>
          <a:p>
            <a:pPr algn="l">
              <a:spcAft>
                <a:spcPts val="300"/>
              </a:spcAft>
              <a:defRPr sz="1500" b="1">
                <a:solidFill>
                  <a:srgbClr val="2B5C8A"/>
                </a:solidFill>
                <a:latin typeface="Microsoft YaHei"/>
              </a:defRPr>
            </a:pPr>
            <a:r>
              <a:t>▎合成路线</a:t>
            </a:r>
          </a:p>
        </p:txBody>
      </p:sp>
      <p:sp>
        <p:nvSpPr>
          <p:cNvPr id="7" name="Rectangle 6"/>
          <p:cNvSpPr/>
          <p:nvPr/>
        </p:nvSpPr>
        <p:spPr>
          <a:xfrm>
            <a:off x="548640" y="1828800"/>
            <a:ext cx="2560320" cy="20116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20240"/>
            <a:ext cx="2286000" cy="320040"/>
          </a:xfrm>
          <a:prstGeom prst="rect">
            <a:avLst/>
          </a:prstGeom>
          <a:noFill/>
        </p:spPr>
        <p:txBody>
          <a:bodyPr wrap="square">
            <a:spAutoFit/>
          </a:bodyPr>
          <a:lstStyle/>
          <a:p>
            <a:pPr algn="l">
              <a:spcAft>
                <a:spcPts val="259"/>
              </a:spcAft>
              <a:defRPr sz="1300" b="1">
                <a:solidFill>
                  <a:srgbClr val="C05C2C"/>
                </a:solidFill>
                <a:latin typeface="Microsoft YaHei"/>
              </a:defRPr>
            </a:pPr>
            <a:r>
              <a:t>① 共沉淀</a:t>
            </a:r>
          </a:p>
        </p:txBody>
      </p:sp>
      <p:sp>
        <p:nvSpPr>
          <p:cNvPr id="9" name="TextBox 8"/>
          <p:cNvSpPr txBox="1"/>
          <p:nvPr/>
        </p:nvSpPr>
        <p:spPr>
          <a:xfrm>
            <a:off x="685800" y="2331720"/>
            <a:ext cx="2286000" cy="1280160"/>
          </a:xfrm>
          <a:prstGeom prst="rect">
            <a:avLst/>
          </a:prstGeom>
          <a:noFill/>
        </p:spPr>
        <p:txBody>
          <a:bodyPr wrap="square">
            <a:spAutoFit/>
          </a:bodyPr>
          <a:lstStyle/>
          <a:p>
            <a:pPr algn="l">
              <a:spcAft>
                <a:spcPts val="200"/>
              </a:spcAft>
              <a:defRPr sz="1000" b="0">
                <a:solidFill>
                  <a:srgbClr val="333333"/>
                </a:solidFill>
                <a:latin typeface="Microsoft YaHei"/>
              </a:defRPr>
            </a:pPr>
            <a:r>
              <a:t>FeCl₃ + FeCl₂</a:t>
            </a:r>
            <a:br/>
            <a:r>
              <a:t>+ Mn²⁺掺杂</a:t>
            </a:r>
            <a:br/>
            <a:r>
              <a:t>NH₃·H₂O, pH=10</a:t>
            </a:r>
            <a:br/>
            <a:r>
              <a:t>80°C, 2h</a:t>
            </a:r>
          </a:p>
        </p:txBody>
      </p:sp>
      <p:sp>
        <p:nvSpPr>
          <p:cNvPr id="10" name="TextBox 9"/>
          <p:cNvSpPr txBox="1"/>
          <p:nvPr/>
        </p:nvSpPr>
        <p:spPr>
          <a:xfrm>
            <a:off x="3154680" y="2468880"/>
            <a:ext cx="274320" cy="457200"/>
          </a:xfrm>
          <a:prstGeom prst="rect">
            <a:avLst/>
          </a:prstGeom>
          <a:noFill/>
        </p:spPr>
        <p:txBody>
          <a:bodyPr wrap="square">
            <a:spAutoFit/>
          </a:bodyPr>
          <a:lstStyle/>
          <a:p>
            <a:pPr algn="l">
              <a:spcAft>
                <a:spcPts val="400"/>
              </a:spcAft>
              <a:defRPr sz="2000" b="1">
                <a:solidFill>
                  <a:srgbClr val="2B5C8A"/>
                </a:solidFill>
                <a:latin typeface="Microsoft YaHei"/>
              </a:defRPr>
            </a:pPr>
            <a:r>
              <a:t>→</a:t>
            </a:r>
          </a:p>
        </p:txBody>
      </p:sp>
      <p:sp>
        <p:nvSpPr>
          <p:cNvPr id="11" name="Rectangle 10"/>
          <p:cNvSpPr/>
          <p:nvPr/>
        </p:nvSpPr>
        <p:spPr>
          <a:xfrm>
            <a:off x="3474720" y="1828800"/>
            <a:ext cx="2560320" cy="20116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920240"/>
            <a:ext cx="2286000" cy="320040"/>
          </a:xfrm>
          <a:prstGeom prst="rect">
            <a:avLst/>
          </a:prstGeom>
          <a:noFill/>
        </p:spPr>
        <p:txBody>
          <a:bodyPr wrap="square">
            <a:spAutoFit/>
          </a:bodyPr>
          <a:lstStyle/>
          <a:p>
            <a:pPr algn="l">
              <a:spcAft>
                <a:spcPts val="259"/>
              </a:spcAft>
              <a:defRPr sz="1300" b="1">
                <a:solidFill>
                  <a:srgbClr val="C05C2C"/>
                </a:solidFill>
                <a:latin typeface="Microsoft YaHei"/>
              </a:defRPr>
            </a:pPr>
            <a:r>
              <a:t>② 表面改性</a:t>
            </a:r>
          </a:p>
        </p:txBody>
      </p:sp>
      <p:sp>
        <p:nvSpPr>
          <p:cNvPr id="13" name="TextBox 12"/>
          <p:cNvSpPr txBox="1"/>
          <p:nvPr/>
        </p:nvSpPr>
        <p:spPr>
          <a:xfrm>
            <a:off x="3611880" y="2331720"/>
            <a:ext cx="2286000" cy="1280160"/>
          </a:xfrm>
          <a:prstGeom prst="rect">
            <a:avLst/>
          </a:prstGeom>
          <a:noFill/>
        </p:spPr>
        <p:txBody>
          <a:bodyPr wrap="square">
            <a:spAutoFit/>
          </a:bodyPr>
          <a:lstStyle/>
          <a:p>
            <a:pPr algn="l">
              <a:spcAft>
                <a:spcPts val="200"/>
              </a:spcAft>
              <a:defRPr sz="1000" b="0">
                <a:solidFill>
                  <a:srgbClr val="333333"/>
                </a:solidFill>
                <a:latin typeface="Microsoft YaHei"/>
              </a:defRPr>
            </a:pPr>
            <a:r>
              <a:t>硬脂酸乙醇溶液</a:t>
            </a:r>
            <a:br/>
            <a:r>
              <a:t>超声亲油改性</a:t>
            </a:r>
            <a:br/>
            <a:r>
              <a:t>→ nano-Fe₃O₄@SA</a:t>
            </a:r>
          </a:p>
        </p:txBody>
      </p:sp>
      <p:sp>
        <p:nvSpPr>
          <p:cNvPr id="14" name="TextBox 13"/>
          <p:cNvSpPr txBox="1"/>
          <p:nvPr/>
        </p:nvSpPr>
        <p:spPr>
          <a:xfrm>
            <a:off x="6080760" y="2468880"/>
            <a:ext cx="274320" cy="457200"/>
          </a:xfrm>
          <a:prstGeom prst="rect">
            <a:avLst/>
          </a:prstGeom>
          <a:noFill/>
        </p:spPr>
        <p:txBody>
          <a:bodyPr wrap="square">
            <a:spAutoFit/>
          </a:bodyPr>
          <a:lstStyle/>
          <a:p>
            <a:pPr algn="l">
              <a:spcAft>
                <a:spcPts val="400"/>
              </a:spcAft>
              <a:defRPr sz="2000" b="1">
                <a:solidFill>
                  <a:srgbClr val="2B5C8A"/>
                </a:solidFill>
                <a:latin typeface="Microsoft YaHei"/>
              </a:defRPr>
            </a:pPr>
            <a:r>
              <a:t>→</a:t>
            </a:r>
          </a:p>
        </p:txBody>
      </p:sp>
      <p:sp>
        <p:nvSpPr>
          <p:cNvPr id="15" name="Rectangle 14"/>
          <p:cNvSpPr/>
          <p:nvPr/>
        </p:nvSpPr>
        <p:spPr>
          <a:xfrm>
            <a:off x="6400800" y="1828800"/>
            <a:ext cx="2560320" cy="20116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1920240"/>
            <a:ext cx="2286000" cy="320040"/>
          </a:xfrm>
          <a:prstGeom prst="rect">
            <a:avLst/>
          </a:prstGeom>
          <a:noFill/>
        </p:spPr>
        <p:txBody>
          <a:bodyPr wrap="square">
            <a:spAutoFit/>
          </a:bodyPr>
          <a:lstStyle/>
          <a:p>
            <a:pPr algn="l">
              <a:spcAft>
                <a:spcPts val="259"/>
              </a:spcAft>
              <a:defRPr sz="1300" b="1">
                <a:solidFill>
                  <a:srgbClr val="C05C2C"/>
                </a:solidFill>
                <a:latin typeface="Microsoft YaHei"/>
              </a:defRPr>
            </a:pPr>
            <a:r>
              <a:t>③ 乳液聚合</a:t>
            </a:r>
          </a:p>
        </p:txBody>
      </p:sp>
      <p:sp>
        <p:nvSpPr>
          <p:cNvPr id="17" name="TextBox 16"/>
          <p:cNvSpPr txBox="1"/>
          <p:nvPr/>
        </p:nvSpPr>
        <p:spPr>
          <a:xfrm>
            <a:off x="6537960" y="2331720"/>
            <a:ext cx="2286000" cy="1280160"/>
          </a:xfrm>
          <a:prstGeom prst="rect">
            <a:avLst/>
          </a:prstGeom>
          <a:noFill/>
        </p:spPr>
        <p:txBody>
          <a:bodyPr wrap="square">
            <a:spAutoFit/>
          </a:bodyPr>
          <a:lstStyle/>
          <a:p>
            <a:pPr algn="l">
              <a:spcAft>
                <a:spcPts val="200"/>
              </a:spcAft>
              <a:defRPr sz="1000" b="0">
                <a:solidFill>
                  <a:srgbClr val="333333"/>
                </a:solidFill>
                <a:latin typeface="Microsoft YaHei"/>
              </a:defRPr>
            </a:pPr>
            <a:r>
              <a:t>E51 + T31 + 中空玻璃微球</a:t>
            </a:r>
            <a:br/>
            <a:r>
              <a:t>SiO₂分散液 + 胍胶</a:t>
            </a:r>
            <a:br/>
            <a:r>
              <a:t>380 RPM 搅拌</a:t>
            </a:r>
          </a:p>
        </p:txBody>
      </p:sp>
      <p:sp>
        <p:nvSpPr>
          <p:cNvPr id="18" name="TextBox 17"/>
          <p:cNvSpPr txBox="1"/>
          <p:nvPr/>
        </p:nvSpPr>
        <p:spPr>
          <a:xfrm>
            <a:off x="9006840" y="2468880"/>
            <a:ext cx="274320" cy="457200"/>
          </a:xfrm>
          <a:prstGeom prst="rect">
            <a:avLst/>
          </a:prstGeom>
          <a:noFill/>
        </p:spPr>
        <p:txBody>
          <a:bodyPr wrap="square">
            <a:spAutoFit/>
          </a:bodyPr>
          <a:lstStyle/>
          <a:p>
            <a:pPr algn="l">
              <a:spcAft>
                <a:spcPts val="400"/>
              </a:spcAft>
              <a:defRPr sz="2000" b="1">
                <a:solidFill>
                  <a:srgbClr val="2B5C8A"/>
                </a:solidFill>
                <a:latin typeface="Microsoft YaHei"/>
              </a:defRPr>
            </a:pPr>
            <a:r>
              <a:t>→</a:t>
            </a:r>
          </a:p>
        </p:txBody>
      </p:sp>
      <p:sp>
        <p:nvSpPr>
          <p:cNvPr id="19" name="Rectangle 18"/>
          <p:cNvSpPr/>
          <p:nvPr/>
        </p:nvSpPr>
        <p:spPr>
          <a:xfrm>
            <a:off x="9326880" y="1828800"/>
            <a:ext cx="2560320" cy="20116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64040" y="1920240"/>
            <a:ext cx="2286000" cy="320040"/>
          </a:xfrm>
          <a:prstGeom prst="rect">
            <a:avLst/>
          </a:prstGeom>
          <a:noFill/>
        </p:spPr>
        <p:txBody>
          <a:bodyPr wrap="square">
            <a:spAutoFit/>
          </a:bodyPr>
          <a:lstStyle/>
          <a:p>
            <a:pPr algn="l">
              <a:spcAft>
                <a:spcPts val="259"/>
              </a:spcAft>
              <a:defRPr sz="1300" b="1">
                <a:solidFill>
                  <a:srgbClr val="C05C2C"/>
                </a:solidFill>
                <a:latin typeface="Microsoft YaHei"/>
              </a:defRPr>
            </a:pPr>
            <a:r>
              <a:t>④ 固化干燥</a:t>
            </a:r>
          </a:p>
        </p:txBody>
      </p:sp>
      <p:sp>
        <p:nvSpPr>
          <p:cNvPr id="21" name="TextBox 20"/>
          <p:cNvSpPr txBox="1"/>
          <p:nvPr/>
        </p:nvSpPr>
        <p:spPr>
          <a:xfrm>
            <a:off x="9464040" y="2331720"/>
            <a:ext cx="2286000" cy="1280160"/>
          </a:xfrm>
          <a:prstGeom prst="rect">
            <a:avLst/>
          </a:prstGeom>
          <a:noFill/>
        </p:spPr>
        <p:txBody>
          <a:bodyPr wrap="square">
            <a:spAutoFit/>
          </a:bodyPr>
          <a:lstStyle/>
          <a:p>
            <a:pPr algn="l">
              <a:spcAft>
                <a:spcPts val="200"/>
              </a:spcAft>
              <a:defRPr sz="1000" b="0">
                <a:solidFill>
                  <a:srgbClr val="333333"/>
                </a:solidFill>
                <a:latin typeface="Microsoft YaHei"/>
              </a:defRPr>
            </a:pPr>
            <a:r>
              <a:t>50°C 固化 1h</a:t>
            </a:r>
            <a:br/>
            <a:r>
              <a:t>去离子水冲洗</a:t>
            </a:r>
            <a:br/>
            <a:r>
              <a:t>80°C 干燥 10h</a:t>
            </a:r>
          </a:p>
        </p:txBody>
      </p:sp>
      <p:sp>
        <p:nvSpPr>
          <p:cNvPr id="22" name="TextBox 21"/>
          <p:cNvSpPr txBox="1"/>
          <p:nvPr/>
        </p:nvSpPr>
        <p:spPr>
          <a:xfrm>
            <a:off x="548640" y="4206240"/>
            <a:ext cx="4572000" cy="320040"/>
          </a:xfrm>
          <a:prstGeom prst="rect">
            <a:avLst/>
          </a:prstGeom>
          <a:noFill/>
        </p:spPr>
        <p:txBody>
          <a:bodyPr wrap="square">
            <a:spAutoFit/>
          </a:bodyPr>
          <a:lstStyle/>
          <a:p>
            <a:pPr algn="l">
              <a:spcAft>
                <a:spcPts val="300"/>
              </a:spcAft>
              <a:defRPr sz="1500" b="1">
                <a:solidFill>
                  <a:srgbClr val="2B5C8A"/>
                </a:solidFill>
                <a:latin typeface="Microsoft YaHei"/>
              </a:defRPr>
            </a:pPr>
            <a:r>
              <a:t>▎表征与测试体系</a:t>
            </a:r>
          </a:p>
        </p:txBody>
      </p:sp>
      <p:sp>
        <p:nvSpPr>
          <p:cNvPr id="23" name="Rectangle 22"/>
          <p:cNvSpPr/>
          <p:nvPr/>
        </p:nvSpPr>
        <p:spPr>
          <a:xfrm>
            <a:off x="548640" y="4663440"/>
            <a:ext cx="2651760" cy="685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709159"/>
            <a:ext cx="1188720" cy="274320"/>
          </a:xfrm>
          <a:prstGeom prst="rect">
            <a:avLst/>
          </a:prstGeom>
          <a:noFill/>
        </p:spPr>
        <p:txBody>
          <a:bodyPr wrap="square">
            <a:spAutoFit/>
          </a:bodyPr>
          <a:lstStyle/>
          <a:p>
            <a:pPr algn="l">
              <a:spcAft>
                <a:spcPts val="219"/>
              </a:spcAft>
              <a:defRPr sz="1100" b="1">
                <a:solidFill>
                  <a:srgbClr val="2B5C8A"/>
                </a:solidFill>
                <a:latin typeface="Microsoft YaHei"/>
              </a:defRPr>
            </a:pPr>
            <a:r>
              <a:t>SEM + EDS</a:t>
            </a:r>
          </a:p>
        </p:txBody>
      </p:sp>
      <p:sp>
        <p:nvSpPr>
          <p:cNvPr id="25" name="TextBox 24"/>
          <p:cNvSpPr txBox="1"/>
          <p:nvPr/>
        </p:nvSpPr>
        <p:spPr>
          <a:xfrm>
            <a:off x="1828800" y="4709159"/>
            <a:ext cx="1280160" cy="274320"/>
          </a:xfrm>
          <a:prstGeom prst="rect">
            <a:avLst/>
          </a:prstGeom>
          <a:noFill/>
        </p:spPr>
        <p:txBody>
          <a:bodyPr wrap="square">
            <a:spAutoFit/>
          </a:bodyPr>
          <a:lstStyle/>
          <a:p>
            <a:pPr algn="l">
              <a:spcAft>
                <a:spcPts val="179"/>
              </a:spcAft>
              <a:defRPr sz="900" b="0">
                <a:solidFill>
                  <a:srgbClr val="8A8A8A"/>
                </a:solidFill>
                <a:latin typeface="Microsoft YaHei"/>
              </a:defRPr>
            </a:pPr>
            <a:r>
              <a:t>形貌 / 元素分布</a:t>
            </a:r>
          </a:p>
        </p:txBody>
      </p:sp>
      <p:sp>
        <p:nvSpPr>
          <p:cNvPr id="26" name="Rectangle 25"/>
          <p:cNvSpPr/>
          <p:nvPr/>
        </p:nvSpPr>
        <p:spPr>
          <a:xfrm>
            <a:off x="3474720" y="4663440"/>
            <a:ext cx="2651760" cy="685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66160" y="4709159"/>
            <a:ext cx="1188720" cy="274320"/>
          </a:xfrm>
          <a:prstGeom prst="rect">
            <a:avLst/>
          </a:prstGeom>
          <a:noFill/>
        </p:spPr>
        <p:txBody>
          <a:bodyPr wrap="square">
            <a:spAutoFit/>
          </a:bodyPr>
          <a:lstStyle/>
          <a:p>
            <a:pPr algn="l">
              <a:spcAft>
                <a:spcPts val="219"/>
              </a:spcAft>
              <a:defRPr sz="1100" b="1">
                <a:solidFill>
                  <a:srgbClr val="2B5C8A"/>
                </a:solidFill>
                <a:latin typeface="Microsoft YaHei"/>
              </a:defRPr>
            </a:pPr>
            <a:r>
              <a:t>TGA / DSC</a:t>
            </a:r>
          </a:p>
        </p:txBody>
      </p:sp>
      <p:sp>
        <p:nvSpPr>
          <p:cNvPr id="28" name="TextBox 27"/>
          <p:cNvSpPr txBox="1"/>
          <p:nvPr/>
        </p:nvSpPr>
        <p:spPr>
          <a:xfrm>
            <a:off x="4754880" y="4709159"/>
            <a:ext cx="1280160" cy="274320"/>
          </a:xfrm>
          <a:prstGeom prst="rect">
            <a:avLst/>
          </a:prstGeom>
          <a:noFill/>
        </p:spPr>
        <p:txBody>
          <a:bodyPr wrap="square">
            <a:spAutoFit/>
          </a:bodyPr>
          <a:lstStyle/>
          <a:p>
            <a:pPr algn="l">
              <a:spcAft>
                <a:spcPts val="179"/>
              </a:spcAft>
              <a:defRPr sz="900" b="0">
                <a:solidFill>
                  <a:srgbClr val="8A8A8A"/>
                </a:solidFill>
                <a:latin typeface="Microsoft YaHei"/>
              </a:defRPr>
            </a:pPr>
            <a:r>
              <a:t>热稳定性 / 分解行为</a:t>
            </a:r>
          </a:p>
        </p:txBody>
      </p:sp>
      <p:sp>
        <p:nvSpPr>
          <p:cNvPr id="29" name="Rectangle 28"/>
          <p:cNvSpPr/>
          <p:nvPr/>
        </p:nvSpPr>
        <p:spPr>
          <a:xfrm>
            <a:off x="6400800" y="4663440"/>
            <a:ext cx="2651760" cy="685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4709159"/>
            <a:ext cx="1188720" cy="274320"/>
          </a:xfrm>
          <a:prstGeom prst="rect">
            <a:avLst/>
          </a:prstGeom>
          <a:noFill/>
        </p:spPr>
        <p:txBody>
          <a:bodyPr wrap="square">
            <a:spAutoFit/>
          </a:bodyPr>
          <a:lstStyle/>
          <a:p>
            <a:pPr algn="l">
              <a:spcAft>
                <a:spcPts val="219"/>
              </a:spcAft>
              <a:defRPr sz="1100" b="1">
                <a:solidFill>
                  <a:srgbClr val="2B5C8A"/>
                </a:solidFill>
                <a:latin typeface="Microsoft YaHei"/>
              </a:defRPr>
            </a:pPr>
            <a:r>
              <a:t>WCA</a:t>
            </a:r>
          </a:p>
        </p:txBody>
      </p:sp>
      <p:sp>
        <p:nvSpPr>
          <p:cNvPr id="31" name="TextBox 30"/>
          <p:cNvSpPr txBox="1"/>
          <p:nvPr/>
        </p:nvSpPr>
        <p:spPr>
          <a:xfrm>
            <a:off x="7680960" y="4709159"/>
            <a:ext cx="1280160" cy="274320"/>
          </a:xfrm>
          <a:prstGeom prst="rect">
            <a:avLst/>
          </a:prstGeom>
          <a:noFill/>
        </p:spPr>
        <p:txBody>
          <a:bodyPr wrap="square">
            <a:spAutoFit/>
          </a:bodyPr>
          <a:lstStyle/>
          <a:p>
            <a:pPr algn="l">
              <a:spcAft>
                <a:spcPts val="179"/>
              </a:spcAft>
              <a:defRPr sz="900" b="0">
                <a:solidFill>
                  <a:srgbClr val="8A8A8A"/>
                </a:solidFill>
                <a:latin typeface="Microsoft YaHei"/>
              </a:defRPr>
            </a:pPr>
            <a:r>
              <a:t>润湿性 (水接触角)</a:t>
            </a:r>
          </a:p>
        </p:txBody>
      </p:sp>
      <p:sp>
        <p:nvSpPr>
          <p:cNvPr id="32" name="Rectangle 31"/>
          <p:cNvSpPr/>
          <p:nvPr/>
        </p:nvSpPr>
        <p:spPr>
          <a:xfrm>
            <a:off x="9326880" y="4663440"/>
            <a:ext cx="2651760" cy="685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20" y="4709159"/>
            <a:ext cx="1188720" cy="274320"/>
          </a:xfrm>
          <a:prstGeom prst="rect">
            <a:avLst/>
          </a:prstGeom>
          <a:noFill/>
        </p:spPr>
        <p:txBody>
          <a:bodyPr wrap="square">
            <a:spAutoFit/>
          </a:bodyPr>
          <a:lstStyle/>
          <a:p>
            <a:pPr algn="l">
              <a:spcAft>
                <a:spcPts val="219"/>
              </a:spcAft>
              <a:defRPr sz="1100" b="1">
                <a:solidFill>
                  <a:srgbClr val="2B5C8A"/>
                </a:solidFill>
                <a:latin typeface="Microsoft YaHei"/>
              </a:defRPr>
            </a:pPr>
            <a:r>
              <a:t>物理力学</a:t>
            </a:r>
          </a:p>
        </p:txBody>
      </p:sp>
      <p:sp>
        <p:nvSpPr>
          <p:cNvPr id="34" name="TextBox 33"/>
          <p:cNvSpPr txBox="1"/>
          <p:nvPr/>
        </p:nvSpPr>
        <p:spPr>
          <a:xfrm>
            <a:off x="10607040" y="4709159"/>
            <a:ext cx="1280160" cy="274320"/>
          </a:xfrm>
          <a:prstGeom prst="rect">
            <a:avLst/>
          </a:prstGeom>
          <a:noFill/>
        </p:spPr>
        <p:txBody>
          <a:bodyPr wrap="square">
            <a:spAutoFit/>
          </a:bodyPr>
          <a:lstStyle/>
          <a:p>
            <a:pPr algn="l">
              <a:spcAft>
                <a:spcPts val="179"/>
              </a:spcAft>
              <a:defRPr sz="900" b="0">
                <a:solidFill>
                  <a:srgbClr val="8A8A8A"/>
                </a:solidFill>
                <a:latin typeface="Microsoft YaHei"/>
              </a:defRPr>
            </a:pPr>
            <a:r>
              <a:t>密度 / 圆球度 / 破碎率 / 酸溶</a:t>
            </a:r>
          </a:p>
        </p:txBody>
      </p:sp>
      <p:sp>
        <p:nvSpPr>
          <p:cNvPr id="35" name="Rectangle 34"/>
          <p:cNvSpPr/>
          <p:nvPr/>
        </p:nvSpPr>
        <p:spPr>
          <a:xfrm>
            <a:off x="548640" y="5486400"/>
            <a:ext cx="2651760" cy="685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532120"/>
            <a:ext cx="1188720" cy="274320"/>
          </a:xfrm>
          <a:prstGeom prst="rect">
            <a:avLst/>
          </a:prstGeom>
          <a:noFill/>
        </p:spPr>
        <p:txBody>
          <a:bodyPr wrap="square">
            <a:spAutoFit/>
          </a:bodyPr>
          <a:lstStyle/>
          <a:p>
            <a:pPr algn="l">
              <a:spcAft>
                <a:spcPts val="219"/>
              </a:spcAft>
              <a:defRPr sz="1100" b="1">
                <a:solidFill>
                  <a:srgbClr val="2B5C8A"/>
                </a:solidFill>
                <a:latin typeface="Microsoft YaHei"/>
              </a:defRPr>
            </a:pPr>
            <a:r>
              <a:t>油水过滤</a:t>
            </a:r>
          </a:p>
        </p:txBody>
      </p:sp>
      <p:sp>
        <p:nvSpPr>
          <p:cNvPr id="37" name="TextBox 36"/>
          <p:cNvSpPr txBox="1"/>
          <p:nvPr/>
        </p:nvSpPr>
        <p:spPr>
          <a:xfrm>
            <a:off x="1828800" y="5532120"/>
            <a:ext cx="1280160" cy="274320"/>
          </a:xfrm>
          <a:prstGeom prst="rect">
            <a:avLst/>
          </a:prstGeom>
          <a:noFill/>
        </p:spPr>
        <p:txBody>
          <a:bodyPr wrap="square">
            <a:spAutoFit/>
          </a:bodyPr>
          <a:lstStyle/>
          <a:p>
            <a:pPr algn="l">
              <a:spcAft>
                <a:spcPts val="179"/>
              </a:spcAft>
              <a:defRPr sz="900" b="0">
                <a:solidFill>
                  <a:srgbClr val="8A8A8A"/>
                </a:solidFill>
                <a:latin typeface="Microsoft YaHei"/>
              </a:defRPr>
            </a:pPr>
            <a:r>
              <a:t>导流能力间接评价</a:t>
            </a:r>
          </a:p>
        </p:txBody>
      </p:sp>
      <p:sp>
        <p:nvSpPr>
          <p:cNvPr id="38" name="Rectangle 37"/>
          <p:cNvSpPr/>
          <p:nvPr/>
        </p:nvSpPr>
        <p:spPr>
          <a:xfrm>
            <a:off x="3474720" y="5486400"/>
            <a:ext cx="2651760" cy="685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566160" y="5532120"/>
            <a:ext cx="1188720" cy="274320"/>
          </a:xfrm>
          <a:prstGeom prst="rect">
            <a:avLst/>
          </a:prstGeom>
          <a:noFill/>
        </p:spPr>
        <p:txBody>
          <a:bodyPr wrap="square">
            <a:spAutoFit/>
          </a:bodyPr>
          <a:lstStyle/>
          <a:p>
            <a:pPr algn="l">
              <a:spcAft>
                <a:spcPts val="219"/>
              </a:spcAft>
              <a:defRPr sz="1100" b="1">
                <a:solidFill>
                  <a:srgbClr val="2B5C8A"/>
                </a:solidFill>
                <a:latin typeface="Microsoft YaHei"/>
              </a:defRPr>
            </a:pPr>
            <a:r>
              <a:t>ICP-MS</a:t>
            </a:r>
          </a:p>
        </p:txBody>
      </p:sp>
      <p:sp>
        <p:nvSpPr>
          <p:cNvPr id="40" name="TextBox 39"/>
          <p:cNvSpPr txBox="1"/>
          <p:nvPr/>
        </p:nvSpPr>
        <p:spPr>
          <a:xfrm>
            <a:off x="4754880" y="5532120"/>
            <a:ext cx="1280160" cy="274320"/>
          </a:xfrm>
          <a:prstGeom prst="rect">
            <a:avLst/>
          </a:prstGeom>
          <a:noFill/>
        </p:spPr>
        <p:txBody>
          <a:bodyPr wrap="square">
            <a:spAutoFit/>
          </a:bodyPr>
          <a:lstStyle/>
          <a:p>
            <a:pPr algn="l">
              <a:spcAft>
                <a:spcPts val="179"/>
              </a:spcAft>
              <a:defRPr sz="900" b="0">
                <a:solidFill>
                  <a:srgbClr val="8A8A8A"/>
                </a:solidFill>
                <a:latin typeface="Microsoft YaHei"/>
              </a:defRPr>
            </a:pPr>
            <a:r>
              <a:t>示踪释放浓度定量</a:t>
            </a:r>
          </a:p>
        </p:txBody>
      </p:sp>
      <p:sp>
        <p:nvSpPr>
          <p:cNvPr id="41" name="Rectangle 40"/>
          <p:cNvSpPr/>
          <p:nvPr/>
        </p:nvSpPr>
        <p:spPr>
          <a:xfrm>
            <a:off x="6400800" y="5486400"/>
            <a:ext cx="2651760" cy="685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92240" y="5532120"/>
            <a:ext cx="1188720" cy="274320"/>
          </a:xfrm>
          <a:prstGeom prst="rect">
            <a:avLst/>
          </a:prstGeom>
          <a:noFill/>
        </p:spPr>
        <p:txBody>
          <a:bodyPr wrap="square">
            <a:spAutoFit/>
          </a:bodyPr>
          <a:lstStyle/>
          <a:p>
            <a:pPr algn="l">
              <a:spcAft>
                <a:spcPts val="219"/>
              </a:spcAft>
              <a:defRPr sz="1100" b="1">
                <a:solidFill>
                  <a:srgbClr val="2B5C8A"/>
                </a:solidFill>
                <a:latin typeface="Microsoft YaHei"/>
              </a:defRPr>
            </a:pPr>
            <a:r>
              <a:t>K-P 模型</a:t>
            </a:r>
          </a:p>
        </p:txBody>
      </p:sp>
      <p:sp>
        <p:nvSpPr>
          <p:cNvPr id="43" name="TextBox 42"/>
          <p:cNvSpPr txBox="1"/>
          <p:nvPr/>
        </p:nvSpPr>
        <p:spPr>
          <a:xfrm>
            <a:off x="7680960" y="5532120"/>
            <a:ext cx="1280160" cy="274320"/>
          </a:xfrm>
          <a:prstGeom prst="rect">
            <a:avLst/>
          </a:prstGeom>
          <a:noFill/>
        </p:spPr>
        <p:txBody>
          <a:bodyPr wrap="square">
            <a:spAutoFit/>
          </a:bodyPr>
          <a:lstStyle/>
          <a:p>
            <a:pPr algn="l">
              <a:spcAft>
                <a:spcPts val="179"/>
              </a:spcAft>
              <a:defRPr sz="900" b="0">
                <a:solidFill>
                  <a:srgbClr val="8A8A8A"/>
                </a:solidFill>
                <a:latin typeface="Microsoft YaHei"/>
              </a:defRPr>
            </a:pPr>
            <a:r>
              <a:t>释放动力学机制</a:t>
            </a:r>
          </a:p>
        </p:txBody>
      </p:sp>
      <p:sp>
        <p:nvSpPr>
          <p:cNvPr id="44" name="Rectangle 43"/>
          <p:cNvSpPr/>
          <p:nvPr/>
        </p:nvSpPr>
        <p:spPr>
          <a:xfrm>
            <a:off x="9326880" y="5486400"/>
            <a:ext cx="2651760" cy="685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18320" y="5532120"/>
            <a:ext cx="1188720" cy="274320"/>
          </a:xfrm>
          <a:prstGeom prst="rect">
            <a:avLst/>
          </a:prstGeom>
          <a:noFill/>
        </p:spPr>
        <p:txBody>
          <a:bodyPr wrap="square">
            <a:spAutoFit/>
          </a:bodyPr>
          <a:lstStyle/>
          <a:p>
            <a:pPr algn="l">
              <a:spcAft>
                <a:spcPts val="219"/>
              </a:spcAft>
              <a:defRPr sz="1100" b="1">
                <a:solidFill>
                  <a:srgbClr val="2B5C8A"/>
                </a:solidFill>
                <a:latin typeface="Microsoft YaHei"/>
              </a:defRPr>
            </a:pPr>
            <a:r>
              <a:t>ADE 模型</a:t>
            </a:r>
          </a:p>
        </p:txBody>
      </p:sp>
      <p:sp>
        <p:nvSpPr>
          <p:cNvPr id="46" name="TextBox 45"/>
          <p:cNvSpPr txBox="1"/>
          <p:nvPr/>
        </p:nvSpPr>
        <p:spPr>
          <a:xfrm>
            <a:off x="10607040" y="5532120"/>
            <a:ext cx="1280160" cy="274320"/>
          </a:xfrm>
          <a:prstGeom prst="rect">
            <a:avLst/>
          </a:prstGeom>
          <a:noFill/>
        </p:spPr>
        <p:txBody>
          <a:bodyPr wrap="square">
            <a:spAutoFit/>
          </a:bodyPr>
          <a:lstStyle/>
          <a:p>
            <a:pPr algn="l">
              <a:spcAft>
                <a:spcPts val="179"/>
              </a:spcAft>
              <a:defRPr sz="900" b="0">
                <a:solidFill>
                  <a:srgbClr val="8A8A8A"/>
                </a:solidFill>
                <a:latin typeface="Microsoft YaHei"/>
              </a:defRPr>
            </a:pPr>
            <a:r>
              <a:t>突破曲线拟合 / 产量定量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spcAft>
                <a:spcPts val="519"/>
              </a:spcAft>
              <a:defRPr sz="2600" b="1">
                <a:solidFill>
                  <a:srgbClr val="1A1A1A"/>
                </a:solidFill>
                <a:latin typeface="Microsoft YaHei"/>
              </a:defRPr>
            </a:pPr>
            <a:r>
              <a:t>SEM 表征：nano-Fe₃O₄@SA 纳米团簇均匀分散于环氧基体中</a:t>
            </a:r>
          </a:p>
        </p:txBody>
      </p:sp>
      <p:cxnSp>
        <p:nvCxnSpPr>
          <p:cNvPr id="4" name="Connector 3"/>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247120" y="6446520"/>
            <a:ext cx="731520" cy="274320"/>
          </a:xfrm>
          <a:prstGeom prst="rect">
            <a:avLst/>
          </a:prstGeom>
          <a:noFill/>
        </p:spPr>
        <p:txBody>
          <a:bodyPr wrap="square">
            <a:spAutoFit/>
          </a:bodyPr>
          <a:lstStyle/>
          <a:p>
            <a:pPr algn="r">
              <a:spcAft>
                <a:spcPts val="159"/>
              </a:spcAft>
              <a:defRPr sz="800" b="0">
                <a:solidFill>
                  <a:srgbClr val="8A8A8A"/>
                </a:solidFill>
                <a:latin typeface="Microsoft YaHei"/>
              </a:defRPr>
            </a:pPr>
            <a:r>
              <a:t>5/14</a:t>
            </a:r>
          </a:p>
        </p:txBody>
      </p:sp>
      <p:sp>
        <p:nvSpPr>
          <p:cNvPr id="6" name="TextBox 5"/>
          <p:cNvSpPr txBox="1"/>
          <p:nvPr/>
        </p:nvSpPr>
        <p:spPr>
          <a:xfrm>
            <a:off x="548640" y="1371600"/>
            <a:ext cx="5029200" cy="365760"/>
          </a:xfrm>
          <a:prstGeom prst="rect">
            <a:avLst/>
          </a:prstGeom>
          <a:noFill/>
        </p:spPr>
        <p:txBody>
          <a:bodyPr wrap="square">
            <a:spAutoFit/>
          </a:bodyPr>
          <a:lstStyle/>
          <a:p>
            <a:pPr algn="l">
              <a:spcAft>
                <a:spcPts val="300"/>
              </a:spcAft>
              <a:defRPr sz="1500" b="1">
                <a:solidFill>
                  <a:srgbClr val="8A8A8A"/>
                </a:solidFill>
                <a:latin typeface="Microsoft YaHei"/>
              </a:defRPr>
            </a:pPr>
            <a:r>
              <a:t>纯环氧微球</a:t>
            </a:r>
          </a:p>
        </p:txBody>
      </p:sp>
      <p:sp>
        <p:nvSpPr>
          <p:cNvPr id="7" name="TextBox 6"/>
          <p:cNvSpPr txBox="1"/>
          <p:nvPr/>
        </p:nvSpPr>
        <p:spPr>
          <a:xfrm>
            <a:off x="6400800" y="1371600"/>
            <a:ext cx="5029200" cy="365760"/>
          </a:xfrm>
          <a:prstGeom prst="rect">
            <a:avLst/>
          </a:prstGeom>
          <a:noFill/>
        </p:spPr>
        <p:txBody>
          <a:bodyPr wrap="square">
            <a:spAutoFit/>
          </a:bodyPr>
          <a:lstStyle/>
          <a:p>
            <a:pPr algn="l">
              <a:spcAft>
                <a:spcPts val="300"/>
              </a:spcAft>
              <a:defRPr sz="1500" b="1">
                <a:solidFill>
                  <a:srgbClr val="C05C2C"/>
                </a:solidFill>
                <a:latin typeface="Microsoft YaHei"/>
              </a:defRPr>
            </a:pPr>
            <a:r>
              <a:t>ESP-T（nano-Fe₃O₄@SA 掺杂）</a:t>
            </a:r>
          </a:p>
        </p:txBody>
      </p:sp>
      <p:sp>
        <p:nvSpPr>
          <p:cNvPr id="8" name="Rectangle 7"/>
          <p:cNvSpPr/>
          <p:nvPr/>
        </p:nvSpPr>
        <p:spPr>
          <a:xfrm>
            <a:off x="548640" y="1828800"/>
            <a:ext cx="5029200" cy="3200400"/>
          </a:xfrm>
          <a:prstGeom prst="rect">
            <a:avLst/>
          </a:prstGeom>
          <a:solidFill>
            <a:srgbClr val="F5F3E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108960"/>
            <a:ext cx="3383280" cy="457200"/>
          </a:xfrm>
          <a:prstGeom prst="rect">
            <a:avLst/>
          </a:prstGeom>
          <a:noFill/>
        </p:spPr>
        <p:txBody>
          <a:bodyPr wrap="square">
            <a:spAutoFit/>
          </a:bodyPr>
          <a:lstStyle/>
          <a:p>
            <a:pPr algn="ctr">
              <a:spcAft>
                <a:spcPts val="219"/>
              </a:spcAft>
              <a:defRPr sz="1100" b="0">
                <a:solidFill>
                  <a:srgbClr val="8A8A8A"/>
                </a:solidFill>
                <a:latin typeface="Microsoft YaHei"/>
              </a:defRPr>
            </a:pPr>
            <a:r>
              <a:t>[SEM 图片占位 — Fig. 3-1 上层]</a:t>
            </a:r>
            <a:br/>
            <a:r>
              <a:t>表面光滑，少量褶皱</a:t>
            </a:r>
          </a:p>
        </p:txBody>
      </p:sp>
      <p:sp>
        <p:nvSpPr>
          <p:cNvPr id="10" name="Rectangle 9"/>
          <p:cNvSpPr/>
          <p:nvPr/>
        </p:nvSpPr>
        <p:spPr>
          <a:xfrm>
            <a:off x="6400800" y="1828800"/>
            <a:ext cx="5029200" cy="3200400"/>
          </a:xfrm>
          <a:prstGeom prst="rect">
            <a:avLst/>
          </a:prstGeom>
          <a:solidFill>
            <a:srgbClr val="F5F3EF"/>
          </a:solidFill>
          <a:ln w="6350">
            <a:solidFill>
              <a:srgbClr val="C05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3108960"/>
            <a:ext cx="3200400" cy="457200"/>
          </a:xfrm>
          <a:prstGeom prst="rect">
            <a:avLst/>
          </a:prstGeom>
          <a:noFill/>
        </p:spPr>
        <p:txBody>
          <a:bodyPr wrap="square">
            <a:spAutoFit/>
          </a:bodyPr>
          <a:lstStyle/>
          <a:p>
            <a:pPr algn="ctr">
              <a:spcAft>
                <a:spcPts val="219"/>
              </a:spcAft>
              <a:defRPr sz="1100" b="0">
                <a:solidFill>
                  <a:srgbClr val="8A8A8A"/>
                </a:solidFill>
                <a:latin typeface="Microsoft YaHei"/>
              </a:defRPr>
            </a:pPr>
            <a:r>
              <a:t>[SEM 图片占位 — Fig. 3-1 下层]</a:t>
            </a:r>
            <a:br/>
            <a:r>
              <a:t>岛状凸起，纳米团簇均匀分布</a:t>
            </a:r>
          </a:p>
        </p:txBody>
      </p:sp>
      <p:sp>
        <p:nvSpPr>
          <p:cNvPr id="12" name="TextBox 11"/>
          <p:cNvSpPr txBox="1"/>
          <p:nvPr/>
        </p:nvSpPr>
        <p:spPr>
          <a:xfrm>
            <a:off x="548640" y="5303520"/>
            <a:ext cx="10972800" cy="274320"/>
          </a:xfrm>
          <a:prstGeom prst="rect">
            <a:avLst/>
          </a:prstGeom>
          <a:noFill/>
        </p:spPr>
        <p:txBody>
          <a:bodyPr wrap="square">
            <a:spAutoFit/>
          </a:bodyPr>
          <a:lstStyle/>
          <a:p>
            <a:pPr algn="l">
              <a:spcAft>
                <a:spcPts val="280"/>
              </a:spcAft>
              <a:defRPr sz="1400" b="1">
                <a:solidFill>
                  <a:srgbClr val="2B5C8A"/>
                </a:solidFill>
                <a:latin typeface="Microsoft YaHei"/>
              </a:defRPr>
            </a:pPr>
            <a:r>
              <a:t>▸ 关键发现</a:t>
            </a:r>
          </a:p>
        </p:txBody>
      </p:sp>
      <p:sp>
        <p:nvSpPr>
          <p:cNvPr id="13" name="TextBox 12"/>
          <p:cNvSpPr txBox="1"/>
          <p:nvPr/>
        </p:nvSpPr>
        <p:spPr>
          <a:xfrm>
            <a:off x="548640" y="5669280"/>
            <a:ext cx="3566160" cy="548640"/>
          </a:xfrm>
          <a:prstGeom prst="rect">
            <a:avLst/>
          </a:prstGeom>
          <a:noFill/>
        </p:spPr>
        <p:txBody>
          <a:bodyPr wrap="square">
            <a:spAutoFit/>
          </a:bodyPr>
          <a:lstStyle/>
          <a:p>
            <a:pPr algn="l">
              <a:spcAft>
                <a:spcPts val="200"/>
              </a:spcAft>
              <a:defRPr sz="1000" b="0">
                <a:solidFill>
                  <a:srgbClr val="333333"/>
                </a:solidFill>
                <a:latin typeface="Microsoft YaHei"/>
              </a:defRPr>
            </a:pPr>
            <a:r>
              <a:t>❶  纳米团簇以嵌入键合态存在，无界面裂缝 —— 硬脂酸长烷基链与环氧分子链形成物理缠结</a:t>
            </a:r>
          </a:p>
        </p:txBody>
      </p:sp>
      <p:sp>
        <p:nvSpPr>
          <p:cNvPr id="14" name="TextBox 13"/>
          <p:cNvSpPr txBox="1"/>
          <p:nvPr/>
        </p:nvSpPr>
        <p:spPr>
          <a:xfrm>
            <a:off x="4297679" y="5669280"/>
            <a:ext cx="3566160" cy="548640"/>
          </a:xfrm>
          <a:prstGeom prst="rect">
            <a:avLst/>
          </a:prstGeom>
          <a:noFill/>
        </p:spPr>
        <p:txBody>
          <a:bodyPr wrap="square">
            <a:spAutoFit/>
          </a:bodyPr>
          <a:lstStyle/>
          <a:p>
            <a:pPr algn="l">
              <a:spcAft>
                <a:spcPts val="200"/>
              </a:spcAft>
              <a:defRPr sz="1000" b="0">
                <a:solidFill>
                  <a:srgbClr val="333333"/>
                </a:solidFill>
                <a:latin typeface="Microsoft YaHei"/>
              </a:defRPr>
            </a:pPr>
            <a:r>
              <a:t>❷  固化收缩过程中纳米团簇被挤出至表面 → 表面富集的粗糙纳米结构</a:t>
            </a:r>
          </a:p>
        </p:txBody>
      </p:sp>
      <p:sp>
        <p:nvSpPr>
          <p:cNvPr id="15" name="TextBox 14"/>
          <p:cNvSpPr txBox="1"/>
          <p:nvPr/>
        </p:nvSpPr>
        <p:spPr>
          <a:xfrm>
            <a:off x="8046719" y="5669280"/>
            <a:ext cx="3566160" cy="548640"/>
          </a:xfrm>
          <a:prstGeom prst="rect">
            <a:avLst/>
          </a:prstGeom>
          <a:noFill/>
        </p:spPr>
        <p:txBody>
          <a:bodyPr wrap="square">
            <a:spAutoFit/>
          </a:bodyPr>
          <a:lstStyle/>
          <a:p>
            <a:pPr algn="l">
              <a:spcAft>
                <a:spcPts val="200"/>
              </a:spcAft>
              <a:defRPr sz="1000" b="0">
                <a:solidFill>
                  <a:srgbClr val="333333"/>
                </a:solidFill>
                <a:latin typeface="Microsoft YaHei"/>
              </a:defRPr>
            </a:pPr>
            <a:r>
              <a:t>❸  Fe 元素遍布整个颗粒 (EDS Mapping) → 封装成功的直接证据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spcAft>
                <a:spcPts val="519"/>
              </a:spcAft>
              <a:defRPr sz="2600" b="1">
                <a:solidFill>
                  <a:srgbClr val="1A1A1A"/>
                </a:solidFill>
                <a:latin typeface="Microsoft YaHei"/>
              </a:defRPr>
            </a:pPr>
            <a:r>
              <a:t>ESP-T 性能仪表盘：耐高温、疏水、低密度、高强度</a:t>
            </a:r>
          </a:p>
        </p:txBody>
      </p:sp>
      <p:cxnSp>
        <p:nvCxnSpPr>
          <p:cNvPr id="4" name="Connector 3"/>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247120" y="6446520"/>
            <a:ext cx="731520" cy="274320"/>
          </a:xfrm>
          <a:prstGeom prst="rect">
            <a:avLst/>
          </a:prstGeom>
          <a:noFill/>
        </p:spPr>
        <p:txBody>
          <a:bodyPr wrap="square">
            <a:spAutoFit/>
          </a:bodyPr>
          <a:lstStyle/>
          <a:p>
            <a:pPr algn="r">
              <a:spcAft>
                <a:spcPts val="159"/>
              </a:spcAft>
              <a:defRPr sz="800" b="0">
                <a:solidFill>
                  <a:srgbClr val="8A8A8A"/>
                </a:solidFill>
                <a:latin typeface="Microsoft YaHei"/>
              </a:defRPr>
            </a:pPr>
            <a:r>
              <a:t>6/14</a:t>
            </a:r>
          </a:p>
        </p:txBody>
      </p:sp>
      <p:sp>
        <p:nvSpPr>
          <p:cNvPr id="6" name="Rectangle 5"/>
          <p:cNvSpPr/>
          <p:nvPr/>
        </p:nvSpPr>
        <p:spPr>
          <a:xfrm>
            <a:off x="548640" y="1371600"/>
            <a:ext cx="3474720" cy="164592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08760"/>
            <a:ext cx="3200400" cy="905256"/>
          </a:xfrm>
          <a:prstGeom prst="rect">
            <a:avLst/>
          </a:prstGeom>
          <a:noFill/>
        </p:spPr>
        <p:txBody>
          <a:bodyPr wrap="square">
            <a:spAutoFit/>
          </a:bodyPr>
          <a:lstStyle/>
          <a:p>
            <a:pPr algn="ctr">
              <a:spcAft>
                <a:spcPts val="439"/>
              </a:spcAft>
              <a:defRPr sz="2200" b="1">
                <a:solidFill>
                  <a:srgbClr val="2B5C8A"/>
                </a:solidFill>
                <a:latin typeface="Microsoft YaHei"/>
              </a:defRPr>
            </a:pPr>
            <a:r>
              <a:t>357.27 °C</a:t>
            </a:r>
          </a:p>
        </p:txBody>
      </p:sp>
      <p:sp>
        <p:nvSpPr>
          <p:cNvPr id="8" name="TextBox 7"/>
          <p:cNvSpPr txBox="1"/>
          <p:nvPr/>
        </p:nvSpPr>
        <p:spPr>
          <a:xfrm>
            <a:off x="685800" y="2276856"/>
            <a:ext cx="3200400" cy="576072"/>
          </a:xfrm>
          <a:prstGeom prst="rect">
            <a:avLst/>
          </a:prstGeom>
          <a:noFill/>
        </p:spPr>
        <p:txBody>
          <a:bodyPr wrap="square">
            <a:spAutoFit/>
          </a:bodyPr>
          <a:lstStyle/>
          <a:p>
            <a:pPr algn="ctr">
              <a:spcAft>
                <a:spcPts val="179"/>
              </a:spcAft>
              <a:defRPr sz="900" b="0">
                <a:solidFill>
                  <a:srgbClr val="8A8A8A"/>
                </a:solidFill>
                <a:latin typeface="Microsoft YaHei"/>
              </a:defRPr>
            </a:pPr>
            <a:r>
              <a:t>初始分解温度</a:t>
            </a:r>
            <a:br/>
            <a:r>
              <a:t>远超井下工况 (80-200°C)</a:t>
            </a:r>
            <a:br/>
            <a:r>
              <a:t>仅微量水分挥发 &lt;200°C</a:t>
            </a:r>
          </a:p>
        </p:txBody>
      </p:sp>
      <p:sp>
        <p:nvSpPr>
          <p:cNvPr id="9" name="Rectangle 8"/>
          <p:cNvSpPr/>
          <p:nvPr/>
        </p:nvSpPr>
        <p:spPr>
          <a:xfrm>
            <a:off x="4389120" y="1371600"/>
            <a:ext cx="3474720" cy="164592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508760"/>
            <a:ext cx="3200400" cy="905256"/>
          </a:xfrm>
          <a:prstGeom prst="rect">
            <a:avLst/>
          </a:prstGeom>
          <a:noFill/>
        </p:spPr>
        <p:txBody>
          <a:bodyPr wrap="square">
            <a:spAutoFit/>
          </a:bodyPr>
          <a:lstStyle/>
          <a:p>
            <a:pPr algn="ctr">
              <a:spcAft>
                <a:spcPts val="439"/>
              </a:spcAft>
              <a:defRPr sz="2200" b="1">
                <a:solidFill>
                  <a:srgbClr val="C05C2C"/>
                </a:solidFill>
                <a:latin typeface="Microsoft YaHei"/>
              </a:defRPr>
            </a:pPr>
            <a:r>
              <a:t>104.6°</a:t>
            </a:r>
          </a:p>
        </p:txBody>
      </p:sp>
      <p:sp>
        <p:nvSpPr>
          <p:cNvPr id="11" name="TextBox 10"/>
          <p:cNvSpPr txBox="1"/>
          <p:nvPr/>
        </p:nvSpPr>
        <p:spPr>
          <a:xfrm>
            <a:off x="4526280" y="2276856"/>
            <a:ext cx="3200400" cy="576072"/>
          </a:xfrm>
          <a:prstGeom prst="rect">
            <a:avLst/>
          </a:prstGeom>
          <a:noFill/>
        </p:spPr>
        <p:txBody>
          <a:bodyPr wrap="square">
            <a:spAutoFit/>
          </a:bodyPr>
          <a:lstStyle/>
          <a:p>
            <a:pPr algn="ctr">
              <a:spcAft>
                <a:spcPts val="179"/>
              </a:spcAft>
              <a:defRPr sz="900" b="0">
                <a:solidFill>
                  <a:srgbClr val="8A8A8A"/>
                </a:solidFill>
                <a:latin typeface="Microsoft YaHei"/>
              </a:defRPr>
            </a:pPr>
            <a:r>
              <a:t>水接触角 (WCA)</a:t>
            </a:r>
            <a:br/>
            <a:r>
              <a:t>从 72.3° 跃升 32.3°</a:t>
            </a:r>
            <a:br/>
            <a:r>
              <a:t>亲水 → 疏水转变</a:t>
            </a:r>
          </a:p>
        </p:txBody>
      </p:sp>
      <p:sp>
        <p:nvSpPr>
          <p:cNvPr id="12" name="Rectangle 11"/>
          <p:cNvSpPr/>
          <p:nvPr/>
        </p:nvSpPr>
        <p:spPr>
          <a:xfrm>
            <a:off x="8229600" y="1371600"/>
            <a:ext cx="3474720" cy="164592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508760"/>
            <a:ext cx="3200400" cy="905256"/>
          </a:xfrm>
          <a:prstGeom prst="rect">
            <a:avLst/>
          </a:prstGeom>
          <a:noFill/>
        </p:spPr>
        <p:txBody>
          <a:bodyPr wrap="square">
            <a:spAutoFit/>
          </a:bodyPr>
          <a:lstStyle/>
          <a:p>
            <a:pPr algn="ctr">
              <a:spcAft>
                <a:spcPts val="439"/>
              </a:spcAft>
              <a:defRPr sz="2200" b="1">
                <a:solidFill>
                  <a:srgbClr val="3A7D44"/>
                </a:solidFill>
                <a:latin typeface="Microsoft YaHei"/>
              </a:defRPr>
            </a:pPr>
            <a:r>
              <a:t>0.646 g/cm³</a:t>
            </a:r>
          </a:p>
        </p:txBody>
      </p:sp>
      <p:sp>
        <p:nvSpPr>
          <p:cNvPr id="14" name="TextBox 13"/>
          <p:cNvSpPr txBox="1"/>
          <p:nvPr/>
        </p:nvSpPr>
        <p:spPr>
          <a:xfrm>
            <a:off x="8366760" y="2276856"/>
            <a:ext cx="3200400" cy="576072"/>
          </a:xfrm>
          <a:prstGeom prst="rect">
            <a:avLst/>
          </a:prstGeom>
          <a:noFill/>
        </p:spPr>
        <p:txBody>
          <a:bodyPr wrap="square">
            <a:spAutoFit/>
          </a:bodyPr>
          <a:lstStyle/>
          <a:p>
            <a:pPr algn="ctr">
              <a:spcAft>
                <a:spcPts val="179"/>
              </a:spcAft>
              <a:defRPr sz="900" b="0">
                <a:solidFill>
                  <a:srgbClr val="8A8A8A"/>
                </a:solidFill>
                <a:latin typeface="Microsoft YaHei"/>
              </a:defRPr>
            </a:pPr>
            <a:r>
              <a:t>体积密度</a:t>
            </a:r>
            <a:br/>
            <a:r>
              <a:t>＜水 (1 g/cm³)</a:t>
            </a:r>
            <a:br/>
            <a:r>
              <a:t>压裂液中可悬浮</a:t>
            </a:r>
          </a:p>
        </p:txBody>
      </p:sp>
      <p:sp>
        <p:nvSpPr>
          <p:cNvPr id="15" name="TextBox 14"/>
          <p:cNvSpPr txBox="1"/>
          <p:nvPr/>
        </p:nvSpPr>
        <p:spPr>
          <a:xfrm>
            <a:off x="548640" y="3291840"/>
            <a:ext cx="4572000" cy="320040"/>
          </a:xfrm>
          <a:prstGeom prst="rect">
            <a:avLst/>
          </a:prstGeom>
          <a:noFill/>
        </p:spPr>
        <p:txBody>
          <a:bodyPr wrap="square">
            <a:spAutoFit/>
          </a:bodyPr>
          <a:lstStyle/>
          <a:p>
            <a:pPr algn="l">
              <a:spcAft>
                <a:spcPts val="280"/>
              </a:spcAft>
              <a:defRPr sz="1400" b="1">
                <a:solidFill>
                  <a:srgbClr val="2B5C8A"/>
                </a:solidFill>
                <a:latin typeface="Microsoft YaHei"/>
              </a:defRPr>
            </a:pPr>
            <a:r>
              <a:t>▎行业标准达标情况</a:t>
            </a:r>
          </a:p>
        </p:txBody>
      </p:sp>
      <p:graphicFrame>
        <p:nvGraphicFramePr>
          <p:cNvPr id="16" name="Table 15"/>
          <p:cNvGraphicFramePr>
            <a:graphicFrameLocks noGrp="1"/>
          </p:cNvGraphicFramePr>
          <p:nvPr/>
        </p:nvGraphicFramePr>
        <p:xfrm>
          <a:off x="548640" y="3749039"/>
          <a:ext cx="7772400" cy="1828800"/>
        </p:xfrm>
        <a:graphic>
          <a:graphicData uri="http://schemas.openxmlformats.org/drawingml/2006/table">
            <a:tbl>
              <a:tblPr firstRow="1" bandRow="1">
                <a:tableStyleId>{5C22544A-7EE6-4342-B048-85BDC9FD1C3A}</a:tableStyleId>
              </a:tblPr>
              <a:tblGrid>
                <a:gridCol w="1943100"/>
                <a:gridCol w="1943100"/>
                <a:gridCol w="1943100"/>
                <a:gridCol w="1943100"/>
              </a:tblGrid>
              <a:tr h="365760">
                <a:tc>
                  <a:txBody>
                    <a:bodyPr/>
                    <a:lstStyle/>
                    <a:p>
                      <a:pPr>
                        <a:defRPr sz="1100" b="1">
                          <a:solidFill>
                            <a:srgbClr val="FFFFFF"/>
                          </a:solidFill>
                          <a:latin typeface="Microsoft YaHei"/>
                        </a:defRPr>
                      </a:pPr>
                      <a:r>
                        <a:t>指标</a:t>
                      </a:r>
                    </a:p>
                  </a:txBody>
                  <a:tcPr>
                    <a:solidFill>
                      <a:srgbClr val="2B5C8A"/>
                    </a:solidFill>
                  </a:tcPr>
                </a:tc>
                <a:tc>
                  <a:txBody>
                    <a:bodyPr/>
                    <a:lstStyle/>
                    <a:p>
                      <a:pPr>
                        <a:defRPr sz="1100" b="1">
                          <a:solidFill>
                            <a:srgbClr val="FFFFFF"/>
                          </a:solidFill>
                          <a:latin typeface="Microsoft YaHei"/>
                        </a:defRPr>
                      </a:pPr>
                      <a:r>
                        <a:t>ESP-T 实测值</a:t>
                      </a:r>
                    </a:p>
                  </a:txBody>
                  <a:tcPr>
                    <a:solidFill>
                      <a:srgbClr val="2B5C8A"/>
                    </a:solidFill>
                  </a:tcPr>
                </a:tc>
                <a:tc>
                  <a:txBody>
                    <a:bodyPr/>
                    <a:lstStyle/>
                    <a:p>
                      <a:pPr>
                        <a:defRPr sz="1100" b="1">
                          <a:solidFill>
                            <a:srgbClr val="FFFFFF"/>
                          </a:solidFill>
                          <a:latin typeface="Microsoft YaHei"/>
                        </a:defRPr>
                      </a:pPr>
                      <a:r>
                        <a:t>行业标准</a:t>
                      </a:r>
                    </a:p>
                  </a:txBody>
                  <a:tcPr>
                    <a:solidFill>
                      <a:srgbClr val="2B5C8A"/>
                    </a:solidFill>
                  </a:tcPr>
                </a:tc>
                <a:tc>
                  <a:txBody>
                    <a:bodyPr/>
                    <a:lstStyle/>
                    <a:p>
                      <a:pPr>
                        <a:defRPr sz="1100" b="1">
                          <a:solidFill>
                            <a:srgbClr val="FFFFFF"/>
                          </a:solidFill>
                          <a:latin typeface="Microsoft YaHei"/>
                        </a:defRPr>
                      </a:pPr>
                      <a:r>
                        <a:t>状态</a:t>
                      </a:r>
                    </a:p>
                  </a:txBody>
                  <a:tcPr>
                    <a:solidFill>
                      <a:srgbClr val="2B5C8A"/>
                    </a:solidFill>
                  </a:tcPr>
                </a:tc>
              </a:tr>
              <a:tr h="365760">
                <a:tc>
                  <a:txBody>
                    <a:bodyPr/>
                    <a:lstStyle/>
                    <a:p>
                      <a:pPr>
                        <a:defRPr sz="1100">
                          <a:solidFill>
                            <a:srgbClr val="333333"/>
                          </a:solidFill>
                          <a:latin typeface="Microsoft YaHei"/>
                        </a:defRPr>
                      </a:pPr>
                      <a:r>
                        <a:t>球度 / 圆度</a:t>
                      </a:r>
                    </a:p>
                  </a:txBody>
                  <a:tcPr/>
                </a:tc>
                <a:tc>
                  <a:txBody>
                    <a:bodyPr/>
                    <a:lstStyle/>
                    <a:p>
                      <a:pPr>
                        <a:defRPr sz="1100">
                          <a:solidFill>
                            <a:srgbClr val="333333"/>
                          </a:solidFill>
                          <a:latin typeface="Microsoft YaHei"/>
                        </a:defRPr>
                      </a:pPr>
                      <a:r>
                        <a:t>&gt; 0.9</a:t>
                      </a:r>
                    </a:p>
                  </a:txBody>
                  <a:tcPr/>
                </a:tc>
                <a:tc>
                  <a:txBody>
                    <a:bodyPr/>
                    <a:lstStyle/>
                    <a:p>
                      <a:pPr>
                        <a:defRPr sz="1100">
                          <a:solidFill>
                            <a:srgbClr val="333333"/>
                          </a:solidFill>
                          <a:latin typeface="Microsoft YaHei"/>
                        </a:defRPr>
                      </a:pPr>
                      <a:r>
                        <a:t>Krumbien-Sloss</a:t>
                      </a:r>
                    </a:p>
                  </a:txBody>
                  <a:tcPr/>
                </a:tc>
                <a:tc>
                  <a:txBody>
                    <a:bodyPr/>
                    <a:lstStyle/>
                    <a:p>
                      <a:pPr>
                        <a:defRPr sz="1100">
                          <a:solidFill>
                            <a:srgbClr val="333333"/>
                          </a:solidFill>
                          <a:latin typeface="Microsoft YaHei"/>
                        </a:defRPr>
                      </a:pPr>
                      <a:r>
                        <a:t>✅ 达标</a:t>
                      </a:r>
                    </a:p>
                  </a:txBody>
                  <a:tcPr/>
                </a:tc>
              </a:tr>
              <a:tr h="365760">
                <a:tc>
                  <a:txBody>
                    <a:bodyPr/>
                    <a:lstStyle/>
                    <a:p>
                      <a:pPr>
                        <a:defRPr sz="1100">
                          <a:solidFill>
                            <a:srgbClr val="333333"/>
                          </a:solidFill>
                          <a:latin typeface="Microsoft YaHei"/>
                        </a:defRPr>
                      </a:pPr>
                      <a:r>
                        <a:t>酸溶解度</a:t>
                      </a:r>
                    </a:p>
                  </a:txBody>
                  <a:tcPr>
                    <a:solidFill>
                      <a:srgbClr val="E8EEF4"/>
                    </a:solidFill>
                  </a:tcPr>
                </a:tc>
                <a:tc>
                  <a:txBody>
                    <a:bodyPr/>
                    <a:lstStyle/>
                    <a:p>
                      <a:pPr>
                        <a:defRPr sz="1100">
                          <a:solidFill>
                            <a:srgbClr val="333333"/>
                          </a:solidFill>
                          <a:latin typeface="Microsoft YaHei"/>
                        </a:defRPr>
                      </a:pPr>
                      <a:r>
                        <a:t>3.3%</a:t>
                      </a:r>
                    </a:p>
                  </a:txBody>
                  <a:tcPr>
                    <a:solidFill>
                      <a:srgbClr val="E8EEF4"/>
                    </a:solidFill>
                  </a:tcPr>
                </a:tc>
                <a:tc>
                  <a:txBody>
                    <a:bodyPr/>
                    <a:lstStyle/>
                    <a:p>
                      <a:pPr>
                        <a:defRPr sz="1100">
                          <a:solidFill>
                            <a:srgbClr val="333333"/>
                          </a:solidFill>
                          <a:latin typeface="Microsoft YaHei"/>
                        </a:defRPr>
                      </a:pPr>
                      <a:r>
                        <a:t>≤ 5% (SY/T 5107)</a:t>
                      </a:r>
                    </a:p>
                  </a:txBody>
                  <a:tcPr>
                    <a:solidFill>
                      <a:srgbClr val="E8EEF4"/>
                    </a:solidFill>
                  </a:tcPr>
                </a:tc>
                <a:tc>
                  <a:txBody>
                    <a:bodyPr/>
                    <a:lstStyle/>
                    <a:p>
                      <a:pPr>
                        <a:defRPr sz="1100">
                          <a:solidFill>
                            <a:srgbClr val="333333"/>
                          </a:solidFill>
                          <a:latin typeface="Microsoft YaHei"/>
                        </a:defRPr>
                      </a:pPr>
                      <a:r>
                        <a:t>✅ 达标</a:t>
                      </a:r>
                    </a:p>
                  </a:txBody>
                  <a:tcPr>
                    <a:solidFill>
                      <a:srgbClr val="E8EEF4"/>
                    </a:solidFill>
                  </a:tcPr>
                </a:tc>
              </a:tr>
              <a:tr h="365760">
                <a:tc>
                  <a:txBody>
                    <a:bodyPr/>
                    <a:lstStyle/>
                    <a:p>
                      <a:pPr>
                        <a:defRPr sz="1100">
                          <a:solidFill>
                            <a:srgbClr val="333333"/>
                          </a:solidFill>
                          <a:latin typeface="Microsoft YaHei"/>
                        </a:defRPr>
                      </a:pPr>
                      <a:r>
                        <a:t>52 MPa 破碎率</a:t>
                      </a:r>
                    </a:p>
                  </a:txBody>
                  <a:tcPr/>
                </a:tc>
                <a:tc>
                  <a:txBody>
                    <a:bodyPr/>
                    <a:lstStyle/>
                    <a:p>
                      <a:pPr>
                        <a:defRPr sz="1100">
                          <a:solidFill>
                            <a:srgbClr val="333333"/>
                          </a:solidFill>
                          <a:latin typeface="Microsoft YaHei"/>
                        </a:defRPr>
                      </a:pPr>
                      <a:r>
                        <a:t>2.9%</a:t>
                      </a:r>
                    </a:p>
                  </a:txBody>
                  <a:tcPr/>
                </a:tc>
                <a:tc>
                  <a:txBody>
                    <a:bodyPr/>
                    <a:lstStyle/>
                    <a:p>
                      <a:pPr>
                        <a:defRPr sz="1100">
                          <a:solidFill>
                            <a:srgbClr val="333333"/>
                          </a:solidFill>
                          <a:latin typeface="Microsoft YaHei"/>
                        </a:defRPr>
                      </a:pPr>
                      <a:r>
                        <a:t>—</a:t>
                      </a:r>
                    </a:p>
                  </a:txBody>
                  <a:tcPr/>
                </a:tc>
                <a:tc>
                  <a:txBody>
                    <a:bodyPr/>
                    <a:lstStyle/>
                    <a:p>
                      <a:pPr>
                        <a:defRPr sz="1100">
                          <a:solidFill>
                            <a:srgbClr val="333333"/>
                          </a:solidFill>
                          <a:latin typeface="Microsoft YaHei"/>
                        </a:defRPr>
                      </a:pPr>
                      <a:r>
                        <a:t>✅ 与纯环氧 (2.6%) 相当</a:t>
                      </a:r>
                    </a:p>
                  </a:txBody>
                  <a:tcPr/>
                </a:tc>
              </a:tr>
              <a:tr h="365760">
                <a:tc>
                  <a:txBody>
                    <a:bodyPr/>
                    <a:lstStyle/>
                    <a:p>
                      <a:pPr>
                        <a:defRPr sz="1100">
                          <a:solidFill>
                            <a:srgbClr val="333333"/>
                          </a:solidFill>
                          <a:latin typeface="Microsoft YaHei"/>
                        </a:defRPr>
                      </a:pPr>
                      <a:r>
                        <a:t>环压焓 ΔH</a:t>
                      </a:r>
                    </a:p>
                  </a:txBody>
                  <a:tcPr>
                    <a:solidFill>
                      <a:srgbClr val="E8EEF4"/>
                    </a:solidFill>
                  </a:tcPr>
                </a:tc>
                <a:tc>
                  <a:txBody>
                    <a:bodyPr/>
                    <a:lstStyle/>
                    <a:p>
                      <a:pPr>
                        <a:defRPr sz="1100">
                          <a:solidFill>
                            <a:srgbClr val="333333"/>
                          </a:solidFill>
                          <a:latin typeface="Microsoft YaHei"/>
                        </a:defRPr>
                      </a:pPr>
                      <a:r>
                        <a:t>99.53 J/g</a:t>
                      </a:r>
                    </a:p>
                  </a:txBody>
                  <a:tcPr>
                    <a:solidFill>
                      <a:srgbClr val="E8EEF4"/>
                    </a:solidFill>
                  </a:tcPr>
                </a:tc>
                <a:tc>
                  <a:txBody>
                    <a:bodyPr/>
                    <a:lstStyle/>
                    <a:p>
                      <a:pPr>
                        <a:defRPr sz="1100">
                          <a:solidFill>
                            <a:srgbClr val="333333"/>
                          </a:solidFill>
                          <a:latin typeface="Microsoft YaHei"/>
                        </a:defRPr>
                      </a:pPr>
                      <a:r>
                        <a:t>—</a:t>
                      </a:r>
                    </a:p>
                  </a:txBody>
                  <a:tcPr>
                    <a:solidFill>
                      <a:srgbClr val="E8EEF4"/>
                    </a:solidFill>
                  </a:tcPr>
                </a:tc>
                <a:tc>
                  <a:txBody>
                    <a:bodyPr/>
                    <a:lstStyle/>
                    <a:p>
                      <a:pPr>
                        <a:defRPr sz="1100">
                          <a:solidFill>
                            <a:srgbClr val="333333"/>
                          </a:solidFill>
                          <a:latin typeface="Microsoft YaHei"/>
                        </a:defRPr>
                      </a:pPr>
                      <a:r>
                        <a:t>定量表征</a:t>
                      </a:r>
                    </a:p>
                  </a:txBody>
                  <a:tcPr>
                    <a:solidFill>
                      <a:srgbClr val="E8EEF4"/>
                    </a:solidFill>
                  </a:tcPr>
                </a:tc>
              </a:tr>
            </a:tbl>
          </a:graphicData>
        </a:graphic>
      </p:graphicFrame>
      <p:sp>
        <p:nvSpPr>
          <p:cNvPr id="17" name="TextBox 16"/>
          <p:cNvSpPr txBox="1"/>
          <p:nvPr/>
        </p:nvSpPr>
        <p:spPr>
          <a:xfrm>
            <a:off x="8961120" y="3749039"/>
            <a:ext cx="2743200" cy="274320"/>
          </a:xfrm>
          <a:prstGeom prst="rect">
            <a:avLst/>
          </a:prstGeom>
          <a:noFill/>
        </p:spPr>
        <p:txBody>
          <a:bodyPr wrap="square">
            <a:spAutoFit/>
          </a:bodyPr>
          <a:lstStyle/>
          <a:p>
            <a:pPr algn="l">
              <a:spcAft>
                <a:spcPts val="239"/>
              </a:spcAft>
              <a:defRPr sz="1200" b="1">
                <a:solidFill>
                  <a:srgbClr val="2B5C8A"/>
                </a:solidFill>
                <a:latin typeface="Microsoft YaHei"/>
              </a:defRPr>
            </a:pPr>
            <a:r>
              <a:t>▎TGA 三阶段分解</a:t>
            </a:r>
          </a:p>
        </p:txBody>
      </p:sp>
      <p:sp>
        <p:nvSpPr>
          <p:cNvPr id="18" name="TextBox 17"/>
          <p:cNvSpPr txBox="1"/>
          <p:nvPr/>
        </p:nvSpPr>
        <p:spPr>
          <a:xfrm>
            <a:off x="8961120" y="4114800"/>
            <a:ext cx="2743200" cy="274320"/>
          </a:xfrm>
          <a:prstGeom prst="rect">
            <a:avLst/>
          </a:prstGeom>
          <a:noFill/>
        </p:spPr>
        <p:txBody>
          <a:bodyPr wrap="square">
            <a:spAutoFit/>
          </a:bodyPr>
          <a:lstStyle/>
          <a:p>
            <a:pPr algn="l">
              <a:spcAft>
                <a:spcPts val="179"/>
              </a:spcAft>
              <a:defRPr sz="900" b="0">
                <a:solidFill>
                  <a:srgbClr val="333333"/>
                </a:solidFill>
                <a:latin typeface="Microsoft YaHei"/>
              </a:defRPr>
            </a:pPr>
            <a:r>
              <a:t>I:   50-350°C  失重 5.70% (水分/乙醇)</a:t>
            </a:r>
          </a:p>
        </p:txBody>
      </p:sp>
      <p:sp>
        <p:nvSpPr>
          <p:cNvPr id="19" name="TextBox 18"/>
          <p:cNvSpPr txBox="1"/>
          <p:nvPr/>
        </p:nvSpPr>
        <p:spPr>
          <a:xfrm>
            <a:off x="8961120" y="4434840"/>
            <a:ext cx="2743200" cy="274320"/>
          </a:xfrm>
          <a:prstGeom prst="rect">
            <a:avLst/>
          </a:prstGeom>
          <a:noFill/>
        </p:spPr>
        <p:txBody>
          <a:bodyPr wrap="square">
            <a:spAutoFit/>
          </a:bodyPr>
          <a:lstStyle/>
          <a:p>
            <a:pPr algn="l">
              <a:spcAft>
                <a:spcPts val="179"/>
              </a:spcAft>
              <a:defRPr sz="900" b="0">
                <a:solidFill>
                  <a:srgbClr val="333333"/>
                </a:solidFill>
                <a:latin typeface="Microsoft YaHei"/>
              </a:defRPr>
            </a:pPr>
            <a:r>
              <a:t>II:  350-400°C 失重 72.5% (主分解)</a:t>
            </a:r>
          </a:p>
        </p:txBody>
      </p:sp>
      <p:sp>
        <p:nvSpPr>
          <p:cNvPr id="20" name="TextBox 19"/>
          <p:cNvSpPr txBox="1"/>
          <p:nvPr/>
        </p:nvSpPr>
        <p:spPr>
          <a:xfrm>
            <a:off x="8961120" y="4754880"/>
            <a:ext cx="2743200" cy="274320"/>
          </a:xfrm>
          <a:prstGeom prst="rect">
            <a:avLst/>
          </a:prstGeom>
          <a:noFill/>
        </p:spPr>
        <p:txBody>
          <a:bodyPr wrap="square">
            <a:spAutoFit/>
          </a:bodyPr>
          <a:lstStyle/>
          <a:p>
            <a:pPr algn="l">
              <a:spcAft>
                <a:spcPts val="179"/>
              </a:spcAft>
              <a:defRPr sz="900" b="0">
                <a:solidFill>
                  <a:srgbClr val="333333"/>
                </a:solidFill>
                <a:latin typeface="Microsoft YaHei"/>
              </a:defRPr>
            </a:pPr>
            <a:r>
              <a:t>III: &gt;400°C  残渣: 玻球+Fe₃O₄@SA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spcAft>
                <a:spcPts val="519"/>
              </a:spcAft>
              <a:defRPr sz="2600" b="1">
                <a:solidFill>
                  <a:srgbClr val="1A1A1A"/>
                </a:solidFill>
                <a:latin typeface="Microsoft YaHei"/>
              </a:defRPr>
            </a:pPr>
            <a:r>
              <a:t>阻水亲油特性：油过滤时间缩短 66%，水过滤时间延长 10 倍</a:t>
            </a:r>
          </a:p>
        </p:txBody>
      </p:sp>
      <p:cxnSp>
        <p:nvCxnSpPr>
          <p:cNvPr id="4" name="Connector 3"/>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247120" y="6446520"/>
            <a:ext cx="731520" cy="274320"/>
          </a:xfrm>
          <a:prstGeom prst="rect">
            <a:avLst/>
          </a:prstGeom>
          <a:noFill/>
        </p:spPr>
        <p:txBody>
          <a:bodyPr wrap="square">
            <a:spAutoFit/>
          </a:bodyPr>
          <a:lstStyle/>
          <a:p>
            <a:pPr algn="r">
              <a:spcAft>
                <a:spcPts val="159"/>
              </a:spcAft>
              <a:defRPr sz="800" b="0">
                <a:solidFill>
                  <a:srgbClr val="8A8A8A"/>
                </a:solidFill>
                <a:latin typeface="Microsoft YaHei"/>
              </a:defRPr>
            </a:pPr>
            <a:r>
              <a:t>7/14</a:t>
            </a:r>
          </a:p>
        </p:txBody>
      </p:sp>
      <p:graphicFrame>
        <p:nvGraphicFramePr>
          <p:cNvPr id="6" name="Table 5"/>
          <p:cNvGraphicFramePr>
            <a:graphicFrameLocks noGrp="1"/>
          </p:cNvGraphicFramePr>
          <p:nvPr/>
        </p:nvGraphicFramePr>
        <p:xfrm>
          <a:off x="548640" y="1371600"/>
          <a:ext cx="6858000" cy="1828800"/>
        </p:xfrm>
        <a:graphic>
          <a:graphicData uri="http://schemas.openxmlformats.org/drawingml/2006/table">
            <a:tbl>
              <a:tblPr firstRow="1" bandRow="1">
                <a:tableStyleId>{5C22544A-7EE6-4342-B048-85BDC9FD1C3A}</a:tableStyleId>
              </a:tblPr>
              <a:tblGrid>
                <a:gridCol w="1714500"/>
                <a:gridCol w="1714500"/>
                <a:gridCol w="1714500"/>
                <a:gridCol w="1714500"/>
              </a:tblGrid>
              <a:tr h="457200">
                <a:tc>
                  <a:txBody>
                    <a:bodyPr/>
                    <a:lstStyle/>
                    <a:p>
                      <a:pPr>
                        <a:defRPr sz="1200" b="1">
                          <a:solidFill>
                            <a:srgbClr val="FFFFFF"/>
                          </a:solidFill>
                          <a:latin typeface="Microsoft YaHei"/>
                        </a:defRPr>
                      </a:pPr>
                    </a:p>
                  </a:txBody>
                  <a:tcPr>
                    <a:solidFill>
                      <a:srgbClr val="2B5C8A"/>
                    </a:solidFill>
                  </a:tcPr>
                </a:tc>
                <a:tc>
                  <a:txBody>
                    <a:bodyPr/>
                    <a:lstStyle/>
                    <a:p>
                      <a:pPr>
                        <a:defRPr sz="1200" b="1">
                          <a:solidFill>
                            <a:srgbClr val="FFFFFF"/>
                          </a:solidFill>
                          <a:latin typeface="Microsoft YaHei"/>
                        </a:defRPr>
                      </a:pPr>
                      <a:r>
                        <a:t>纯环氧微球</a:t>
                      </a:r>
                    </a:p>
                  </a:txBody>
                  <a:tcPr>
                    <a:solidFill>
                      <a:srgbClr val="2B5C8A"/>
                    </a:solidFill>
                  </a:tcPr>
                </a:tc>
                <a:tc>
                  <a:txBody>
                    <a:bodyPr/>
                    <a:lstStyle/>
                    <a:p>
                      <a:pPr>
                        <a:defRPr sz="1200" b="1">
                          <a:solidFill>
                            <a:srgbClr val="FFFFFF"/>
                          </a:solidFill>
                          <a:latin typeface="Microsoft YaHei"/>
                        </a:defRPr>
                      </a:pPr>
                      <a:r>
                        <a:t>ESP-T</a:t>
                      </a:r>
                    </a:p>
                  </a:txBody>
                  <a:tcPr>
                    <a:solidFill>
                      <a:srgbClr val="2B5C8A"/>
                    </a:solidFill>
                  </a:tcPr>
                </a:tc>
                <a:tc>
                  <a:txBody>
                    <a:bodyPr/>
                    <a:lstStyle/>
                    <a:p>
                      <a:pPr>
                        <a:defRPr sz="1200" b="1">
                          <a:solidFill>
                            <a:srgbClr val="FFFFFF"/>
                          </a:solidFill>
                          <a:latin typeface="Microsoft YaHei"/>
                        </a:defRPr>
                      </a:pPr>
                      <a:r>
                        <a:t>变化</a:t>
                      </a:r>
                    </a:p>
                  </a:txBody>
                  <a:tcPr>
                    <a:solidFill>
                      <a:srgbClr val="2B5C8A"/>
                    </a:solidFill>
                  </a:tcPr>
                </a:tc>
              </a:tr>
              <a:tr h="457200">
                <a:tc>
                  <a:txBody>
                    <a:bodyPr/>
                    <a:lstStyle/>
                    <a:p>
                      <a:pPr>
                        <a:defRPr sz="1300">
                          <a:solidFill>
                            <a:srgbClr val="333333"/>
                          </a:solidFill>
                          <a:latin typeface="Microsoft YaHei"/>
                        </a:defRPr>
                      </a:pPr>
                      <a:r>
                        <a:t>水接触角 (WCA)</a:t>
                      </a:r>
                    </a:p>
                  </a:txBody>
                  <a:tcPr/>
                </a:tc>
                <a:tc>
                  <a:txBody>
                    <a:bodyPr/>
                    <a:lstStyle/>
                    <a:p>
                      <a:pPr>
                        <a:defRPr sz="1300">
                          <a:solidFill>
                            <a:srgbClr val="333333"/>
                          </a:solidFill>
                          <a:latin typeface="Microsoft YaHei"/>
                        </a:defRPr>
                      </a:pPr>
                      <a:r>
                        <a:t>72.3° (弱亲水)</a:t>
                      </a:r>
                    </a:p>
                  </a:txBody>
                  <a:tcPr/>
                </a:tc>
                <a:tc>
                  <a:txBody>
                    <a:bodyPr/>
                    <a:lstStyle/>
                    <a:p>
                      <a:pPr>
                        <a:defRPr sz="1300">
                          <a:solidFill>
                            <a:srgbClr val="333333"/>
                          </a:solidFill>
                          <a:latin typeface="Microsoft YaHei"/>
                        </a:defRPr>
                      </a:pPr>
                      <a:r>
                        <a:t>104.6° (疏水)</a:t>
                      </a:r>
                    </a:p>
                  </a:txBody>
                  <a:tcPr/>
                </a:tc>
                <a:tc>
                  <a:txBody>
                    <a:bodyPr/>
                    <a:lstStyle/>
                    <a:p>
                      <a:pPr>
                        <a:defRPr sz="1300" b="1">
                          <a:solidFill>
                            <a:srgbClr val="C05C2C"/>
                          </a:solidFill>
                          <a:latin typeface="Microsoft YaHei"/>
                        </a:defRPr>
                      </a:pPr>
                      <a:r>
                        <a:t>↑ 32.3°</a:t>
                      </a:r>
                    </a:p>
                  </a:txBody>
                  <a:tcPr/>
                </a:tc>
              </a:tr>
              <a:tr h="457200">
                <a:tc>
                  <a:txBody>
                    <a:bodyPr/>
                    <a:lstStyle/>
                    <a:p>
                      <a:pPr>
                        <a:defRPr sz="1300">
                          <a:solidFill>
                            <a:srgbClr val="333333"/>
                          </a:solidFill>
                          <a:latin typeface="Microsoft YaHei"/>
                        </a:defRPr>
                      </a:pPr>
                      <a:r>
                        <a:t>水过滤时间</a:t>
                      </a:r>
                    </a:p>
                  </a:txBody>
                  <a:tcPr/>
                </a:tc>
                <a:tc>
                  <a:txBody>
                    <a:bodyPr/>
                    <a:lstStyle/>
                    <a:p>
                      <a:pPr>
                        <a:defRPr sz="1300">
                          <a:solidFill>
                            <a:srgbClr val="333333"/>
                          </a:solidFill>
                          <a:latin typeface="Microsoft YaHei"/>
                        </a:defRPr>
                      </a:pPr>
                      <a:r>
                        <a:t>2 分 53 秒</a:t>
                      </a:r>
                    </a:p>
                  </a:txBody>
                  <a:tcPr/>
                </a:tc>
                <a:tc>
                  <a:txBody>
                    <a:bodyPr/>
                    <a:lstStyle/>
                    <a:p>
                      <a:pPr>
                        <a:defRPr sz="1300">
                          <a:solidFill>
                            <a:srgbClr val="333333"/>
                          </a:solidFill>
                          <a:latin typeface="Microsoft YaHei"/>
                        </a:defRPr>
                      </a:pPr>
                      <a:r>
                        <a:t>28 分 41 秒</a:t>
                      </a:r>
                    </a:p>
                  </a:txBody>
                  <a:tcPr/>
                </a:tc>
                <a:tc>
                  <a:txBody>
                    <a:bodyPr/>
                    <a:lstStyle/>
                    <a:p>
                      <a:pPr>
                        <a:defRPr sz="1300" b="1">
                          <a:solidFill>
                            <a:srgbClr val="C05C2C"/>
                          </a:solidFill>
                          <a:latin typeface="Microsoft YaHei"/>
                        </a:defRPr>
                      </a:pPr>
                      <a:r>
                        <a:t>↑ 10 倍</a:t>
                      </a:r>
                    </a:p>
                  </a:txBody>
                  <a:tcPr/>
                </a:tc>
              </a:tr>
              <a:tr h="457200">
                <a:tc>
                  <a:txBody>
                    <a:bodyPr/>
                    <a:lstStyle/>
                    <a:p>
                      <a:pPr>
                        <a:defRPr sz="1300">
                          <a:solidFill>
                            <a:srgbClr val="333333"/>
                          </a:solidFill>
                          <a:latin typeface="Microsoft YaHei"/>
                        </a:defRPr>
                      </a:pPr>
                      <a:r>
                        <a:t>油过滤时间</a:t>
                      </a:r>
                    </a:p>
                  </a:txBody>
                  <a:tcPr/>
                </a:tc>
                <a:tc>
                  <a:txBody>
                    <a:bodyPr/>
                    <a:lstStyle/>
                    <a:p>
                      <a:pPr>
                        <a:defRPr sz="1300">
                          <a:solidFill>
                            <a:srgbClr val="333333"/>
                          </a:solidFill>
                          <a:latin typeface="Microsoft YaHei"/>
                        </a:defRPr>
                      </a:pPr>
                      <a:r>
                        <a:t>15 分 11 秒</a:t>
                      </a:r>
                    </a:p>
                  </a:txBody>
                  <a:tcPr/>
                </a:tc>
                <a:tc>
                  <a:txBody>
                    <a:bodyPr/>
                    <a:lstStyle/>
                    <a:p>
                      <a:pPr>
                        <a:defRPr sz="1300">
                          <a:solidFill>
                            <a:srgbClr val="333333"/>
                          </a:solidFill>
                          <a:latin typeface="Microsoft YaHei"/>
                        </a:defRPr>
                      </a:pPr>
                      <a:r>
                        <a:t>5 分 11 秒</a:t>
                      </a:r>
                    </a:p>
                  </a:txBody>
                  <a:tcPr/>
                </a:tc>
                <a:tc>
                  <a:txBody>
                    <a:bodyPr/>
                    <a:lstStyle/>
                    <a:p>
                      <a:pPr>
                        <a:defRPr sz="1300" b="1">
                          <a:solidFill>
                            <a:srgbClr val="3A7D44"/>
                          </a:solidFill>
                          <a:latin typeface="Microsoft YaHei"/>
                        </a:defRPr>
                      </a:pPr>
                      <a:r>
                        <a:t>↓ 66.1%</a:t>
                      </a:r>
                    </a:p>
                  </a:txBody>
                  <a:tcPr/>
                </a:tc>
              </a:tr>
            </a:tbl>
          </a:graphicData>
        </a:graphic>
      </p:graphicFrame>
      <p:sp>
        <p:nvSpPr>
          <p:cNvPr id="7" name="TextBox 6"/>
          <p:cNvSpPr txBox="1"/>
          <p:nvPr/>
        </p:nvSpPr>
        <p:spPr>
          <a:xfrm>
            <a:off x="8229600" y="1371600"/>
            <a:ext cx="3474720" cy="320040"/>
          </a:xfrm>
          <a:prstGeom prst="rect">
            <a:avLst/>
          </a:prstGeom>
          <a:noFill/>
        </p:spPr>
        <p:txBody>
          <a:bodyPr wrap="square">
            <a:spAutoFit/>
          </a:bodyPr>
          <a:lstStyle/>
          <a:p>
            <a:pPr algn="l">
              <a:spcAft>
                <a:spcPts val="280"/>
              </a:spcAft>
              <a:defRPr sz="1400" b="1">
                <a:solidFill>
                  <a:srgbClr val="2B5C8A"/>
                </a:solidFill>
                <a:latin typeface="Microsoft YaHei"/>
              </a:defRPr>
            </a:pPr>
            <a:r>
              <a:t>▎机理</a:t>
            </a:r>
          </a:p>
        </p:txBody>
      </p:sp>
      <p:sp>
        <p:nvSpPr>
          <p:cNvPr id="8" name="Rectangle 7"/>
          <p:cNvSpPr/>
          <p:nvPr/>
        </p:nvSpPr>
        <p:spPr>
          <a:xfrm>
            <a:off x="8229600" y="1828800"/>
            <a:ext cx="3474720" cy="4114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920240"/>
            <a:ext cx="3108960" cy="3840480"/>
          </a:xfrm>
          <a:prstGeom prst="rect">
            <a:avLst/>
          </a:prstGeom>
          <a:noFill/>
        </p:spPr>
        <p:txBody>
          <a:bodyPr wrap="square">
            <a:spAutoFit/>
          </a:bodyPr>
          <a:lstStyle/>
          <a:p>
            <a:pPr algn="l">
              <a:spcAft>
                <a:spcPts val="219"/>
              </a:spcAft>
              <a:defRPr sz="1100" b="0">
                <a:solidFill>
                  <a:srgbClr val="333333"/>
                </a:solidFill>
                <a:latin typeface="Microsoft YaHei"/>
              </a:defRPr>
            </a:pPr>
            <a:r>
              <a:t>硬脂酸 C₁₇H₃₅COOH</a:t>
            </a:r>
            <a:br/>
            <a:br/>
            <a:r>
              <a:t>• -COOH → 与 Fe₃O₄ 表面</a:t>
            </a:r>
            <a:br/>
            <a:r>
              <a:t>  羟基配位成键</a:t>
            </a:r>
            <a:br/>
            <a:br/>
            <a:r>
              <a:t>• -C₁₇H₃₅ 长烷基链 →</a:t>
            </a:r>
            <a:br/>
            <a:r>
              <a:t>  向外定向排列</a:t>
            </a:r>
            <a:br/>
            <a:br/>
            <a:r>
              <a:t>→ 构建疏水膜</a:t>
            </a:r>
            <a:br/>
            <a:r>
              <a:t>→ 降低表面自由能</a:t>
            </a:r>
            <a:br/>
            <a:br/>
            <a:r>
              <a:t>水相：被排斥 → 阻力↑</a:t>
            </a:r>
            <a:br/>
            <a:r>
              <a:t>油相：相容铺展 → 阻力↓</a:t>
            </a:r>
          </a:p>
        </p:txBody>
      </p:sp>
      <p:sp>
        <p:nvSpPr>
          <p:cNvPr id="10" name="TextBox 9"/>
          <p:cNvSpPr txBox="1"/>
          <p:nvPr/>
        </p:nvSpPr>
        <p:spPr>
          <a:xfrm>
            <a:off x="548640" y="5303520"/>
            <a:ext cx="10972800" cy="365760"/>
          </a:xfrm>
          <a:prstGeom prst="rect">
            <a:avLst/>
          </a:prstGeom>
          <a:noFill/>
        </p:spPr>
        <p:txBody>
          <a:bodyPr wrap="square">
            <a:spAutoFit/>
          </a:bodyPr>
          <a:lstStyle/>
          <a:p>
            <a:pPr algn="l">
              <a:spcAft>
                <a:spcPts val="259"/>
              </a:spcAft>
              <a:defRPr sz="1300" b="1">
                <a:solidFill>
                  <a:srgbClr val="C05C2C"/>
                </a:solidFill>
                <a:latin typeface="Microsoft YaHei"/>
              </a:defRPr>
            </a:pPr>
            <a:r>
              <a:t>▸ 工程意义：支撑剂充填层为油提供增强导流 → 促进油流向井筒；水相阻力增大 → 缓解水窜，提高采收率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spcAft>
                <a:spcPts val="519"/>
              </a:spcAft>
              <a:defRPr sz="2600" b="1">
                <a:solidFill>
                  <a:srgbClr val="1A1A1A"/>
                </a:solidFill>
                <a:latin typeface="Microsoft YaHei"/>
              </a:defRPr>
            </a:pPr>
            <a:r>
              <a:t>示踪释放动力学：Fick 扩散与 Case-II 松弛协同主导</a:t>
            </a:r>
          </a:p>
        </p:txBody>
      </p:sp>
      <p:cxnSp>
        <p:nvCxnSpPr>
          <p:cNvPr id="4" name="Connector 3"/>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247120" y="6446520"/>
            <a:ext cx="731520" cy="274320"/>
          </a:xfrm>
          <a:prstGeom prst="rect">
            <a:avLst/>
          </a:prstGeom>
          <a:noFill/>
        </p:spPr>
        <p:txBody>
          <a:bodyPr wrap="square">
            <a:spAutoFit/>
          </a:bodyPr>
          <a:lstStyle/>
          <a:p>
            <a:pPr algn="r">
              <a:spcAft>
                <a:spcPts val="159"/>
              </a:spcAft>
              <a:defRPr sz="800" b="0">
                <a:solidFill>
                  <a:srgbClr val="8A8A8A"/>
                </a:solidFill>
                <a:latin typeface="Microsoft YaHei"/>
              </a:defRPr>
            </a:pPr>
            <a:r>
              <a:t>8/14</a:t>
            </a:r>
          </a:p>
        </p:txBody>
      </p:sp>
      <p:sp>
        <p:nvSpPr>
          <p:cNvPr id="6" name="TextBox 5"/>
          <p:cNvSpPr txBox="1"/>
          <p:nvPr/>
        </p:nvSpPr>
        <p:spPr>
          <a:xfrm>
            <a:off x="548640" y="1371600"/>
            <a:ext cx="5486400" cy="320040"/>
          </a:xfrm>
          <a:prstGeom prst="rect">
            <a:avLst/>
          </a:prstGeom>
          <a:noFill/>
        </p:spPr>
        <p:txBody>
          <a:bodyPr wrap="square">
            <a:spAutoFit/>
          </a:bodyPr>
          <a:lstStyle/>
          <a:p>
            <a:pPr algn="l">
              <a:spcAft>
                <a:spcPts val="300"/>
              </a:spcAft>
              <a:defRPr sz="1500" b="1">
                <a:solidFill>
                  <a:srgbClr val="2B5C8A"/>
                </a:solidFill>
                <a:latin typeface="Microsoft YaHei"/>
              </a:defRPr>
            </a:pPr>
            <a:r>
              <a:t>Korsmeyer–Peppas 模型</a:t>
            </a:r>
          </a:p>
        </p:txBody>
      </p:sp>
      <p:sp>
        <p:nvSpPr>
          <p:cNvPr id="7" name="TextBox 6"/>
          <p:cNvSpPr txBox="1"/>
          <p:nvPr/>
        </p:nvSpPr>
        <p:spPr>
          <a:xfrm>
            <a:off x="548640" y="1737360"/>
            <a:ext cx="2743200" cy="731520"/>
          </a:xfrm>
          <a:prstGeom prst="rect">
            <a:avLst/>
          </a:prstGeom>
          <a:noFill/>
        </p:spPr>
        <p:txBody>
          <a:bodyPr wrap="square">
            <a:spAutoFit/>
          </a:bodyPr>
          <a:lstStyle/>
          <a:p>
            <a:pPr algn="l">
              <a:spcAft>
                <a:spcPts val="439"/>
              </a:spcAft>
              <a:defRPr sz="2200" b="1">
                <a:solidFill>
                  <a:srgbClr val="1A1A1A"/>
                </a:solidFill>
                <a:latin typeface="Microsoft YaHei"/>
              </a:defRPr>
            </a:pPr>
            <a:r>
              <a:t>C/C₀ = K · tⁿ</a:t>
            </a:r>
          </a:p>
        </p:txBody>
      </p:sp>
      <p:sp>
        <p:nvSpPr>
          <p:cNvPr id="8" name="TextBox 7"/>
          <p:cNvSpPr txBox="1"/>
          <p:nvPr/>
        </p:nvSpPr>
        <p:spPr>
          <a:xfrm>
            <a:off x="3291840" y="1783080"/>
            <a:ext cx="6400800" cy="548640"/>
          </a:xfrm>
          <a:prstGeom prst="rect">
            <a:avLst/>
          </a:prstGeom>
          <a:noFill/>
        </p:spPr>
        <p:txBody>
          <a:bodyPr wrap="square">
            <a:spAutoFit/>
          </a:bodyPr>
          <a:lstStyle/>
          <a:p>
            <a:pPr algn="l">
              <a:spcAft>
                <a:spcPts val="219"/>
              </a:spcAft>
              <a:defRPr sz="1100" b="0">
                <a:solidFill>
                  <a:srgbClr val="333333"/>
                </a:solidFill>
                <a:latin typeface="Microsoft YaHei"/>
              </a:defRPr>
            </a:pPr>
            <a:r>
              <a:t>n ≤ 0.43 → Fick 扩散</a:t>
            </a:r>
            <a:br/>
            <a:r>
              <a:t>0.43 &lt; n &lt; 0.85 → 非 Fick 异常传输 ⬅ 本文</a:t>
            </a:r>
            <a:br/>
            <a:r>
              <a:t>n ≥ 0.85 → Case-II 松弛</a:t>
            </a:r>
          </a:p>
        </p:txBody>
      </p:sp>
      <p:graphicFrame>
        <p:nvGraphicFramePr>
          <p:cNvPr id="9" name="Table 8"/>
          <p:cNvGraphicFramePr>
            <a:graphicFrameLocks noGrp="1"/>
          </p:cNvGraphicFramePr>
          <p:nvPr/>
        </p:nvGraphicFramePr>
        <p:xfrm>
          <a:off x="548640" y="2651760"/>
          <a:ext cx="11064240" cy="164592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411480">
                <a:tc>
                  <a:txBody>
                    <a:bodyPr/>
                    <a:lstStyle/>
                    <a:p>
                      <a:pPr>
                        <a:defRPr sz="1200" b="1">
                          <a:solidFill>
                            <a:srgbClr val="FFFFFF"/>
                          </a:solidFill>
                          <a:latin typeface="Microsoft YaHei"/>
                        </a:defRPr>
                      </a:pPr>
                      <a:r>
                        <a:t>参数</a:t>
                      </a:r>
                    </a:p>
                  </a:txBody>
                  <a:tcPr>
                    <a:solidFill>
                      <a:srgbClr val="2B5C8A"/>
                    </a:solidFill>
                  </a:tcPr>
                </a:tc>
                <a:tc>
                  <a:txBody>
                    <a:bodyPr/>
                    <a:lstStyle/>
                    <a:p>
                      <a:pPr>
                        <a:defRPr sz="1200" b="1">
                          <a:solidFill>
                            <a:srgbClr val="FFFFFF"/>
                          </a:solidFill>
                          <a:latin typeface="Microsoft YaHei"/>
                        </a:defRPr>
                      </a:pPr>
                      <a:r>
                        <a:t>30°C</a:t>
                      </a:r>
                    </a:p>
                  </a:txBody>
                  <a:tcPr>
                    <a:solidFill>
                      <a:srgbClr val="2B5C8A"/>
                    </a:solidFill>
                  </a:tcPr>
                </a:tc>
                <a:tc>
                  <a:txBody>
                    <a:bodyPr/>
                    <a:lstStyle/>
                    <a:p>
                      <a:pPr>
                        <a:defRPr sz="1200" b="1">
                          <a:solidFill>
                            <a:srgbClr val="FFFFFF"/>
                          </a:solidFill>
                          <a:latin typeface="Microsoft YaHei"/>
                        </a:defRPr>
                      </a:pPr>
                      <a:r>
                        <a:t>60°C</a:t>
                      </a:r>
                    </a:p>
                  </a:txBody>
                  <a:tcPr>
                    <a:solidFill>
                      <a:srgbClr val="2B5C8A"/>
                    </a:solidFill>
                  </a:tcPr>
                </a:tc>
                <a:tc>
                  <a:txBody>
                    <a:bodyPr/>
                    <a:lstStyle/>
                    <a:p>
                      <a:pPr>
                        <a:defRPr sz="1200" b="1">
                          <a:solidFill>
                            <a:srgbClr val="FFFFFF"/>
                          </a:solidFill>
                          <a:latin typeface="Microsoft YaHei"/>
                        </a:defRPr>
                      </a:pPr>
                      <a:r>
                        <a:t>90°C</a:t>
                      </a:r>
                    </a:p>
                  </a:txBody>
                  <a:tcPr>
                    <a:solidFill>
                      <a:srgbClr val="2B5C8A"/>
                    </a:solidFill>
                  </a:tcPr>
                </a:tc>
                <a:tc>
                  <a:txBody>
                    <a:bodyPr/>
                    <a:lstStyle/>
                    <a:p>
                      <a:pPr>
                        <a:defRPr sz="1200" b="1">
                          <a:solidFill>
                            <a:srgbClr val="FFFFFF"/>
                          </a:solidFill>
                          <a:latin typeface="Microsoft YaHei"/>
                        </a:defRPr>
                      </a:pPr>
                      <a:r>
                        <a:t>120°C</a:t>
                      </a:r>
                    </a:p>
                  </a:txBody>
                  <a:tcPr>
                    <a:solidFill>
                      <a:srgbClr val="2B5C8A"/>
                    </a:solidFill>
                  </a:tcPr>
                </a:tc>
                <a:tc>
                  <a:txBody>
                    <a:bodyPr/>
                    <a:lstStyle/>
                    <a:p>
                      <a:pPr>
                        <a:defRPr sz="1200" b="1">
                          <a:solidFill>
                            <a:srgbClr val="FFFFFF"/>
                          </a:solidFill>
                          <a:latin typeface="Microsoft YaHei"/>
                        </a:defRPr>
                      </a:pPr>
                      <a:r>
                        <a:t>趋势</a:t>
                      </a:r>
                    </a:p>
                  </a:txBody>
                  <a:tcPr>
                    <a:solidFill>
                      <a:srgbClr val="2B5C8A"/>
                    </a:solidFill>
                  </a:tcPr>
                </a:tc>
              </a:tr>
              <a:tr h="411480">
                <a:tc>
                  <a:txBody>
                    <a:bodyPr/>
                    <a:lstStyle/>
                    <a:p>
                      <a:pPr>
                        <a:defRPr sz="1200">
                          <a:solidFill>
                            <a:srgbClr val="333333"/>
                          </a:solidFill>
                          <a:latin typeface="Microsoft YaHei"/>
                        </a:defRPr>
                      </a:pPr>
                      <a:r>
                        <a:t>R²</a:t>
                      </a:r>
                    </a:p>
                  </a:txBody>
                  <a:tcPr/>
                </a:tc>
                <a:tc>
                  <a:txBody>
                    <a:bodyPr/>
                    <a:lstStyle/>
                    <a:p>
                      <a:pPr>
                        <a:defRPr sz="1200">
                          <a:solidFill>
                            <a:srgbClr val="333333"/>
                          </a:solidFill>
                          <a:latin typeface="Microsoft YaHei"/>
                        </a:defRPr>
                      </a:pPr>
                      <a:r>
                        <a:t>0.9549</a:t>
                      </a:r>
                    </a:p>
                  </a:txBody>
                  <a:tcPr/>
                </a:tc>
                <a:tc>
                  <a:txBody>
                    <a:bodyPr/>
                    <a:lstStyle/>
                    <a:p>
                      <a:pPr>
                        <a:defRPr sz="1200">
                          <a:solidFill>
                            <a:srgbClr val="333333"/>
                          </a:solidFill>
                          <a:latin typeface="Microsoft YaHei"/>
                        </a:defRPr>
                      </a:pPr>
                      <a:r>
                        <a:t>0.9649</a:t>
                      </a:r>
                    </a:p>
                  </a:txBody>
                  <a:tcPr/>
                </a:tc>
                <a:tc>
                  <a:txBody>
                    <a:bodyPr/>
                    <a:lstStyle/>
                    <a:p>
                      <a:pPr>
                        <a:defRPr sz="1200">
                          <a:solidFill>
                            <a:srgbClr val="333333"/>
                          </a:solidFill>
                          <a:latin typeface="Microsoft YaHei"/>
                        </a:defRPr>
                      </a:pPr>
                      <a:r>
                        <a:t>0.9560</a:t>
                      </a:r>
                    </a:p>
                  </a:txBody>
                  <a:tcPr/>
                </a:tc>
                <a:tc>
                  <a:txBody>
                    <a:bodyPr/>
                    <a:lstStyle/>
                    <a:p>
                      <a:pPr>
                        <a:defRPr sz="1200">
                          <a:solidFill>
                            <a:srgbClr val="333333"/>
                          </a:solidFill>
                          <a:latin typeface="Microsoft YaHei"/>
                        </a:defRPr>
                      </a:pPr>
                      <a:r>
                        <a:t>0.9454</a:t>
                      </a:r>
                    </a:p>
                  </a:txBody>
                  <a:tcPr/>
                </a:tc>
                <a:tc>
                  <a:txBody>
                    <a:bodyPr/>
                    <a:lstStyle/>
                    <a:p>
                      <a:pPr>
                        <a:defRPr sz="1200">
                          <a:solidFill>
                            <a:srgbClr val="333333"/>
                          </a:solidFill>
                          <a:latin typeface="Microsoft YaHei"/>
                        </a:defRPr>
                      </a:pPr>
                      <a:r>
                        <a:t>&gt; 0.94</a:t>
                      </a:r>
                    </a:p>
                  </a:txBody>
                  <a:tcPr/>
                </a:tc>
              </a:tr>
              <a:tr h="411480">
                <a:tc>
                  <a:txBody>
                    <a:bodyPr/>
                    <a:lstStyle/>
                    <a:p>
                      <a:pPr>
                        <a:defRPr sz="1200">
                          <a:solidFill>
                            <a:srgbClr val="333333"/>
                          </a:solidFill>
                          <a:latin typeface="Microsoft YaHei"/>
                        </a:defRPr>
                      </a:pPr>
                      <a:r>
                        <a:t>K</a:t>
                      </a:r>
                    </a:p>
                  </a:txBody>
                  <a:tcPr>
                    <a:solidFill>
                      <a:srgbClr val="E8EEF4"/>
                    </a:solidFill>
                  </a:tcPr>
                </a:tc>
                <a:tc>
                  <a:txBody>
                    <a:bodyPr/>
                    <a:lstStyle/>
                    <a:p>
                      <a:pPr>
                        <a:defRPr sz="1200">
                          <a:solidFill>
                            <a:srgbClr val="333333"/>
                          </a:solidFill>
                          <a:latin typeface="Microsoft YaHei"/>
                        </a:defRPr>
                      </a:pPr>
                      <a:r>
                        <a:t>0.0554</a:t>
                      </a:r>
                    </a:p>
                  </a:txBody>
                  <a:tcPr>
                    <a:solidFill>
                      <a:srgbClr val="E8EEF4"/>
                    </a:solidFill>
                  </a:tcPr>
                </a:tc>
                <a:tc>
                  <a:txBody>
                    <a:bodyPr/>
                    <a:lstStyle/>
                    <a:p>
                      <a:pPr>
                        <a:defRPr sz="1200">
                          <a:solidFill>
                            <a:srgbClr val="333333"/>
                          </a:solidFill>
                          <a:latin typeface="Microsoft YaHei"/>
                        </a:defRPr>
                      </a:pPr>
                      <a:r>
                        <a:t>0.0818</a:t>
                      </a:r>
                    </a:p>
                  </a:txBody>
                  <a:tcPr>
                    <a:solidFill>
                      <a:srgbClr val="E8EEF4"/>
                    </a:solidFill>
                  </a:tcPr>
                </a:tc>
                <a:tc>
                  <a:txBody>
                    <a:bodyPr/>
                    <a:lstStyle/>
                    <a:p>
                      <a:pPr>
                        <a:defRPr sz="1200">
                          <a:solidFill>
                            <a:srgbClr val="333333"/>
                          </a:solidFill>
                          <a:latin typeface="Microsoft YaHei"/>
                        </a:defRPr>
                      </a:pPr>
                      <a:r>
                        <a:t>0.1134</a:t>
                      </a:r>
                    </a:p>
                  </a:txBody>
                  <a:tcPr>
                    <a:solidFill>
                      <a:srgbClr val="E8EEF4"/>
                    </a:solidFill>
                  </a:tcPr>
                </a:tc>
                <a:tc>
                  <a:txBody>
                    <a:bodyPr/>
                    <a:lstStyle/>
                    <a:p>
                      <a:pPr>
                        <a:defRPr sz="1200">
                          <a:solidFill>
                            <a:srgbClr val="333333"/>
                          </a:solidFill>
                          <a:latin typeface="Microsoft YaHei"/>
                        </a:defRPr>
                      </a:pPr>
                      <a:r>
                        <a:t>0.1964</a:t>
                      </a:r>
                    </a:p>
                  </a:txBody>
                  <a:tcPr>
                    <a:solidFill>
                      <a:srgbClr val="E8EEF4"/>
                    </a:solidFill>
                  </a:tcPr>
                </a:tc>
                <a:tc>
                  <a:txBody>
                    <a:bodyPr/>
                    <a:lstStyle/>
                    <a:p>
                      <a:pPr>
                        <a:defRPr sz="1200">
                          <a:solidFill>
                            <a:srgbClr val="333333"/>
                          </a:solidFill>
                          <a:latin typeface="Microsoft YaHei"/>
                        </a:defRPr>
                      </a:pPr>
                      <a:r>
                        <a:t>温度↑ → K↑</a:t>
                      </a:r>
                    </a:p>
                  </a:txBody>
                  <a:tcPr>
                    <a:solidFill>
                      <a:srgbClr val="E8EEF4"/>
                    </a:solidFill>
                  </a:tcPr>
                </a:tc>
              </a:tr>
              <a:tr h="411480">
                <a:tc>
                  <a:txBody>
                    <a:bodyPr/>
                    <a:lstStyle/>
                    <a:p>
                      <a:pPr>
                        <a:defRPr sz="1200">
                          <a:solidFill>
                            <a:srgbClr val="333333"/>
                          </a:solidFill>
                          <a:latin typeface="Microsoft YaHei"/>
                        </a:defRPr>
                      </a:pPr>
                      <a:r>
                        <a:t>n</a:t>
                      </a:r>
                    </a:p>
                  </a:txBody>
                  <a:tcPr/>
                </a:tc>
                <a:tc>
                  <a:txBody>
                    <a:bodyPr/>
                    <a:lstStyle/>
                    <a:p>
                      <a:pPr>
                        <a:defRPr sz="1200">
                          <a:solidFill>
                            <a:srgbClr val="333333"/>
                          </a:solidFill>
                          <a:latin typeface="Microsoft YaHei"/>
                        </a:defRPr>
                      </a:pPr>
                      <a:r>
                        <a:t>0.5983</a:t>
                      </a:r>
                    </a:p>
                  </a:txBody>
                  <a:tcPr/>
                </a:tc>
                <a:tc>
                  <a:txBody>
                    <a:bodyPr/>
                    <a:lstStyle/>
                    <a:p>
                      <a:pPr>
                        <a:defRPr sz="1200">
                          <a:solidFill>
                            <a:srgbClr val="333333"/>
                          </a:solidFill>
                          <a:latin typeface="Microsoft YaHei"/>
                        </a:defRPr>
                      </a:pPr>
                      <a:r>
                        <a:t>0.6665</a:t>
                      </a:r>
                    </a:p>
                  </a:txBody>
                  <a:tcPr/>
                </a:tc>
                <a:tc>
                  <a:txBody>
                    <a:bodyPr/>
                    <a:lstStyle/>
                    <a:p>
                      <a:pPr>
                        <a:defRPr sz="1200">
                          <a:solidFill>
                            <a:srgbClr val="333333"/>
                          </a:solidFill>
                          <a:latin typeface="Microsoft YaHei"/>
                        </a:defRPr>
                      </a:pPr>
                      <a:r>
                        <a:t>0.5684</a:t>
                      </a:r>
                    </a:p>
                  </a:txBody>
                  <a:tcPr/>
                </a:tc>
                <a:tc>
                  <a:txBody>
                    <a:bodyPr/>
                    <a:lstStyle/>
                    <a:p>
                      <a:pPr>
                        <a:defRPr sz="1200">
                          <a:solidFill>
                            <a:srgbClr val="333333"/>
                          </a:solidFill>
                          <a:latin typeface="Microsoft YaHei"/>
                        </a:defRPr>
                      </a:pPr>
                      <a:r>
                        <a:t>0.5557</a:t>
                      </a:r>
                    </a:p>
                  </a:txBody>
                  <a:tcPr/>
                </a:tc>
                <a:tc>
                  <a:txBody>
                    <a:bodyPr/>
                    <a:lstStyle/>
                    <a:p>
                      <a:pPr>
                        <a:defRPr sz="1200">
                          <a:solidFill>
                            <a:srgbClr val="333333"/>
                          </a:solidFill>
                          <a:latin typeface="Microsoft YaHei"/>
                        </a:defRPr>
                      </a:pPr>
                      <a:r>
                        <a:t>0.45–0.85</a:t>
                      </a:r>
                    </a:p>
                  </a:txBody>
                  <a:tcPr/>
                </a:tc>
              </a:tr>
            </a:tbl>
          </a:graphicData>
        </a:graphic>
      </p:graphicFrame>
      <p:sp>
        <p:nvSpPr>
          <p:cNvPr id="10" name="TextBox 9"/>
          <p:cNvSpPr txBox="1"/>
          <p:nvPr/>
        </p:nvSpPr>
        <p:spPr>
          <a:xfrm>
            <a:off x="548640" y="4572000"/>
            <a:ext cx="10972800" cy="320040"/>
          </a:xfrm>
          <a:prstGeom prst="rect">
            <a:avLst/>
          </a:prstGeom>
          <a:noFill/>
        </p:spPr>
        <p:txBody>
          <a:bodyPr wrap="square">
            <a:spAutoFit/>
          </a:bodyPr>
          <a:lstStyle/>
          <a:p>
            <a:pPr algn="l">
              <a:spcAft>
                <a:spcPts val="280"/>
              </a:spcAft>
              <a:defRPr sz="1400" b="1">
                <a:solidFill>
                  <a:srgbClr val="2B5C8A"/>
                </a:solidFill>
                <a:latin typeface="Microsoft YaHei"/>
              </a:defRPr>
            </a:pPr>
            <a:r>
              <a:t>▸ 释放机制推断</a:t>
            </a:r>
          </a:p>
        </p:txBody>
      </p:sp>
      <p:sp>
        <p:nvSpPr>
          <p:cNvPr id="11" name="TextBox 10"/>
          <p:cNvSpPr txBox="1"/>
          <p:nvPr/>
        </p:nvSpPr>
        <p:spPr>
          <a:xfrm>
            <a:off x="548640" y="5029200"/>
            <a:ext cx="3566160" cy="640080"/>
          </a:xfrm>
          <a:prstGeom prst="rect">
            <a:avLst/>
          </a:prstGeom>
          <a:noFill/>
        </p:spPr>
        <p:txBody>
          <a:bodyPr wrap="square">
            <a:spAutoFit/>
          </a:bodyPr>
          <a:lstStyle/>
          <a:p>
            <a:pPr algn="l">
              <a:spcAft>
                <a:spcPts val="200"/>
              </a:spcAft>
              <a:defRPr sz="1000" b="0">
                <a:solidFill>
                  <a:srgbClr val="333333"/>
                </a:solidFill>
                <a:latin typeface="Microsoft YaHei"/>
              </a:defRPr>
            </a:pPr>
            <a:r>
              <a:t>十二烷渗透进入交联环氧网络 → 溶胀产生玻璃核 + 凝胶层双层结构</a:t>
            </a:r>
          </a:p>
        </p:txBody>
      </p:sp>
      <p:sp>
        <p:nvSpPr>
          <p:cNvPr id="12" name="TextBox 11"/>
          <p:cNvSpPr txBox="1"/>
          <p:nvPr/>
        </p:nvSpPr>
        <p:spPr>
          <a:xfrm>
            <a:off x="4297679" y="5029200"/>
            <a:ext cx="3566160" cy="640080"/>
          </a:xfrm>
          <a:prstGeom prst="rect">
            <a:avLst/>
          </a:prstGeom>
          <a:noFill/>
        </p:spPr>
        <p:txBody>
          <a:bodyPr wrap="square">
            <a:spAutoFit/>
          </a:bodyPr>
          <a:lstStyle/>
          <a:p>
            <a:pPr algn="l">
              <a:spcAft>
                <a:spcPts val="200"/>
              </a:spcAft>
              <a:defRPr sz="1000" b="0">
                <a:solidFill>
                  <a:srgbClr val="333333"/>
                </a:solidFill>
                <a:latin typeface="Microsoft YaHei"/>
              </a:defRPr>
            </a:pPr>
            <a:r>
              <a:t>溶胀降低聚合物链缠结 → 形成扩展传输通道 → 示踪剂扩散至外部介质</a:t>
            </a:r>
          </a:p>
        </p:txBody>
      </p:sp>
      <p:sp>
        <p:nvSpPr>
          <p:cNvPr id="13" name="TextBox 12"/>
          <p:cNvSpPr txBox="1"/>
          <p:nvPr/>
        </p:nvSpPr>
        <p:spPr>
          <a:xfrm>
            <a:off x="8046719" y="5029200"/>
            <a:ext cx="3566160" cy="640080"/>
          </a:xfrm>
          <a:prstGeom prst="rect">
            <a:avLst/>
          </a:prstGeom>
          <a:noFill/>
        </p:spPr>
        <p:txBody>
          <a:bodyPr wrap="square">
            <a:spAutoFit/>
          </a:bodyPr>
          <a:lstStyle/>
          <a:p>
            <a:pPr algn="l">
              <a:spcAft>
                <a:spcPts val="200"/>
              </a:spcAft>
              <a:defRPr sz="1000" b="0">
                <a:solidFill>
                  <a:srgbClr val="333333"/>
                </a:solidFill>
                <a:latin typeface="Microsoft YaHei"/>
              </a:defRPr>
            </a:pPr>
            <a:r>
              <a:t>升温增强溶剂渗透速率 → 加速溶胀 → 增大孔径 → 促进扩散</a:t>
            </a:r>
          </a:p>
        </p:txBody>
      </p:sp>
      <p:sp>
        <p:nvSpPr>
          <p:cNvPr id="14" name="TextBox 13"/>
          <p:cNvSpPr txBox="1"/>
          <p:nvPr/>
        </p:nvSpPr>
        <p:spPr>
          <a:xfrm>
            <a:off x="548640" y="5669280"/>
            <a:ext cx="10972800" cy="320040"/>
          </a:xfrm>
          <a:prstGeom prst="rect">
            <a:avLst/>
          </a:prstGeom>
          <a:noFill/>
        </p:spPr>
        <p:txBody>
          <a:bodyPr wrap="square">
            <a:spAutoFit/>
          </a:bodyPr>
          <a:lstStyle/>
          <a:p>
            <a:pPr algn="l">
              <a:spcAft>
                <a:spcPts val="179"/>
              </a:spcAft>
              <a:defRPr sz="900" b="0">
                <a:solidFill>
                  <a:srgbClr val="8A8A8A"/>
                </a:solidFill>
                <a:latin typeface="Microsoft YaHei"/>
              </a:defRPr>
            </a:pPr>
            <a:r>
              <a:t>⚠ K-P 模型为幂律形式，严格适用于释放初期 (Mₜ/M∞ &lt; 0.6)，不应外推至实验时限外</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spcAft>
                <a:spcPts val="519"/>
              </a:spcAft>
              <a:defRPr sz="2600" b="1">
                <a:solidFill>
                  <a:srgbClr val="1A1A1A"/>
                </a:solidFill>
                <a:latin typeface="Microsoft YaHei"/>
              </a:defRPr>
            </a:pPr>
            <a:r>
              <a:t>ADE 分段模型：R² = 0.9939，erfc 拖尾贡献 47% 信号</a:t>
            </a:r>
          </a:p>
        </p:txBody>
      </p:sp>
      <p:cxnSp>
        <p:nvCxnSpPr>
          <p:cNvPr id="4" name="Connector 3"/>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247120" y="6446520"/>
            <a:ext cx="731520" cy="274320"/>
          </a:xfrm>
          <a:prstGeom prst="rect">
            <a:avLst/>
          </a:prstGeom>
          <a:noFill/>
        </p:spPr>
        <p:txBody>
          <a:bodyPr wrap="square">
            <a:spAutoFit/>
          </a:bodyPr>
          <a:lstStyle/>
          <a:p>
            <a:pPr algn="r">
              <a:spcAft>
                <a:spcPts val="159"/>
              </a:spcAft>
              <a:defRPr sz="800" b="0">
                <a:solidFill>
                  <a:srgbClr val="8A8A8A"/>
                </a:solidFill>
                <a:latin typeface="Microsoft YaHei"/>
              </a:defRPr>
            </a:pPr>
            <a:r>
              <a:t>9/14</a:t>
            </a:r>
          </a:p>
        </p:txBody>
      </p:sp>
      <p:sp>
        <p:nvSpPr>
          <p:cNvPr id="6" name="TextBox 5"/>
          <p:cNvSpPr txBox="1"/>
          <p:nvPr/>
        </p:nvSpPr>
        <p:spPr>
          <a:xfrm>
            <a:off x="548640" y="1371600"/>
            <a:ext cx="6400800" cy="320040"/>
          </a:xfrm>
          <a:prstGeom prst="rect">
            <a:avLst/>
          </a:prstGeom>
          <a:noFill/>
        </p:spPr>
        <p:txBody>
          <a:bodyPr wrap="square">
            <a:spAutoFit/>
          </a:bodyPr>
          <a:lstStyle/>
          <a:p>
            <a:pPr algn="l">
              <a:spcAft>
                <a:spcPts val="300"/>
              </a:spcAft>
              <a:defRPr sz="1500" b="1">
                <a:solidFill>
                  <a:srgbClr val="2B5C8A"/>
                </a:solidFill>
                <a:latin typeface="Microsoft YaHei"/>
              </a:defRPr>
            </a:pPr>
            <a:r>
              <a:t>分段对流-弥散模型 (tanh 平滑过渡)</a:t>
            </a:r>
          </a:p>
        </p:txBody>
      </p:sp>
      <p:sp>
        <p:nvSpPr>
          <p:cNvPr id="7" name="TextBox 6"/>
          <p:cNvSpPr txBox="1"/>
          <p:nvPr/>
        </p:nvSpPr>
        <p:spPr>
          <a:xfrm>
            <a:off x="548640" y="1737360"/>
            <a:ext cx="10972800" cy="457200"/>
          </a:xfrm>
          <a:prstGeom prst="rect">
            <a:avLst/>
          </a:prstGeom>
          <a:noFill/>
        </p:spPr>
        <p:txBody>
          <a:bodyPr wrap="square">
            <a:spAutoFit/>
          </a:bodyPr>
          <a:lstStyle/>
          <a:p>
            <a:pPr algn="l">
              <a:spcAft>
                <a:spcPts val="319"/>
              </a:spcAft>
              <a:defRPr sz="1600" b="1">
                <a:solidFill>
                  <a:srgbClr val="1A1A1A"/>
                </a:solidFill>
                <a:latin typeface="Microsoft YaHei"/>
              </a:defRPr>
            </a:pPr>
            <a:r>
              <a:t>C(t) = cb + A·C_rise(t) + a·C_fall(t)     (tanh 权重函数平滑拼接)</a:t>
            </a:r>
          </a:p>
        </p:txBody>
      </p:sp>
      <p:sp>
        <p:nvSpPr>
          <p:cNvPr id="8" name="TextBox 7"/>
          <p:cNvSpPr txBox="1"/>
          <p:nvPr/>
        </p:nvSpPr>
        <p:spPr>
          <a:xfrm>
            <a:off x="548640" y="2148840"/>
            <a:ext cx="10972800" cy="274320"/>
          </a:xfrm>
          <a:prstGeom prst="rect">
            <a:avLst/>
          </a:prstGeom>
          <a:noFill/>
        </p:spPr>
        <p:txBody>
          <a:bodyPr wrap="square">
            <a:spAutoFit/>
          </a:bodyPr>
          <a:lstStyle/>
          <a:p>
            <a:pPr algn="l">
              <a:spcAft>
                <a:spcPts val="219"/>
              </a:spcAft>
              <a:defRPr sz="1100" b="0">
                <a:solidFill>
                  <a:srgbClr val="8A8A8A"/>
                </a:solidFill>
                <a:latin typeface="Microsoft YaHei"/>
              </a:defRPr>
            </a:pPr>
            <a:r>
              <a:t>C_rise: ADE 瞬时脉冲解 (Gaussian 形式) — 关井积蓄示踪剂团  |  C_fall: ADE 连续源解 (erfc 拖尾) — 基质扩散控制持续释放</a:t>
            </a:r>
          </a:p>
        </p:txBody>
      </p:sp>
      <p:graphicFrame>
        <p:nvGraphicFramePr>
          <p:cNvPr id="9" name="Table 8"/>
          <p:cNvGraphicFramePr>
            <a:graphicFrameLocks noGrp="1"/>
          </p:cNvGraphicFramePr>
          <p:nvPr/>
        </p:nvGraphicFramePr>
        <p:xfrm>
          <a:off x="548640" y="2560320"/>
          <a:ext cx="8686800" cy="2377440"/>
        </p:xfrm>
        <a:graphic>
          <a:graphicData uri="http://schemas.openxmlformats.org/drawingml/2006/table">
            <a:tbl>
              <a:tblPr firstRow="1" bandRow="1">
                <a:tableStyleId>{5C22544A-7EE6-4342-B048-85BDC9FD1C3A}</a:tableStyleId>
              </a:tblPr>
              <a:tblGrid>
                <a:gridCol w="2171700"/>
                <a:gridCol w="2171700"/>
                <a:gridCol w="2171700"/>
                <a:gridCol w="2171700"/>
              </a:tblGrid>
              <a:tr h="339634">
                <a:tc>
                  <a:txBody>
                    <a:bodyPr/>
                    <a:lstStyle/>
                    <a:p>
                      <a:pPr>
                        <a:defRPr sz="1100" b="1">
                          <a:solidFill>
                            <a:srgbClr val="FFFFFF"/>
                          </a:solidFill>
                          <a:latin typeface="Microsoft YaHei"/>
                        </a:defRPr>
                      </a:pPr>
                      <a:r>
                        <a:t>参数</a:t>
                      </a:r>
                    </a:p>
                  </a:txBody>
                  <a:tcPr>
                    <a:solidFill>
                      <a:srgbClr val="2B5C8A"/>
                    </a:solidFill>
                  </a:tcPr>
                </a:tc>
                <a:tc>
                  <a:txBody>
                    <a:bodyPr/>
                    <a:lstStyle/>
                    <a:p>
                      <a:pPr>
                        <a:defRPr sz="1100" b="1">
                          <a:solidFill>
                            <a:srgbClr val="FFFFFF"/>
                          </a:solidFill>
                          <a:latin typeface="Microsoft YaHei"/>
                        </a:defRPr>
                      </a:pPr>
                      <a:r>
                        <a:t>拟合值</a:t>
                      </a:r>
                    </a:p>
                  </a:txBody>
                  <a:tcPr>
                    <a:solidFill>
                      <a:srgbClr val="2B5C8A"/>
                    </a:solidFill>
                  </a:tcPr>
                </a:tc>
                <a:tc>
                  <a:txBody>
                    <a:bodyPr/>
                    <a:lstStyle/>
                    <a:p>
                      <a:pPr>
                        <a:defRPr sz="1100" b="1">
                          <a:solidFill>
                            <a:srgbClr val="FFFFFF"/>
                          </a:solidFill>
                          <a:latin typeface="Microsoft YaHei"/>
                        </a:defRPr>
                      </a:pPr>
                      <a:r>
                        <a:t>参考值/标准</a:t>
                      </a:r>
                    </a:p>
                  </a:txBody>
                  <a:tcPr>
                    <a:solidFill>
                      <a:srgbClr val="2B5C8A"/>
                    </a:solidFill>
                  </a:tcPr>
                </a:tc>
                <a:tc>
                  <a:txBody>
                    <a:bodyPr/>
                    <a:lstStyle/>
                    <a:p>
                      <a:pPr>
                        <a:defRPr sz="1100" b="1">
                          <a:solidFill>
                            <a:srgbClr val="FFFFFF"/>
                          </a:solidFill>
                          <a:latin typeface="Microsoft YaHei"/>
                        </a:defRPr>
                      </a:pPr>
                      <a:r>
                        <a:t>验证</a:t>
                      </a:r>
                    </a:p>
                  </a:txBody>
                  <a:tcPr>
                    <a:solidFill>
                      <a:srgbClr val="2B5C8A"/>
                    </a:solidFill>
                  </a:tcPr>
                </a:tc>
              </a:tr>
              <a:tr h="339634">
                <a:tc>
                  <a:txBody>
                    <a:bodyPr/>
                    <a:lstStyle/>
                    <a:p>
                      <a:pPr>
                        <a:defRPr sz="1100">
                          <a:solidFill>
                            <a:srgbClr val="333333"/>
                          </a:solidFill>
                          <a:latin typeface="Microsoft YaHei"/>
                        </a:defRPr>
                      </a:pPr>
                      <a:r>
                        <a:t>R²</a:t>
                      </a:r>
                    </a:p>
                  </a:txBody>
                  <a:tcPr/>
                </a:tc>
                <a:tc>
                  <a:txBody>
                    <a:bodyPr/>
                    <a:lstStyle/>
                    <a:p>
                      <a:pPr>
                        <a:defRPr sz="1100">
                          <a:solidFill>
                            <a:srgbClr val="333333"/>
                          </a:solidFill>
                          <a:latin typeface="Microsoft YaHei"/>
                        </a:defRPr>
                      </a:pPr>
                      <a:r>
                        <a:t>0.9939</a:t>
                      </a:r>
                    </a:p>
                  </a:txBody>
                  <a:tcPr/>
                </a:tc>
                <a:tc>
                  <a:txBody>
                    <a:bodyPr/>
                    <a:lstStyle/>
                    <a:p>
                      <a:pPr>
                        <a:defRPr sz="1100">
                          <a:solidFill>
                            <a:srgbClr val="333333"/>
                          </a:solidFill>
                          <a:latin typeface="Microsoft YaHei"/>
                        </a:defRPr>
                      </a:pPr>
                      <a:r>
                        <a:t>—</a:t>
                      </a:r>
                    </a:p>
                  </a:txBody>
                  <a:tcPr/>
                </a:tc>
                <a:tc>
                  <a:txBody>
                    <a:bodyPr/>
                    <a:lstStyle/>
                    <a:p>
                      <a:pPr>
                        <a:defRPr sz="1100">
                          <a:solidFill>
                            <a:srgbClr val="333333"/>
                          </a:solidFill>
                          <a:latin typeface="Microsoft YaHei"/>
                        </a:defRPr>
                      </a:pPr>
                      <a:r>
                        <a:t>—</a:t>
                      </a:r>
                    </a:p>
                  </a:txBody>
                  <a:tcPr/>
                </a:tc>
              </a:tr>
              <a:tr h="339634">
                <a:tc>
                  <a:txBody>
                    <a:bodyPr/>
                    <a:lstStyle/>
                    <a:p>
                      <a:pPr>
                        <a:defRPr sz="1100">
                          <a:solidFill>
                            <a:srgbClr val="333333"/>
                          </a:solidFill>
                          <a:latin typeface="Microsoft YaHei"/>
                        </a:defRPr>
                      </a:pPr>
                      <a:r>
                        <a:t>RMSE</a:t>
                      </a:r>
                    </a:p>
                  </a:txBody>
                  <a:tcPr/>
                </a:tc>
                <a:tc>
                  <a:txBody>
                    <a:bodyPr/>
                    <a:lstStyle/>
                    <a:p>
                      <a:pPr>
                        <a:defRPr sz="1100">
                          <a:solidFill>
                            <a:srgbClr val="333333"/>
                          </a:solidFill>
                          <a:latin typeface="Microsoft YaHei"/>
                        </a:defRPr>
                      </a:pPr>
                      <a:r>
                        <a:t>0.0210</a:t>
                      </a:r>
                    </a:p>
                  </a:txBody>
                  <a:tcPr/>
                </a:tc>
                <a:tc>
                  <a:txBody>
                    <a:bodyPr/>
                    <a:lstStyle/>
                    <a:p>
                      <a:pPr>
                        <a:defRPr sz="1100">
                          <a:solidFill>
                            <a:srgbClr val="333333"/>
                          </a:solidFill>
                          <a:latin typeface="Microsoft YaHei"/>
                        </a:defRPr>
                      </a:pPr>
                      <a:r>
                        <a:t>—</a:t>
                      </a:r>
                    </a:p>
                  </a:txBody>
                  <a:tcPr/>
                </a:tc>
                <a:tc>
                  <a:txBody>
                    <a:bodyPr/>
                    <a:lstStyle/>
                    <a:p>
                      <a:pPr>
                        <a:defRPr sz="1100">
                          <a:solidFill>
                            <a:srgbClr val="333333"/>
                          </a:solidFill>
                          <a:latin typeface="Microsoft YaHei"/>
                        </a:defRPr>
                      </a:pPr>
                      <a:r>
                        <a:t>残差 &lt; ±2σ</a:t>
                      </a:r>
                    </a:p>
                  </a:txBody>
                  <a:tcPr/>
                </a:tc>
              </a:tr>
              <a:tr h="339634">
                <a:tc>
                  <a:txBody>
                    <a:bodyPr/>
                    <a:lstStyle/>
                    <a:p>
                      <a:pPr>
                        <a:defRPr sz="1100">
                          <a:solidFill>
                            <a:srgbClr val="333333"/>
                          </a:solidFill>
                          <a:latin typeface="Microsoft YaHei"/>
                        </a:defRPr>
                      </a:pPr>
                      <a:r>
                        <a:t>拟合流量 Q</a:t>
                      </a:r>
                    </a:p>
                  </a:txBody>
                  <a:tcPr/>
                </a:tc>
                <a:tc>
                  <a:txBody>
                    <a:bodyPr/>
                    <a:lstStyle/>
                    <a:p>
                      <a:pPr>
                        <a:defRPr sz="1100">
                          <a:solidFill>
                            <a:srgbClr val="333333"/>
                          </a:solidFill>
                          <a:latin typeface="Microsoft YaHei"/>
                        </a:defRPr>
                      </a:pPr>
                      <a:r>
                        <a:t>0.46 mL/min</a:t>
                      </a:r>
                    </a:p>
                  </a:txBody>
                  <a:tcPr/>
                </a:tc>
                <a:tc>
                  <a:txBody>
                    <a:bodyPr/>
                    <a:lstStyle/>
                    <a:p>
                      <a:pPr>
                        <a:defRPr sz="1100">
                          <a:solidFill>
                            <a:srgbClr val="333333"/>
                          </a:solidFill>
                          <a:latin typeface="Microsoft YaHei"/>
                        </a:defRPr>
                      </a:pPr>
                      <a:r>
                        <a:t>泵设 0.50 mL/min</a:t>
                      </a:r>
                    </a:p>
                  </a:txBody>
                  <a:tcPr/>
                </a:tc>
                <a:tc>
                  <a:txBody>
                    <a:bodyPr/>
                    <a:lstStyle/>
                    <a:p>
                      <a:pPr>
                        <a:defRPr sz="1100">
                          <a:solidFill>
                            <a:srgbClr val="333333"/>
                          </a:solidFill>
                          <a:latin typeface="Microsoft YaHei"/>
                        </a:defRPr>
                      </a:pPr>
                      <a:r>
                        <a:t>误差 8% ✓</a:t>
                      </a:r>
                    </a:p>
                  </a:txBody>
                  <a:tcPr/>
                </a:tc>
              </a:tr>
              <a:tr h="339634">
                <a:tc>
                  <a:txBody>
                    <a:bodyPr/>
                    <a:lstStyle/>
                    <a:p>
                      <a:pPr>
                        <a:defRPr sz="1100">
                          <a:solidFill>
                            <a:srgbClr val="333333"/>
                          </a:solidFill>
                          <a:latin typeface="Microsoft YaHei"/>
                        </a:defRPr>
                      </a:pPr>
                      <a:r>
                        <a:t>平均停留时间 MRT</a:t>
                      </a:r>
                    </a:p>
                  </a:txBody>
                  <a:tcPr/>
                </a:tc>
                <a:tc>
                  <a:txBody>
                    <a:bodyPr/>
                    <a:lstStyle/>
                    <a:p>
                      <a:pPr>
                        <a:defRPr sz="1100">
                          <a:solidFill>
                            <a:srgbClr val="333333"/>
                          </a:solidFill>
                          <a:latin typeface="Microsoft YaHei"/>
                        </a:defRPr>
                      </a:pPr>
                      <a:r>
                        <a:t>37.4 min</a:t>
                      </a:r>
                    </a:p>
                  </a:txBody>
                  <a:tcPr/>
                </a:tc>
                <a:tc>
                  <a:txBody>
                    <a:bodyPr/>
                    <a:lstStyle/>
                    <a:p>
                      <a:pPr>
                        <a:defRPr sz="1100">
                          <a:solidFill>
                            <a:srgbClr val="333333"/>
                          </a:solidFill>
                          <a:latin typeface="Microsoft YaHei"/>
                        </a:defRPr>
                      </a:pPr>
                      <a:r>
                        <a:t>对流时间 x/v = 38.6 min</a:t>
                      </a:r>
                    </a:p>
                  </a:txBody>
                  <a:tcPr/>
                </a:tc>
                <a:tc>
                  <a:txBody>
                    <a:bodyPr/>
                    <a:lstStyle/>
                    <a:p>
                      <a:pPr>
                        <a:defRPr sz="1100">
                          <a:solidFill>
                            <a:srgbClr val="333333"/>
                          </a:solidFill>
                          <a:latin typeface="Microsoft YaHei"/>
                        </a:defRPr>
                      </a:pPr>
                      <a:r>
                        <a:t>比值 0.967 ✓</a:t>
                      </a:r>
                    </a:p>
                  </a:txBody>
                  <a:tcPr/>
                </a:tc>
              </a:tr>
              <a:tr h="339634">
                <a:tc>
                  <a:txBody>
                    <a:bodyPr/>
                    <a:lstStyle/>
                    <a:p>
                      <a:pPr>
                        <a:defRPr sz="1100">
                          <a:solidFill>
                            <a:srgbClr val="333333"/>
                          </a:solidFill>
                          <a:latin typeface="Microsoft YaHei"/>
                        </a:defRPr>
                      </a:pPr>
                      <a:r>
                        <a:t>Peclet 数</a:t>
                      </a:r>
                    </a:p>
                  </a:txBody>
                  <a:tcPr/>
                </a:tc>
                <a:tc>
                  <a:txBody>
                    <a:bodyPr/>
                    <a:lstStyle/>
                    <a:p>
                      <a:pPr>
                        <a:defRPr sz="1100">
                          <a:solidFill>
                            <a:srgbClr val="333333"/>
                          </a:solidFill>
                          <a:latin typeface="Microsoft YaHei"/>
                        </a:defRPr>
                      </a:pPr>
                      <a:r>
                        <a:t>0.934 (≈1)</a:t>
                      </a:r>
                    </a:p>
                  </a:txBody>
                  <a:tcPr/>
                </a:tc>
                <a:tc>
                  <a:txBody>
                    <a:bodyPr/>
                    <a:lstStyle/>
                    <a:p>
                      <a:pPr>
                        <a:defRPr sz="1100">
                          <a:solidFill>
                            <a:srgbClr val="333333"/>
                          </a:solidFill>
                          <a:latin typeface="Microsoft YaHei"/>
                        </a:defRPr>
                      </a:pPr>
                      <a:r>
                        <a:t>Pe &gt; 1 = 对流主导</a:t>
                      </a:r>
                    </a:p>
                  </a:txBody>
                  <a:tcPr/>
                </a:tc>
                <a:tc>
                  <a:txBody>
                    <a:bodyPr/>
                    <a:lstStyle/>
                    <a:p>
                      <a:pPr>
                        <a:defRPr sz="1100">
                          <a:solidFill>
                            <a:srgbClr val="333333"/>
                          </a:solidFill>
                          <a:latin typeface="Microsoft YaHei"/>
                        </a:defRPr>
                      </a:pPr>
                      <a:r>
                        <a:t>过渡态，与缓释一致 ✓</a:t>
                      </a:r>
                    </a:p>
                  </a:txBody>
                  <a:tcPr/>
                </a:tc>
              </a:tr>
              <a:tr h="339636">
                <a:tc>
                  <a:txBody>
                    <a:bodyPr/>
                    <a:lstStyle/>
                    <a:p>
                      <a:pPr>
                        <a:defRPr sz="1100" b="1">
                          <a:solidFill>
                            <a:srgbClr val="C05C2C"/>
                          </a:solidFill>
                          <a:latin typeface="Microsoft YaHei"/>
                        </a:defRPr>
                      </a:pPr>
                      <a:r>
                        <a:t>erfc 拖尾占比</a:t>
                      </a:r>
                    </a:p>
                  </a:txBody>
                  <a:tcPr>
                    <a:solidFill>
                      <a:srgbClr val="F5F3EF"/>
                    </a:solidFill>
                  </a:tcPr>
                </a:tc>
                <a:tc>
                  <a:txBody>
                    <a:bodyPr/>
                    <a:lstStyle/>
                    <a:p>
                      <a:pPr>
                        <a:defRPr sz="1100" b="1">
                          <a:solidFill>
                            <a:srgbClr val="C05C2C"/>
                          </a:solidFill>
                          <a:latin typeface="Microsoft YaHei"/>
                        </a:defRPr>
                      </a:pPr>
                      <a:r>
                        <a:t>47%</a:t>
                      </a:r>
                    </a:p>
                  </a:txBody>
                  <a:tcPr>
                    <a:solidFill>
                      <a:srgbClr val="F5F3EF"/>
                    </a:solidFill>
                  </a:tcPr>
                </a:tc>
                <a:tc>
                  <a:txBody>
                    <a:bodyPr/>
                    <a:lstStyle/>
                    <a:p>
                      <a:pPr>
                        <a:defRPr sz="1100" b="1">
                          <a:solidFill>
                            <a:srgbClr val="C05C2C"/>
                          </a:solidFill>
                          <a:latin typeface="Microsoft YaHei"/>
                        </a:defRPr>
                      </a:pPr>
                      <a:r>
                        <a:t>—</a:t>
                      </a:r>
                    </a:p>
                  </a:txBody>
                  <a:tcPr>
                    <a:solidFill>
                      <a:srgbClr val="F5F3EF"/>
                    </a:solidFill>
                  </a:tcPr>
                </a:tc>
                <a:tc>
                  <a:txBody>
                    <a:bodyPr/>
                    <a:lstStyle/>
                    <a:p>
                      <a:pPr>
                        <a:defRPr sz="1100" b="1">
                          <a:solidFill>
                            <a:srgbClr val="C05C2C"/>
                          </a:solidFill>
                          <a:latin typeface="Microsoft YaHei"/>
                        </a:defRPr>
                      </a:pPr>
                      <a:r>
                        <a:t>长期监测的物理基础</a:t>
                      </a:r>
                    </a:p>
                  </a:txBody>
                  <a:tcPr>
                    <a:solidFill>
                      <a:srgbClr val="F5F3EF"/>
                    </a:solidFill>
                  </a:tcPr>
                </a:tc>
              </a:tr>
            </a:tbl>
          </a:graphicData>
        </a:graphic>
      </p:graphicFrame>
      <p:sp>
        <p:nvSpPr>
          <p:cNvPr id="10" name="Rectangle 9"/>
          <p:cNvSpPr/>
          <p:nvPr/>
        </p:nvSpPr>
        <p:spPr>
          <a:xfrm>
            <a:off x="9601200" y="2560320"/>
            <a:ext cx="2103120" cy="237744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0" y="2834640"/>
            <a:ext cx="1737360" cy="731520"/>
          </a:xfrm>
          <a:prstGeom prst="rect">
            <a:avLst/>
          </a:prstGeom>
          <a:noFill/>
        </p:spPr>
        <p:txBody>
          <a:bodyPr wrap="square">
            <a:spAutoFit/>
          </a:bodyPr>
          <a:lstStyle/>
          <a:p>
            <a:pPr algn="ctr">
              <a:spcAft>
                <a:spcPts val="719"/>
              </a:spcAft>
              <a:defRPr sz="3600" b="1">
                <a:solidFill>
                  <a:srgbClr val="C05C2C"/>
                </a:solidFill>
                <a:latin typeface="Microsoft YaHei"/>
              </a:defRPr>
            </a:pPr>
            <a:r>
              <a:t>47%</a:t>
            </a:r>
          </a:p>
        </p:txBody>
      </p:sp>
      <p:sp>
        <p:nvSpPr>
          <p:cNvPr id="12" name="TextBox 11"/>
          <p:cNvSpPr txBox="1"/>
          <p:nvPr/>
        </p:nvSpPr>
        <p:spPr>
          <a:xfrm>
            <a:off x="9784080" y="3657600"/>
            <a:ext cx="1737360" cy="731520"/>
          </a:xfrm>
          <a:prstGeom prst="rect">
            <a:avLst/>
          </a:prstGeom>
          <a:noFill/>
        </p:spPr>
        <p:txBody>
          <a:bodyPr wrap="square">
            <a:spAutoFit/>
          </a:bodyPr>
          <a:lstStyle/>
          <a:p>
            <a:pPr algn="ctr">
              <a:spcAft>
                <a:spcPts val="219"/>
              </a:spcAft>
              <a:defRPr sz="1100" b="0">
                <a:solidFill>
                  <a:srgbClr val="333333"/>
                </a:solidFill>
                <a:latin typeface="Microsoft YaHei"/>
              </a:defRPr>
            </a:pPr>
            <a:r>
              <a:t>erfc 拖尾</a:t>
            </a:r>
            <a:br/>
            <a:r>
              <a:t>信号占比</a:t>
            </a:r>
          </a:p>
        </p:txBody>
      </p:sp>
      <p:sp>
        <p:nvSpPr>
          <p:cNvPr id="13" name="TextBox 12"/>
          <p:cNvSpPr txBox="1"/>
          <p:nvPr/>
        </p:nvSpPr>
        <p:spPr>
          <a:xfrm>
            <a:off x="9784080" y="4297680"/>
            <a:ext cx="1737360" cy="457200"/>
          </a:xfrm>
          <a:prstGeom prst="rect">
            <a:avLst/>
          </a:prstGeom>
          <a:noFill/>
        </p:spPr>
        <p:txBody>
          <a:bodyPr wrap="square">
            <a:spAutoFit/>
          </a:bodyPr>
          <a:lstStyle/>
          <a:p>
            <a:pPr algn="ctr">
              <a:spcAft>
                <a:spcPts val="179"/>
              </a:spcAft>
              <a:defRPr sz="900" b="0">
                <a:solidFill>
                  <a:srgbClr val="8A8A8A"/>
                </a:solidFill>
                <a:latin typeface="Microsoft YaHei"/>
              </a:defRPr>
            </a:pPr>
            <a:r>
              <a:t>≈ 一半信号来自</a:t>
            </a:r>
            <a:br/>
            <a:r>
              <a:t>基质缓释 🎯</a:t>
            </a:r>
          </a:p>
        </p:txBody>
      </p:sp>
      <p:sp>
        <p:nvSpPr>
          <p:cNvPr id="14" name="TextBox 13"/>
          <p:cNvSpPr txBox="1"/>
          <p:nvPr/>
        </p:nvSpPr>
        <p:spPr>
          <a:xfrm>
            <a:off x="548640" y="5212080"/>
            <a:ext cx="10972800" cy="457200"/>
          </a:xfrm>
          <a:prstGeom prst="rect">
            <a:avLst/>
          </a:prstGeom>
          <a:noFill/>
        </p:spPr>
        <p:txBody>
          <a:bodyPr wrap="square">
            <a:spAutoFit/>
          </a:bodyPr>
          <a:lstStyle/>
          <a:p>
            <a:pPr algn="l">
              <a:spcAft>
                <a:spcPts val="259"/>
              </a:spcAft>
              <a:defRPr sz="1300" b="1">
                <a:solidFill>
                  <a:srgbClr val="2B5C8A"/>
                </a:solidFill>
                <a:latin typeface="Microsoft YaHei"/>
              </a:defRPr>
            </a:pPr>
            <a:r>
              <a:t>▸ 47% 的意义：基质扩散控制释放是长期监测的物理基础 —— 即使在流动条件下，非 Fick 机制仍主导示踪传输</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spcAft>
                <a:spcPts val="519"/>
              </a:spcAft>
              <a:defRPr sz="2600" b="1">
                <a:solidFill>
                  <a:srgbClr val="1A1A1A"/>
                </a:solidFill>
                <a:latin typeface="Microsoft YaHei"/>
              </a:defRPr>
            </a:pPr>
            <a:r>
              <a:t>两相流验证：示踪剂通量 FO 定量追踪油相产量</a:t>
            </a:r>
          </a:p>
        </p:txBody>
      </p:sp>
      <p:cxnSp>
        <p:nvCxnSpPr>
          <p:cNvPr id="4" name="Connector 3"/>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247120" y="6446520"/>
            <a:ext cx="731520" cy="274320"/>
          </a:xfrm>
          <a:prstGeom prst="rect">
            <a:avLst/>
          </a:prstGeom>
          <a:noFill/>
        </p:spPr>
        <p:txBody>
          <a:bodyPr wrap="square">
            <a:spAutoFit/>
          </a:bodyPr>
          <a:lstStyle/>
          <a:p>
            <a:pPr algn="r">
              <a:spcAft>
                <a:spcPts val="159"/>
              </a:spcAft>
              <a:defRPr sz="800" b="0">
                <a:solidFill>
                  <a:srgbClr val="8A8A8A"/>
                </a:solidFill>
                <a:latin typeface="Microsoft YaHei"/>
              </a:defRPr>
            </a:pPr>
            <a:r>
              <a:t>10/14</a:t>
            </a:r>
          </a:p>
        </p:txBody>
      </p:sp>
      <p:sp>
        <p:nvSpPr>
          <p:cNvPr id="6" name="TextBox 5"/>
          <p:cNvSpPr txBox="1"/>
          <p:nvPr/>
        </p:nvSpPr>
        <p:spPr>
          <a:xfrm>
            <a:off x="548640" y="1371600"/>
            <a:ext cx="6400800" cy="320040"/>
          </a:xfrm>
          <a:prstGeom prst="rect">
            <a:avLst/>
          </a:prstGeom>
          <a:noFill/>
        </p:spPr>
        <p:txBody>
          <a:bodyPr wrap="square">
            <a:spAutoFit/>
          </a:bodyPr>
          <a:lstStyle/>
          <a:p>
            <a:pPr algn="l">
              <a:spcAft>
                <a:spcPts val="280"/>
              </a:spcAft>
              <a:defRPr sz="1400" b="1">
                <a:solidFill>
                  <a:srgbClr val="2B5C8A"/>
                </a:solidFill>
                <a:latin typeface="Microsoft YaHei"/>
              </a:defRPr>
            </a:pPr>
            <a:r>
              <a:t>实验条件</a:t>
            </a:r>
          </a:p>
        </p:txBody>
      </p:sp>
      <p:sp>
        <p:nvSpPr>
          <p:cNvPr id="7" name="TextBox 6"/>
          <p:cNvSpPr txBox="1"/>
          <p:nvPr/>
        </p:nvSpPr>
        <p:spPr>
          <a:xfrm>
            <a:off x="548640" y="1737360"/>
            <a:ext cx="10972800" cy="457200"/>
          </a:xfrm>
          <a:prstGeom prst="rect">
            <a:avLst/>
          </a:prstGeom>
          <a:noFill/>
        </p:spPr>
        <p:txBody>
          <a:bodyPr wrap="square">
            <a:spAutoFit/>
          </a:bodyPr>
          <a:lstStyle/>
          <a:p>
            <a:pPr algn="l">
              <a:spcAft>
                <a:spcPts val="239"/>
              </a:spcAft>
              <a:defRPr sz="1200" b="0">
                <a:solidFill>
                  <a:srgbClr val="333333"/>
                </a:solidFill>
                <a:latin typeface="Microsoft YaHei"/>
              </a:defRPr>
            </a:pPr>
            <a:r>
              <a:t>• 油水比 (OWR): 4:1 / 1:1 / 1:4    • 总两相流量: 0.1 / 0.2 / 0.3 / 0.4 mL/min    • 稳态连续生产（无闷井）</a:t>
            </a:r>
          </a:p>
        </p:txBody>
      </p:sp>
      <p:sp>
        <p:nvSpPr>
          <p:cNvPr id="8" name="TextBox 7"/>
          <p:cNvSpPr txBox="1"/>
          <p:nvPr/>
        </p:nvSpPr>
        <p:spPr>
          <a:xfrm>
            <a:off x="548640" y="2468880"/>
            <a:ext cx="5029200" cy="274320"/>
          </a:xfrm>
          <a:prstGeom prst="rect">
            <a:avLst/>
          </a:prstGeom>
          <a:noFill/>
        </p:spPr>
        <p:txBody>
          <a:bodyPr wrap="square">
            <a:spAutoFit/>
          </a:bodyPr>
          <a:lstStyle/>
          <a:p>
            <a:pPr algn="l">
              <a:spcAft>
                <a:spcPts val="259"/>
              </a:spcAft>
              <a:defRPr sz="1300" b="1">
                <a:solidFill>
                  <a:srgbClr val="C05C2C"/>
                </a:solidFill>
                <a:latin typeface="Microsoft YaHei"/>
              </a:defRPr>
            </a:pPr>
            <a:r>
              <a:t>示踪剂浓度 vs 总流量 &amp; OWR</a:t>
            </a:r>
          </a:p>
        </p:txBody>
      </p:sp>
      <p:sp>
        <p:nvSpPr>
          <p:cNvPr id="9" name="TextBox 8"/>
          <p:cNvSpPr txBox="1"/>
          <p:nvPr/>
        </p:nvSpPr>
        <p:spPr>
          <a:xfrm>
            <a:off x="548640" y="2788920"/>
            <a:ext cx="5029200" cy="1371600"/>
          </a:xfrm>
          <a:prstGeom prst="rect">
            <a:avLst/>
          </a:prstGeom>
          <a:noFill/>
        </p:spPr>
        <p:txBody>
          <a:bodyPr wrap="square">
            <a:spAutoFit/>
          </a:bodyPr>
          <a:lstStyle/>
          <a:p>
            <a:pPr algn="l">
              <a:spcAft>
                <a:spcPts val="239"/>
              </a:spcAft>
              <a:defRPr sz="1200" b="0">
                <a:solidFill>
                  <a:srgbClr val="333333"/>
                </a:solidFill>
                <a:latin typeface="Microsoft YaHei"/>
              </a:defRPr>
            </a:pPr>
            <a:r>
              <a:t>• 浓度随总流量增大而降低</a:t>
            </a:r>
            <a:br/>
            <a:r>
              <a:t>  → 稀释效应：单位体积接触时间缩短</a:t>
            </a:r>
            <a:br/>
            <a:br/>
            <a:r>
              <a:t>• 浓度与 OWR 关系不大</a:t>
            </a:r>
            <a:br/>
            <a:r>
              <a:t>  → 但 FO 随 OWR 增大而升高</a:t>
            </a:r>
            <a:br/>
            <a:br/>
            <a:r>
              <a:t>• FO 与总流量无关</a:t>
            </a:r>
            <a:br/>
            <a:r>
              <a:t>  → 恒定 OWR 下接触面积不变</a:t>
            </a:r>
          </a:p>
        </p:txBody>
      </p:sp>
      <p:sp>
        <p:nvSpPr>
          <p:cNvPr id="10" name="TextBox 9"/>
          <p:cNvSpPr txBox="1"/>
          <p:nvPr/>
        </p:nvSpPr>
        <p:spPr>
          <a:xfrm>
            <a:off x="6400800" y="2468880"/>
            <a:ext cx="5029200" cy="274320"/>
          </a:xfrm>
          <a:prstGeom prst="rect">
            <a:avLst/>
          </a:prstGeom>
          <a:noFill/>
        </p:spPr>
        <p:txBody>
          <a:bodyPr wrap="square">
            <a:spAutoFit/>
          </a:bodyPr>
          <a:lstStyle/>
          <a:p>
            <a:pPr algn="l">
              <a:spcAft>
                <a:spcPts val="259"/>
              </a:spcAft>
              <a:defRPr sz="1300" b="1">
                <a:solidFill>
                  <a:srgbClr val="C05C2C"/>
                </a:solidFill>
                <a:latin typeface="Microsoft YaHei"/>
              </a:defRPr>
            </a:pPr>
            <a:r>
              <a:t>归一化 FO ≈ 实际油相流量</a:t>
            </a:r>
          </a:p>
        </p:txBody>
      </p:sp>
      <p:sp>
        <p:nvSpPr>
          <p:cNvPr id="11" name="TextBox 10"/>
          <p:cNvSpPr txBox="1"/>
          <p:nvPr/>
        </p:nvSpPr>
        <p:spPr>
          <a:xfrm>
            <a:off x="6400800" y="2788920"/>
            <a:ext cx="5029200" cy="1371600"/>
          </a:xfrm>
          <a:prstGeom prst="rect">
            <a:avLst/>
          </a:prstGeom>
          <a:noFill/>
        </p:spPr>
        <p:txBody>
          <a:bodyPr wrap="square">
            <a:spAutoFit/>
          </a:bodyPr>
          <a:lstStyle/>
          <a:p>
            <a:pPr algn="l">
              <a:spcAft>
                <a:spcPts val="239"/>
              </a:spcAft>
              <a:defRPr sz="1200" b="0">
                <a:solidFill>
                  <a:srgbClr val="333333"/>
                </a:solidFill>
                <a:latin typeface="Microsoft YaHei"/>
              </a:defRPr>
            </a:pPr>
            <a:r>
              <a:t>• 归一化 FO 以单相油驱稳态 FO</a:t>
            </a:r>
            <a:br/>
            <a:r>
              <a:t>  (3.187 μg/min) 为基准标定</a:t>
            </a:r>
            <a:br/>
            <a:br/>
            <a:r>
              <a:t>• 各 OWR 下 FO 与实际油相流量</a:t>
            </a:r>
            <a:br/>
            <a:r>
              <a:t>  高度吻合 ✓</a:t>
            </a:r>
            <a:br/>
            <a:br/>
            <a:r>
              <a:t>→ 恒定总流量下可从 FO 变化曲线</a:t>
            </a:r>
            <a:br/>
            <a:r>
              <a:t>   量化各段产油量</a:t>
            </a:r>
          </a:p>
        </p:txBody>
      </p:sp>
      <p:sp>
        <p:nvSpPr>
          <p:cNvPr id="12" name="Rectangle 11"/>
          <p:cNvSpPr/>
          <p:nvPr/>
        </p:nvSpPr>
        <p:spPr>
          <a:xfrm>
            <a:off x="548640" y="4572000"/>
            <a:ext cx="11064240" cy="6400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663440"/>
            <a:ext cx="10698480" cy="457200"/>
          </a:xfrm>
          <a:prstGeom prst="rect">
            <a:avLst/>
          </a:prstGeom>
          <a:noFill/>
        </p:spPr>
        <p:txBody>
          <a:bodyPr wrap="square">
            <a:spAutoFit/>
          </a:bodyPr>
          <a:lstStyle/>
          <a:p>
            <a:pPr algn="l">
              <a:spcAft>
                <a:spcPts val="239"/>
              </a:spcAft>
              <a:defRPr sz="1200" b="1">
                <a:solidFill>
                  <a:srgbClr val="1A1A1A"/>
                </a:solidFill>
                <a:latin typeface="Microsoft YaHei"/>
              </a:defRPr>
            </a:pPr>
            <a:r>
              <a:t>FO = 示踪剂通量 = 单位时间通过井口采样点的示踪剂质量 = ESP-T 示踪释放速率</a:t>
            </a:r>
          </a:p>
        </p:txBody>
      </p:sp>
      <p:sp>
        <p:nvSpPr>
          <p:cNvPr id="14" name="TextBox 13"/>
          <p:cNvSpPr txBox="1"/>
          <p:nvPr/>
        </p:nvSpPr>
        <p:spPr>
          <a:xfrm>
            <a:off x="548640" y="5394960"/>
            <a:ext cx="10972800" cy="457200"/>
          </a:xfrm>
          <a:prstGeom prst="rect">
            <a:avLst/>
          </a:prstGeom>
          <a:noFill/>
        </p:spPr>
        <p:txBody>
          <a:bodyPr wrap="square">
            <a:spAutoFit/>
          </a:bodyPr>
          <a:lstStyle/>
          <a:p>
            <a:pPr algn="l">
              <a:spcAft>
                <a:spcPts val="239"/>
              </a:spcAft>
              <a:defRPr sz="1200" b="0">
                <a:solidFill>
                  <a:srgbClr val="2B5C8A"/>
                </a:solidFill>
                <a:latin typeface="Microsoft YaHei"/>
              </a:defRPr>
            </a:pPr>
            <a:r>
              <a:t>▸ 在稳态两相流条件下，可通过 FO 变化曲线量化标记层段的油相流量 → 为分段产量分配提供实践基础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spcAft>
                <a:spcPts val="519"/>
              </a:spcAft>
              <a:defRPr sz="2600" b="1">
                <a:solidFill>
                  <a:srgbClr val="1A1A1A"/>
                </a:solidFill>
                <a:latin typeface="Microsoft YaHei"/>
              </a:defRPr>
            </a:pPr>
            <a:r>
              <a:t>构效关系：从微观结构到宏观性能的完整链条</a:t>
            </a:r>
          </a:p>
        </p:txBody>
      </p:sp>
      <p:cxnSp>
        <p:nvCxnSpPr>
          <p:cNvPr id="4" name="Connector 3"/>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247120" y="6446520"/>
            <a:ext cx="731520" cy="274320"/>
          </a:xfrm>
          <a:prstGeom prst="rect">
            <a:avLst/>
          </a:prstGeom>
          <a:noFill/>
        </p:spPr>
        <p:txBody>
          <a:bodyPr wrap="square">
            <a:spAutoFit/>
          </a:bodyPr>
          <a:lstStyle/>
          <a:p>
            <a:pPr algn="r">
              <a:spcAft>
                <a:spcPts val="159"/>
              </a:spcAft>
              <a:defRPr sz="800" b="0">
                <a:solidFill>
                  <a:srgbClr val="8A8A8A"/>
                </a:solidFill>
                <a:latin typeface="Microsoft YaHei"/>
              </a:defRPr>
            </a:pPr>
            <a:r>
              <a:t>11/14</a:t>
            </a:r>
          </a:p>
        </p:txBody>
      </p:sp>
      <p:sp>
        <p:nvSpPr>
          <p:cNvPr id="6" name="Rectangle 5"/>
          <p:cNvSpPr/>
          <p:nvPr/>
        </p:nvSpPr>
        <p:spPr>
          <a:xfrm>
            <a:off x="274320" y="1645920"/>
            <a:ext cx="1280160" cy="10972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645920"/>
            <a:ext cx="1280160" cy="36576"/>
          </a:xfrm>
          <a:prstGeom prst="rect">
            <a:avLst/>
          </a:prstGeom>
          <a:solidFill>
            <a:srgbClr val="C05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783080"/>
            <a:ext cx="1188720" cy="822960"/>
          </a:xfrm>
          <a:prstGeom prst="rect">
            <a:avLst/>
          </a:prstGeom>
          <a:noFill/>
        </p:spPr>
        <p:txBody>
          <a:bodyPr wrap="square">
            <a:spAutoFit/>
          </a:bodyPr>
          <a:lstStyle/>
          <a:p>
            <a:pPr algn="ctr">
              <a:spcAft>
                <a:spcPts val="200"/>
              </a:spcAft>
              <a:defRPr sz="1000" b="1">
                <a:solidFill>
                  <a:srgbClr val="C05C2C"/>
                </a:solidFill>
                <a:latin typeface="Microsoft YaHei"/>
              </a:defRPr>
            </a:pPr>
            <a:r>
              <a:t>硬脂酸改性</a:t>
            </a:r>
            <a:br/>
            <a:r>
              <a:t>nano-Fe₃O₄@SA</a:t>
            </a:r>
          </a:p>
        </p:txBody>
      </p:sp>
      <p:sp>
        <p:nvSpPr>
          <p:cNvPr id="9" name="TextBox 8"/>
          <p:cNvSpPr txBox="1"/>
          <p:nvPr/>
        </p:nvSpPr>
        <p:spPr>
          <a:xfrm>
            <a:off x="1554480" y="1920240"/>
            <a:ext cx="228600" cy="457200"/>
          </a:xfrm>
          <a:prstGeom prst="rect">
            <a:avLst/>
          </a:prstGeom>
          <a:noFill/>
        </p:spPr>
        <p:txBody>
          <a:bodyPr wrap="square">
            <a:spAutoFit/>
          </a:bodyPr>
          <a:lstStyle/>
          <a:p>
            <a:pPr algn="ctr">
              <a:spcAft>
                <a:spcPts val="319"/>
              </a:spcAft>
              <a:defRPr sz="1600" b="1">
                <a:solidFill>
                  <a:srgbClr val="8A8A8A"/>
                </a:solidFill>
                <a:latin typeface="Microsoft YaHei"/>
              </a:defRPr>
            </a:pPr>
            <a:r>
              <a:t>▸</a:t>
            </a:r>
          </a:p>
        </p:txBody>
      </p:sp>
      <p:sp>
        <p:nvSpPr>
          <p:cNvPr id="10" name="Rectangle 9"/>
          <p:cNvSpPr/>
          <p:nvPr/>
        </p:nvSpPr>
        <p:spPr>
          <a:xfrm>
            <a:off x="1783080" y="1645920"/>
            <a:ext cx="1280160" cy="10972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83080" y="1645920"/>
            <a:ext cx="1280160" cy="36576"/>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783080"/>
            <a:ext cx="1188720" cy="822960"/>
          </a:xfrm>
          <a:prstGeom prst="rect">
            <a:avLst/>
          </a:prstGeom>
          <a:noFill/>
        </p:spPr>
        <p:txBody>
          <a:bodyPr wrap="square">
            <a:spAutoFit/>
          </a:bodyPr>
          <a:lstStyle/>
          <a:p>
            <a:pPr algn="ctr">
              <a:spcAft>
                <a:spcPts val="200"/>
              </a:spcAft>
              <a:defRPr sz="1000" b="1">
                <a:solidFill>
                  <a:srgbClr val="2B5C8A"/>
                </a:solidFill>
                <a:latin typeface="Microsoft YaHei"/>
              </a:defRPr>
            </a:pPr>
            <a:r>
              <a:t>长烷基链</a:t>
            </a:r>
            <a:br/>
            <a:r>
              <a:t>物理缠结</a:t>
            </a:r>
          </a:p>
        </p:txBody>
      </p:sp>
      <p:sp>
        <p:nvSpPr>
          <p:cNvPr id="13" name="TextBox 12"/>
          <p:cNvSpPr txBox="1"/>
          <p:nvPr/>
        </p:nvSpPr>
        <p:spPr>
          <a:xfrm>
            <a:off x="3063239" y="1920240"/>
            <a:ext cx="228600" cy="457200"/>
          </a:xfrm>
          <a:prstGeom prst="rect">
            <a:avLst/>
          </a:prstGeom>
          <a:noFill/>
        </p:spPr>
        <p:txBody>
          <a:bodyPr wrap="square">
            <a:spAutoFit/>
          </a:bodyPr>
          <a:lstStyle/>
          <a:p>
            <a:pPr algn="ctr">
              <a:spcAft>
                <a:spcPts val="319"/>
              </a:spcAft>
              <a:defRPr sz="1600" b="1">
                <a:solidFill>
                  <a:srgbClr val="8A8A8A"/>
                </a:solidFill>
                <a:latin typeface="Microsoft YaHei"/>
              </a:defRPr>
            </a:pPr>
            <a:r>
              <a:t>▸</a:t>
            </a:r>
          </a:p>
        </p:txBody>
      </p:sp>
      <p:sp>
        <p:nvSpPr>
          <p:cNvPr id="14" name="Rectangle 13"/>
          <p:cNvSpPr/>
          <p:nvPr/>
        </p:nvSpPr>
        <p:spPr>
          <a:xfrm>
            <a:off x="3291839" y="1645920"/>
            <a:ext cx="1280160" cy="10972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39" y="1645920"/>
            <a:ext cx="1280160" cy="36576"/>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37559" y="1783080"/>
            <a:ext cx="1188720" cy="822960"/>
          </a:xfrm>
          <a:prstGeom prst="rect">
            <a:avLst/>
          </a:prstGeom>
          <a:noFill/>
        </p:spPr>
        <p:txBody>
          <a:bodyPr wrap="square">
            <a:spAutoFit/>
          </a:bodyPr>
          <a:lstStyle/>
          <a:p>
            <a:pPr algn="ctr">
              <a:spcAft>
                <a:spcPts val="200"/>
              </a:spcAft>
              <a:defRPr sz="1000" b="1">
                <a:solidFill>
                  <a:srgbClr val="2B5C8A"/>
                </a:solidFill>
                <a:latin typeface="Microsoft YaHei"/>
              </a:defRPr>
            </a:pPr>
            <a:r>
              <a:t>纳米团簇</a:t>
            </a:r>
            <a:br/>
            <a:r>
              <a:t>嵌入键合</a:t>
            </a:r>
          </a:p>
        </p:txBody>
      </p:sp>
      <p:sp>
        <p:nvSpPr>
          <p:cNvPr id="17" name="TextBox 16"/>
          <p:cNvSpPr txBox="1"/>
          <p:nvPr/>
        </p:nvSpPr>
        <p:spPr>
          <a:xfrm>
            <a:off x="4572000" y="1920240"/>
            <a:ext cx="228600" cy="457200"/>
          </a:xfrm>
          <a:prstGeom prst="rect">
            <a:avLst/>
          </a:prstGeom>
          <a:noFill/>
        </p:spPr>
        <p:txBody>
          <a:bodyPr wrap="square">
            <a:spAutoFit/>
          </a:bodyPr>
          <a:lstStyle/>
          <a:p>
            <a:pPr algn="ctr">
              <a:spcAft>
                <a:spcPts val="319"/>
              </a:spcAft>
              <a:defRPr sz="1600" b="1">
                <a:solidFill>
                  <a:srgbClr val="8A8A8A"/>
                </a:solidFill>
                <a:latin typeface="Microsoft YaHei"/>
              </a:defRPr>
            </a:pPr>
            <a:r>
              <a:t>▸</a:t>
            </a:r>
          </a:p>
        </p:txBody>
      </p:sp>
      <p:sp>
        <p:nvSpPr>
          <p:cNvPr id="18" name="Rectangle 17"/>
          <p:cNvSpPr/>
          <p:nvPr/>
        </p:nvSpPr>
        <p:spPr>
          <a:xfrm>
            <a:off x="4800599" y="1645920"/>
            <a:ext cx="1280160" cy="10972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00599" y="1645920"/>
            <a:ext cx="1280160" cy="36576"/>
          </a:xfrm>
          <a:prstGeom prst="rect">
            <a:avLst/>
          </a:prstGeom>
          <a:solidFill>
            <a:srgbClr val="C05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19" y="1783080"/>
            <a:ext cx="1188720" cy="822960"/>
          </a:xfrm>
          <a:prstGeom prst="rect">
            <a:avLst/>
          </a:prstGeom>
          <a:noFill/>
        </p:spPr>
        <p:txBody>
          <a:bodyPr wrap="square">
            <a:spAutoFit/>
          </a:bodyPr>
          <a:lstStyle/>
          <a:p>
            <a:pPr algn="ctr">
              <a:spcAft>
                <a:spcPts val="200"/>
              </a:spcAft>
              <a:defRPr sz="1000" b="1">
                <a:solidFill>
                  <a:srgbClr val="C05C2C"/>
                </a:solidFill>
                <a:latin typeface="Microsoft YaHei"/>
              </a:defRPr>
            </a:pPr>
            <a:r>
              <a:t>疏水表面</a:t>
            </a:r>
            <a:br/>
            <a:r>
              <a:t>WCA 104.6°</a:t>
            </a:r>
          </a:p>
        </p:txBody>
      </p:sp>
      <p:sp>
        <p:nvSpPr>
          <p:cNvPr id="21" name="TextBox 20"/>
          <p:cNvSpPr txBox="1"/>
          <p:nvPr/>
        </p:nvSpPr>
        <p:spPr>
          <a:xfrm>
            <a:off x="6080759" y="1920240"/>
            <a:ext cx="228600" cy="457200"/>
          </a:xfrm>
          <a:prstGeom prst="rect">
            <a:avLst/>
          </a:prstGeom>
          <a:noFill/>
        </p:spPr>
        <p:txBody>
          <a:bodyPr wrap="square">
            <a:spAutoFit/>
          </a:bodyPr>
          <a:lstStyle/>
          <a:p>
            <a:pPr algn="ctr">
              <a:spcAft>
                <a:spcPts val="319"/>
              </a:spcAft>
              <a:defRPr sz="1600" b="1">
                <a:solidFill>
                  <a:srgbClr val="8A8A8A"/>
                </a:solidFill>
                <a:latin typeface="Microsoft YaHei"/>
              </a:defRPr>
            </a:pPr>
            <a:r>
              <a:t>▸</a:t>
            </a:r>
          </a:p>
        </p:txBody>
      </p:sp>
      <p:sp>
        <p:nvSpPr>
          <p:cNvPr id="22" name="Rectangle 21"/>
          <p:cNvSpPr/>
          <p:nvPr/>
        </p:nvSpPr>
        <p:spPr>
          <a:xfrm>
            <a:off x="6309359" y="1645920"/>
            <a:ext cx="1280160" cy="10972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59" y="1645920"/>
            <a:ext cx="1280160" cy="36576"/>
          </a:xfrm>
          <a:prstGeom prst="rect">
            <a:avLst/>
          </a:prstGeom>
          <a:solidFill>
            <a:srgbClr val="3A7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79" y="1783080"/>
            <a:ext cx="1188720" cy="822960"/>
          </a:xfrm>
          <a:prstGeom prst="rect">
            <a:avLst/>
          </a:prstGeom>
          <a:noFill/>
        </p:spPr>
        <p:txBody>
          <a:bodyPr wrap="square">
            <a:spAutoFit/>
          </a:bodyPr>
          <a:lstStyle/>
          <a:p>
            <a:pPr algn="ctr">
              <a:spcAft>
                <a:spcPts val="200"/>
              </a:spcAft>
              <a:defRPr sz="1000" b="1">
                <a:solidFill>
                  <a:srgbClr val="3A7D44"/>
                </a:solidFill>
                <a:latin typeface="Microsoft YaHei"/>
              </a:defRPr>
            </a:pPr>
            <a:r>
              <a:t>阻水亲油</a:t>
            </a:r>
            <a:br/>
            <a:r>
              <a:t>导流特性</a:t>
            </a:r>
          </a:p>
        </p:txBody>
      </p:sp>
      <p:sp>
        <p:nvSpPr>
          <p:cNvPr id="25" name="TextBox 24"/>
          <p:cNvSpPr txBox="1"/>
          <p:nvPr/>
        </p:nvSpPr>
        <p:spPr>
          <a:xfrm>
            <a:off x="7589519" y="1920240"/>
            <a:ext cx="228600" cy="457200"/>
          </a:xfrm>
          <a:prstGeom prst="rect">
            <a:avLst/>
          </a:prstGeom>
          <a:noFill/>
        </p:spPr>
        <p:txBody>
          <a:bodyPr wrap="square">
            <a:spAutoFit/>
          </a:bodyPr>
          <a:lstStyle/>
          <a:p>
            <a:pPr algn="ctr">
              <a:spcAft>
                <a:spcPts val="319"/>
              </a:spcAft>
              <a:defRPr sz="1600" b="1">
                <a:solidFill>
                  <a:srgbClr val="8A8A8A"/>
                </a:solidFill>
                <a:latin typeface="Microsoft YaHei"/>
              </a:defRPr>
            </a:pPr>
            <a:r>
              <a:t>▸</a:t>
            </a:r>
          </a:p>
        </p:txBody>
      </p:sp>
      <p:sp>
        <p:nvSpPr>
          <p:cNvPr id="26" name="Rectangle 25"/>
          <p:cNvSpPr/>
          <p:nvPr/>
        </p:nvSpPr>
        <p:spPr>
          <a:xfrm>
            <a:off x="7818120" y="1645920"/>
            <a:ext cx="1280160" cy="10972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18120" y="1645920"/>
            <a:ext cx="1280160" cy="36576"/>
          </a:xfrm>
          <a:prstGeom prst="rect">
            <a:avLst/>
          </a:prstGeom>
          <a:solidFill>
            <a:srgbClr val="C05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0" y="1783080"/>
            <a:ext cx="1188720" cy="822960"/>
          </a:xfrm>
          <a:prstGeom prst="rect">
            <a:avLst/>
          </a:prstGeom>
          <a:noFill/>
        </p:spPr>
        <p:txBody>
          <a:bodyPr wrap="square">
            <a:spAutoFit/>
          </a:bodyPr>
          <a:lstStyle/>
          <a:p>
            <a:pPr algn="ctr">
              <a:spcAft>
                <a:spcPts val="200"/>
              </a:spcAft>
              <a:defRPr sz="1000" b="1">
                <a:solidFill>
                  <a:srgbClr val="C05C2C"/>
                </a:solidFill>
                <a:latin typeface="Microsoft YaHei"/>
              </a:defRPr>
            </a:pPr>
            <a:r>
              <a:t>非Fick释放</a:t>
            </a:r>
            <a:br/>
            <a:r>
              <a:t>n=0.45–0.85</a:t>
            </a:r>
          </a:p>
        </p:txBody>
      </p:sp>
      <p:sp>
        <p:nvSpPr>
          <p:cNvPr id="29" name="TextBox 28"/>
          <p:cNvSpPr txBox="1"/>
          <p:nvPr/>
        </p:nvSpPr>
        <p:spPr>
          <a:xfrm>
            <a:off x="9098280" y="1920240"/>
            <a:ext cx="228600" cy="457200"/>
          </a:xfrm>
          <a:prstGeom prst="rect">
            <a:avLst/>
          </a:prstGeom>
          <a:noFill/>
        </p:spPr>
        <p:txBody>
          <a:bodyPr wrap="square">
            <a:spAutoFit/>
          </a:bodyPr>
          <a:lstStyle/>
          <a:p>
            <a:pPr algn="ctr">
              <a:spcAft>
                <a:spcPts val="319"/>
              </a:spcAft>
              <a:defRPr sz="1600" b="1">
                <a:solidFill>
                  <a:srgbClr val="8A8A8A"/>
                </a:solidFill>
                <a:latin typeface="Microsoft YaHei"/>
              </a:defRPr>
            </a:pPr>
            <a:r>
              <a:t>▸</a:t>
            </a:r>
          </a:p>
        </p:txBody>
      </p:sp>
      <p:sp>
        <p:nvSpPr>
          <p:cNvPr id="30" name="Rectangle 29"/>
          <p:cNvSpPr/>
          <p:nvPr/>
        </p:nvSpPr>
        <p:spPr>
          <a:xfrm>
            <a:off x="9326880" y="1645920"/>
            <a:ext cx="1280160" cy="10972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326880" y="1645920"/>
            <a:ext cx="1280160" cy="36576"/>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72600" y="1783080"/>
            <a:ext cx="1188720" cy="822960"/>
          </a:xfrm>
          <a:prstGeom prst="rect">
            <a:avLst/>
          </a:prstGeom>
          <a:noFill/>
        </p:spPr>
        <p:txBody>
          <a:bodyPr wrap="square">
            <a:spAutoFit/>
          </a:bodyPr>
          <a:lstStyle/>
          <a:p>
            <a:pPr algn="ctr">
              <a:spcAft>
                <a:spcPts val="200"/>
              </a:spcAft>
              <a:defRPr sz="1000" b="1">
                <a:solidFill>
                  <a:srgbClr val="2B5C8A"/>
                </a:solidFill>
                <a:latin typeface="Microsoft YaHei"/>
              </a:defRPr>
            </a:pPr>
            <a:r>
              <a:t>ADE模型</a:t>
            </a:r>
            <a:br/>
            <a:r>
              <a:t>R²=0.9939</a:t>
            </a:r>
          </a:p>
        </p:txBody>
      </p:sp>
      <p:sp>
        <p:nvSpPr>
          <p:cNvPr id="33" name="TextBox 32"/>
          <p:cNvSpPr txBox="1"/>
          <p:nvPr/>
        </p:nvSpPr>
        <p:spPr>
          <a:xfrm>
            <a:off x="10607040" y="1920240"/>
            <a:ext cx="228600" cy="457200"/>
          </a:xfrm>
          <a:prstGeom prst="rect">
            <a:avLst/>
          </a:prstGeom>
          <a:noFill/>
        </p:spPr>
        <p:txBody>
          <a:bodyPr wrap="square">
            <a:spAutoFit/>
          </a:bodyPr>
          <a:lstStyle/>
          <a:p>
            <a:pPr algn="ctr">
              <a:spcAft>
                <a:spcPts val="319"/>
              </a:spcAft>
              <a:defRPr sz="1600" b="1">
                <a:solidFill>
                  <a:srgbClr val="8A8A8A"/>
                </a:solidFill>
                <a:latin typeface="Microsoft YaHei"/>
              </a:defRPr>
            </a:pPr>
            <a:r>
              <a:t>▸</a:t>
            </a:r>
          </a:p>
        </p:txBody>
      </p:sp>
      <p:sp>
        <p:nvSpPr>
          <p:cNvPr id="34" name="Rectangle 33"/>
          <p:cNvSpPr/>
          <p:nvPr/>
        </p:nvSpPr>
        <p:spPr>
          <a:xfrm>
            <a:off x="10835640" y="1645920"/>
            <a:ext cx="1280160" cy="109728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835640" y="1645920"/>
            <a:ext cx="1280160" cy="36576"/>
          </a:xfrm>
          <a:prstGeom prst="rect">
            <a:avLst/>
          </a:prstGeom>
          <a:solidFill>
            <a:srgbClr val="3A7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881360" y="1783080"/>
            <a:ext cx="1188720" cy="822960"/>
          </a:xfrm>
          <a:prstGeom prst="rect">
            <a:avLst/>
          </a:prstGeom>
          <a:noFill/>
        </p:spPr>
        <p:txBody>
          <a:bodyPr wrap="square">
            <a:spAutoFit/>
          </a:bodyPr>
          <a:lstStyle/>
          <a:p>
            <a:pPr algn="ctr">
              <a:spcAft>
                <a:spcPts val="200"/>
              </a:spcAft>
              <a:defRPr sz="1000" b="1">
                <a:solidFill>
                  <a:srgbClr val="3A7D44"/>
                </a:solidFill>
                <a:latin typeface="Microsoft YaHei"/>
              </a:defRPr>
            </a:pPr>
            <a:r>
              <a:t>分段产量</a:t>
            </a:r>
            <a:br/>
            <a:r>
              <a:t>监测</a:t>
            </a:r>
          </a:p>
        </p:txBody>
      </p:sp>
      <p:sp>
        <p:nvSpPr>
          <p:cNvPr id="37" name="TextBox 36"/>
          <p:cNvSpPr txBox="1"/>
          <p:nvPr/>
        </p:nvSpPr>
        <p:spPr>
          <a:xfrm>
            <a:off x="548640" y="3200400"/>
            <a:ext cx="10972800" cy="320040"/>
          </a:xfrm>
          <a:prstGeom prst="rect">
            <a:avLst/>
          </a:prstGeom>
          <a:noFill/>
        </p:spPr>
        <p:txBody>
          <a:bodyPr wrap="square">
            <a:spAutoFit/>
          </a:bodyPr>
          <a:lstStyle/>
          <a:p>
            <a:pPr algn="l">
              <a:spcAft>
                <a:spcPts val="280"/>
              </a:spcAft>
              <a:defRPr sz="1400" b="1">
                <a:solidFill>
                  <a:srgbClr val="2B5C8A"/>
                </a:solidFill>
                <a:latin typeface="Microsoft YaHei"/>
              </a:defRPr>
            </a:pPr>
            <a:r>
              <a:t>▎两个核心机制</a:t>
            </a:r>
          </a:p>
        </p:txBody>
      </p:sp>
      <p:sp>
        <p:nvSpPr>
          <p:cNvPr id="38" name="Rectangle 37"/>
          <p:cNvSpPr/>
          <p:nvPr/>
        </p:nvSpPr>
        <p:spPr>
          <a:xfrm>
            <a:off x="548640" y="3657600"/>
            <a:ext cx="5303520" cy="237744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3749039"/>
            <a:ext cx="4937760" cy="274320"/>
          </a:xfrm>
          <a:prstGeom prst="rect">
            <a:avLst/>
          </a:prstGeom>
          <a:noFill/>
        </p:spPr>
        <p:txBody>
          <a:bodyPr wrap="square">
            <a:spAutoFit/>
          </a:bodyPr>
          <a:lstStyle/>
          <a:p>
            <a:pPr algn="l">
              <a:spcAft>
                <a:spcPts val="259"/>
              </a:spcAft>
              <a:defRPr sz="1300" b="1">
                <a:solidFill>
                  <a:srgbClr val="C05C2C"/>
                </a:solidFill>
                <a:latin typeface="Microsoft YaHei"/>
              </a:defRPr>
            </a:pPr>
            <a:r>
              <a:t>润湿性转变机制</a:t>
            </a:r>
          </a:p>
        </p:txBody>
      </p:sp>
      <p:sp>
        <p:nvSpPr>
          <p:cNvPr id="40" name="TextBox 39"/>
          <p:cNvSpPr txBox="1"/>
          <p:nvPr/>
        </p:nvSpPr>
        <p:spPr>
          <a:xfrm>
            <a:off x="731520" y="4114800"/>
            <a:ext cx="4937760" cy="1828800"/>
          </a:xfrm>
          <a:prstGeom prst="rect">
            <a:avLst/>
          </a:prstGeom>
          <a:noFill/>
        </p:spPr>
        <p:txBody>
          <a:bodyPr wrap="square">
            <a:spAutoFit/>
          </a:bodyPr>
          <a:lstStyle/>
          <a:p>
            <a:pPr algn="l">
              <a:spcAft>
                <a:spcPts val="219"/>
              </a:spcAft>
              <a:defRPr sz="1100" b="0">
                <a:solidFill>
                  <a:srgbClr val="333333"/>
                </a:solidFill>
                <a:latin typeface="Microsoft YaHei"/>
              </a:defRPr>
            </a:pPr>
            <a:r>
              <a:t>-COOH 配位键合 + -C₁₇H₃₅ 向外定向</a:t>
            </a:r>
            <a:br/>
            <a:r>
              <a:t>→ 疏水膜构建 → 表面自由能 ↓</a:t>
            </a:r>
            <a:br/>
            <a:r>
              <a:t>→ WCA: 72.3° → 104.6°</a:t>
            </a:r>
            <a:br/>
            <a:r>
              <a:t>→ 油通过时间 ↓66.1% | 水↑10×</a:t>
            </a:r>
            <a:br/>
            <a:r>
              <a:t>→ 阻水亲油 → 选择性导流</a:t>
            </a:r>
          </a:p>
        </p:txBody>
      </p:sp>
      <p:sp>
        <p:nvSpPr>
          <p:cNvPr id="41" name="Rectangle 40"/>
          <p:cNvSpPr/>
          <p:nvPr/>
        </p:nvSpPr>
        <p:spPr>
          <a:xfrm>
            <a:off x="6309360" y="3657600"/>
            <a:ext cx="5303520" cy="237744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92240" y="3749039"/>
            <a:ext cx="4937760" cy="274320"/>
          </a:xfrm>
          <a:prstGeom prst="rect">
            <a:avLst/>
          </a:prstGeom>
          <a:noFill/>
        </p:spPr>
        <p:txBody>
          <a:bodyPr wrap="square">
            <a:spAutoFit/>
          </a:bodyPr>
          <a:lstStyle/>
          <a:p>
            <a:pPr algn="l">
              <a:spcAft>
                <a:spcPts val="259"/>
              </a:spcAft>
              <a:defRPr sz="1300" b="1">
                <a:solidFill>
                  <a:srgbClr val="C05C2C"/>
                </a:solidFill>
                <a:latin typeface="Microsoft YaHei"/>
              </a:defRPr>
            </a:pPr>
            <a:r>
              <a:t>非Fick释放机制</a:t>
            </a:r>
          </a:p>
        </p:txBody>
      </p:sp>
      <p:sp>
        <p:nvSpPr>
          <p:cNvPr id="43" name="TextBox 42"/>
          <p:cNvSpPr txBox="1"/>
          <p:nvPr/>
        </p:nvSpPr>
        <p:spPr>
          <a:xfrm>
            <a:off x="6492240" y="4114800"/>
            <a:ext cx="4937760" cy="1828800"/>
          </a:xfrm>
          <a:prstGeom prst="rect">
            <a:avLst/>
          </a:prstGeom>
          <a:noFill/>
        </p:spPr>
        <p:txBody>
          <a:bodyPr wrap="square">
            <a:spAutoFit/>
          </a:bodyPr>
          <a:lstStyle/>
          <a:p>
            <a:pPr algn="l">
              <a:spcAft>
                <a:spcPts val="219"/>
              </a:spcAft>
              <a:defRPr sz="1100" b="0">
                <a:solidFill>
                  <a:srgbClr val="333333"/>
                </a:solidFill>
                <a:latin typeface="Microsoft YaHei"/>
              </a:defRPr>
            </a:pPr>
            <a:r>
              <a:t>溶剂渗透 → 环氧网络溶胀</a:t>
            </a:r>
            <a:br/>
            <a:r>
              <a:t>→ 玻璃核 + 凝胶层双层结构</a:t>
            </a:r>
            <a:br/>
            <a:r>
              <a:t>→ 聚合物链缠结 ↓ → 传输通道 ↑</a:t>
            </a:r>
            <a:br/>
            <a:r>
              <a:t>→ n = 0.45–0.85: Fick + Case-II 协同</a:t>
            </a:r>
            <a:br/>
            <a:r>
              <a:t>→ 升温 → K↑ → 加速释放</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spcAft>
                <a:spcPts val="519"/>
              </a:spcAft>
              <a:defRPr sz="2600" b="1">
                <a:solidFill>
                  <a:srgbClr val="1A1A1A"/>
                </a:solidFill>
                <a:latin typeface="Microsoft YaHei"/>
              </a:defRPr>
            </a:pPr>
            <a:r>
              <a:t>局限性与当前适用边界</a:t>
            </a:r>
          </a:p>
        </p:txBody>
      </p:sp>
      <p:cxnSp>
        <p:nvCxnSpPr>
          <p:cNvPr id="4" name="Connector 3"/>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247120" y="6446520"/>
            <a:ext cx="731520" cy="274320"/>
          </a:xfrm>
          <a:prstGeom prst="rect">
            <a:avLst/>
          </a:prstGeom>
          <a:noFill/>
        </p:spPr>
        <p:txBody>
          <a:bodyPr wrap="square">
            <a:spAutoFit/>
          </a:bodyPr>
          <a:lstStyle/>
          <a:p>
            <a:pPr algn="r">
              <a:spcAft>
                <a:spcPts val="159"/>
              </a:spcAft>
              <a:defRPr sz="800" b="0">
                <a:solidFill>
                  <a:srgbClr val="8A8A8A"/>
                </a:solidFill>
                <a:latin typeface="Microsoft YaHei"/>
              </a:defRPr>
            </a:pPr>
            <a:r>
              <a:t>12/14</a:t>
            </a:r>
          </a:p>
        </p:txBody>
      </p:sp>
      <p:sp>
        <p:nvSpPr>
          <p:cNvPr id="6" name="Rectangle 5"/>
          <p:cNvSpPr/>
          <p:nvPr/>
        </p:nvSpPr>
        <p:spPr>
          <a:xfrm>
            <a:off x="457200" y="1371600"/>
            <a:ext cx="5394960" cy="210312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45720" cy="2103120"/>
          </a:xfrm>
          <a:prstGeom prst="rect">
            <a:avLst/>
          </a:prstGeom>
          <a:solidFill>
            <a:srgbClr val="C05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54480"/>
            <a:ext cx="4846320" cy="320040"/>
          </a:xfrm>
          <a:prstGeom prst="rect">
            <a:avLst/>
          </a:prstGeom>
          <a:noFill/>
        </p:spPr>
        <p:txBody>
          <a:bodyPr wrap="square">
            <a:spAutoFit/>
          </a:bodyPr>
          <a:lstStyle/>
          <a:p>
            <a:pPr algn="l">
              <a:spcAft>
                <a:spcPts val="300"/>
              </a:spcAft>
              <a:defRPr sz="1500" b="1">
                <a:solidFill>
                  <a:srgbClr val="C05C2C"/>
                </a:solidFill>
                <a:latin typeface="Microsoft YaHei"/>
              </a:defRPr>
            </a:pPr>
            <a:r>
              <a:t>⚠ 单段假设</a:t>
            </a:r>
          </a:p>
        </p:txBody>
      </p:sp>
      <p:sp>
        <p:nvSpPr>
          <p:cNvPr id="9" name="TextBox 8"/>
          <p:cNvSpPr txBox="1"/>
          <p:nvPr/>
        </p:nvSpPr>
        <p:spPr>
          <a:xfrm>
            <a:off x="731520" y="2011680"/>
            <a:ext cx="4846320" cy="1188720"/>
          </a:xfrm>
          <a:prstGeom prst="rect">
            <a:avLst/>
          </a:prstGeom>
          <a:noFill/>
        </p:spPr>
        <p:txBody>
          <a:bodyPr wrap="square">
            <a:spAutoFit/>
          </a:bodyPr>
          <a:lstStyle/>
          <a:p>
            <a:pPr algn="l">
              <a:spcAft>
                <a:spcPts val="219"/>
              </a:spcAft>
              <a:defRPr sz="1100" b="0">
                <a:solidFill>
                  <a:srgbClr val="333333"/>
                </a:solidFill>
                <a:latin typeface="Microsoft YaHei"/>
              </a:defRPr>
            </a:pPr>
            <a:r>
              <a:t>ADE 模型假设单裂缝段 + 均匀填充</a:t>
            </a:r>
            <a:br/>
            <a:r>
              <a:t>多段相互作用 &amp; 非均质性 → 矿场应用偏差</a:t>
            </a:r>
          </a:p>
        </p:txBody>
      </p:sp>
      <p:sp>
        <p:nvSpPr>
          <p:cNvPr id="10" name="Rectangle 9"/>
          <p:cNvSpPr/>
          <p:nvPr/>
        </p:nvSpPr>
        <p:spPr>
          <a:xfrm>
            <a:off x="6126480" y="1371600"/>
            <a:ext cx="5394960" cy="210312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371600"/>
            <a:ext cx="45720" cy="2103120"/>
          </a:xfrm>
          <a:prstGeom prst="rect">
            <a:avLst/>
          </a:prstGeom>
          <a:solidFill>
            <a:srgbClr val="C05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554480"/>
            <a:ext cx="4846320" cy="320040"/>
          </a:xfrm>
          <a:prstGeom prst="rect">
            <a:avLst/>
          </a:prstGeom>
          <a:noFill/>
        </p:spPr>
        <p:txBody>
          <a:bodyPr wrap="square">
            <a:spAutoFit/>
          </a:bodyPr>
          <a:lstStyle/>
          <a:p>
            <a:pPr algn="l">
              <a:spcAft>
                <a:spcPts val="300"/>
              </a:spcAft>
              <a:defRPr sz="1500" b="1">
                <a:solidFill>
                  <a:srgbClr val="C05C2C"/>
                </a:solidFill>
                <a:latin typeface="Microsoft YaHei"/>
              </a:defRPr>
            </a:pPr>
            <a:r>
              <a:t>⚠ 稳态假设</a:t>
            </a:r>
          </a:p>
        </p:txBody>
      </p:sp>
      <p:sp>
        <p:nvSpPr>
          <p:cNvPr id="13" name="TextBox 12"/>
          <p:cNvSpPr txBox="1"/>
          <p:nvPr/>
        </p:nvSpPr>
        <p:spPr>
          <a:xfrm>
            <a:off x="6400800" y="2011680"/>
            <a:ext cx="4846320" cy="1188720"/>
          </a:xfrm>
          <a:prstGeom prst="rect">
            <a:avLst/>
          </a:prstGeom>
          <a:noFill/>
        </p:spPr>
        <p:txBody>
          <a:bodyPr wrap="square">
            <a:spAutoFit/>
          </a:bodyPr>
          <a:lstStyle/>
          <a:p>
            <a:pPr algn="l">
              <a:spcAft>
                <a:spcPts val="219"/>
              </a:spcAft>
              <a:defRPr sz="1100" b="0">
                <a:solidFill>
                  <a:srgbClr val="333333"/>
                </a:solidFill>
                <a:latin typeface="Microsoft YaHei"/>
              </a:defRPr>
            </a:pPr>
            <a:r>
              <a:t>示踪剂通量标定依赖稳态流动</a:t>
            </a:r>
            <a:br/>
            <a:r>
              <a:t>瞬变流态 (开/关井, 快速降压) 下 FO-Oil 关系可能不成立</a:t>
            </a:r>
          </a:p>
        </p:txBody>
      </p:sp>
      <p:sp>
        <p:nvSpPr>
          <p:cNvPr id="14" name="Rectangle 13"/>
          <p:cNvSpPr/>
          <p:nvPr/>
        </p:nvSpPr>
        <p:spPr>
          <a:xfrm>
            <a:off x="457200" y="3840480"/>
            <a:ext cx="5394960" cy="210312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840480"/>
            <a:ext cx="45720" cy="2103120"/>
          </a:xfrm>
          <a:prstGeom prst="rect">
            <a:avLst/>
          </a:prstGeom>
          <a:solidFill>
            <a:srgbClr val="C05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023360"/>
            <a:ext cx="4846320" cy="320040"/>
          </a:xfrm>
          <a:prstGeom prst="rect">
            <a:avLst/>
          </a:prstGeom>
          <a:noFill/>
        </p:spPr>
        <p:txBody>
          <a:bodyPr wrap="square">
            <a:spAutoFit/>
          </a:bodyPr>
          <a:lstStyle/>
          <a:p>
            <a:pPr algn="l">
              <a:spcAft>
                <a:spcPts val="300"/>
              </a:spcAft>
              <a:defRPr sz="1500" b="1">
                <a:solidFill>
                  <a:srgbClr val="C05C2C"/>
                </a:solidFill>
                <a:latin typeface="Microsoft YaHei"/>
              </a:defRPr>
            </a:pPr>
            <a:r>
              <a:t>⚠ 模型流体</a:t>
            </a:r>
          </a:p>
        </p:txBody>
      </p:sp>
      <p:sp>
        <p:nvSpPr>
          <p:cNvPr id="17" name="TextBox 16"/>
          <p:cNvSpPr txBox="1"/>
          <p:nvPr/>
        </p:nvSpPr>
        <p:spPr>
          <a:xfrm>
            <a:off x="731520" y="4480560"/>
            <a:ext cx="4846320" cy="1188720"/>
          </a:xfrm>
          <a:prstGeom prst="rect">
            <a:avLst/>
          </a:prstGeom>
          <a:noFill/>
        </p:spPr>
        <p:txBody>
          <a:bodyPr wrap="square">
            <a:spAutoFit/>
          </a:bodyPr>
          <a:lstStyle/>
          <a:p>
            <a:pPr algn="l">
              <a:spcAft>
                <a:spcPts val="219"/>
              </a:spcAft>
              <a:defRPr sz="1100" b="0">
                <a:solidFill>
                  <a:srgbClr val="333333"/>
                </a:solidFill>
                <a:latin typeface="Microsoft YaHei"/>
              </a:defRPr>
            </a:pPr>
            <a:r>
              <a:t>实验室用十二烷模拟原油</a:t>
            </a:r>
            <a:br/>
            <a:r>
              <a:t>沥青质吸附、粘度变化等原油组分效应未评估</a:t>
            </a:r>
          </a:p>
        </p:txBody>
      </p:sp>
      <p:sp>
        <p:nvSpPr>
          <p:cNvPr id="18" name="Rectangle 17"/>
          <p:cNvSpPr/>
          <p:nvPr/>
        </p:nvSpPr>
        <p:spPr>
          <a:xfrm>
            <a:off x="6126480" y="3840480"/>
            <a:ext cx="5394960" cy="210312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3840480"/>
            <a:ext cx="45720" cy="2103120"/>
          </a:xfrm>
          <a:prstGeom prst="rect">
            <a:avLst/>
          </a:prstGeom>
          <a:solidFill>
            <a:srgbClr val="C05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023360"/>
            <a:ext cx="4846320" cy="320040"/>
          </a:xfrm>
          <a:prstGeom prst="rect">
            <a:avLst/>
          </a:prstGeom>
          <a:noFill/>
        </p:spPr>
        <p:txBody>
          <a:bodyPr wrap="square">
            <a:spAutoFit/>
          </a:bodyPr>
          <a:lstStyle/>
          <a:p>
            <a:pPr algn="l">
              <a:spcAft>
                <a:spcPts val="300"/>
              </a:spcAft>
              <a:defRPr sz="1500" b="1">
                <a:solidFill>
                  <a:srgbClr val="C05C2C"/>
                </a:solidFill>
                <a:latin typeface="Microsoft YaHei"/>
              </a:defRPr>
            </a:pPr>
            <a:r>
              <a:t>⚠ 工况边界</a:t>
            </a:r>
          </a:p>
        </p:txBody>
      </p:sp>
      <p:sp>
        <p:nvSpPr>
          <p:cNvPr id="21" name="TextBox 20"/>
          <p:cNvSpPr txBox="1"/>
          <p:nvPr/>
        </p:nvSpPr>
        <p:spPr>
          <a:xfrm>
            <a:off x="6400800" y="4480560"/>
            <a:ext cx="4846320" cy="1188720"/>
          </a:xfrm>
          <a:prstGeom prst="rect">
            <a:avLst/>
          </a:prstGeom>
          <a:noFill/>
        </p:spPr>
        <p:txBody>
          <a:bodyPr wrap="square">
            <a:spAutoFit/>
          </a:bodyPr>
          <a:lstStyle/>
          <a:p>
            <a:pPr algn="l">
              <a:spcAft>
                <a:spcPts val="219"/>
              </a:spcAft>
              <a:defRPr sz="1100" b="0">
                <a:solidFill>
                  <a:srgbClr val="333333"/>
                </a:solidFill>
                <a:latin typeface="Microsoft YaHei"/>
              </a:defRPr>
            </a:pPr>
            <a:r>
              <a:t>&gt;120°C 高温 + 高矿化度 + CO₂/H₂S</a:t>
            </a:r>
            <a:br/>
            <a:r>
              <a:t>环氧基体长期化学稳定性 &amp; 硬脂酸改性完整性待验证</a:t>
            </a:r>
          </a:p>
        </p:txBody>
      </p:sp>
      <p:sp>
        <p:nvSpPr>
          <p:cNvPr id="22" name="TextBox 21"/>
          <p:cNvSpPr txBox="1"/>
          <p:nvPr/>
        </p:nvSpPr>
        <p:spPr>
          <a:xfrm>
            <a:off x="548640" y="5943600"/>
            <a:ext cx="10972800" cy="457200"/>
          </a:xfrm>
          <a:prstGeom prst="rect">
            <a:avLst/>
          </a:prstGeom>
          <a:noFill/>
        </p:spPr>
        <p:txBody>
          <a:bodyPr wrap="square">
            <a:spAutoFit/>
          </a:bodyPr>
          <a:lstStyle/>
          <a:p>
            <a:pPr algn="l">
              <a:spcAft>
                <a:spcPts val="239"/>
              </a:spcAft>
              <a:defRPr sz="1200" b="0">
                <a:solidFill>
                  <a:srgbClr val="8A8A8A"/>
                </a:solidFill>
                <a:latin typeface="Microsoft YaHei"/>
              </a:defRPr>
            </a:pPr>
            <a:r>
              <a:t>▸ 这些局限性界定了 ESP-T 当前的适用性范围，也为后续研究指明了方向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spcAft>
                <a:spcPts val="519"/>
              </a:spcAft>
              <a:defRPr sz="2600" b="1">
                <a:solidFill>
                  <a:srgbClr val="1A1A1A"/>
                </a:solidFill>
                <a:latin typeface="Microsoft YaHei"/>
              </a:defRPr>
            </a:pPr>
            <a:r>
              <a:t>总结：ESP-T 实现支撑 + 监测双功能一体化</a:t>
            </a:r>
          </a:p>
        </p:txBody>
      </p:sp>
      <p:cxnSp>
        <p:nvCxnSpPr>
          <p:cNvPr id="4" name="Connector 3"/>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247120" y="6446520"/>
            <a:ext cx="731520" cy="274320"/>
          </a:xfrm>
          <a:prstGeom prst="rect">
            <a:avLst/>
          </a:prstGeom>
          <a:noFill/>
        </p:spPr>
        <p:txBody>
          <a:bodyPr wrap="square">
            <a:spAutoFit/>
          </a:bodyPr>
          <a:lstStyle/>
          <a:p>
            <a:pPr algn="r">
              <a:spcAft>
                <a:spcPts val="159"/>
              </a:spcAft>
              <a:defRPr sz="800" b="0">
                <a:solidFill>
                  <a:srgbClr val="8A8A8A"/>
                </a:solidFill>
                <a:latin typeface="Microsoft YaHei"/>
              </a:defRPr>
            </a:pPr>
            <a:r>
              <a:t>13/14</a:t>
            </a:r>
          </a:p>
        </p:txBody>
      </p:sp>
      <p:sp>
        <p:nvSpPr>
          <p:cNvPr id="6" name="Rectangle 5"/>
          <p:cNvSpPr/>
          <p:nvPr/>
        </p:nvSpPr>
        <p:spPr>
          <a:xfrm>
            <a:off x="365760" y="1371600"/>
            <a:ext cx="3566160" cy="22860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3566160" cy="36576"/>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54480"/>
            <a:ext cx="3291840" cy="320040"/>
          </a:xfrm>
          <a:prstGeom prst="rect">
            <a:avLst/>
          </a:prstGeom>
          <a:noFill/>
        </p:spPr>
        <p:txBody>
          <a:bodyPr wrap="square">
            <a:spAutoFit/>
          </a:bodyPr>
          <a:lstStyle/>
          <a:p>
            <a:pPr algn="l">
              <a:spcAft>
                <a:spcPts val="280"/>
              </a:spcAft>
              <a:defRPr sz="1400" b="1">
                <a:solidFill>
                  <a:srgbClr val="2B5C8A"/>
                </a:solidFill>
                <a:latin typeface="Microsoft YaHei"/>
              </a:defRPr>
            </a:pPr>
            <a:r>
              <a:t>❶ 材料合成</a:t>
            </a:r>
          </a:p>
        </p:txBody>
      </p:sp>
      <p:sp>
        <p:nvSpPr>
          <p:cNvPr id="9" name="TextBox 8"/>
          <p:cNvSpPr txBox="1"/>
          <p:nvPr/>
        </p:nvSpPr>
        <p:spPr>
          <a:xfrm>
            <a:off x="502920" y="2011680"/>
            <a:ext cx="3291840" cy="1371600"/>
          </a:xfrm>
          <a:prstGeom prst="rect">
            <a:avLst/>
          </a:prstGeom>
          <a:noFill/>
        </p:spPr>
        <p:txBody>
          <a:bodyPr wrap="square">
            <a:spAutoFit/>
          </a:bodyPr>
          <a:lstStyle/>
          <a:p>
            <a:pPr algn="l">
              <a:spcAft>
                <a:spcPts val="219"/>
              </a:spcAft>
              <a:defRPr sz="1100" b="0">
                <a:solidFill>
                  <a:srgbClr val="333333"/>
                </a:solidFill>
                <a:latin typeface="Microsoft YaHei"/>
              </a:defRPr>
            </a:pPr>
            <a:r>
              <a:t>nano-Fe₃O₄@SA 均匀包覆于环氧基体</a:t>
            </a:r>
            <a:br/>
            <a:r>
              <a:t>球度&gt;0.9，满足工业标准</a:t>
            </a:r>
          </a:p>
        </p:txBody>
      </p:sp>
      <p:sp>
        <p:nvSpPr>
          <p:cNvPr id="10" name="Rectangle 9"/>
          <p:cNvSpPr/>
          <p:nvPr/>
        </p:nvSpPr>
        <p:spPr>
          <a:xfrm>
            <a:off x="4206240" y="1371600"/>
            <a:ext cx="3566160" cy="22860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0" y="1371600"/>
            <a:ext cx="3566160" cy="36576"/>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1554480"/>
            <a:ext cx="3291840" cy="320040"/>
          </a:xfrm>
          <a:prstGeom prst="rect">
            <a:avLst/>
          </a:prstGeom>
          <a:noFill/>
        </p:spPr>
        <p:txBody>
          <a:bodyPr wrap="square">
            <a:spAutoFit/>
          </a:bodyPr>
          <a:lstStyle/>
          <a:p>
            <a:pPr algn="l">
              <a:spcAft>
                <a:spcPts val="280"/>
              </a:spcAft>
              <a:defRPr sz="1400" b="1">
                <a:solidFill>
                  <a:srgbClr val="2B5C8A"/>
                </a:solidFill>
                <a:latin typeface="Microsoft YaHei"/>
              </a:defRPr>
            </a:pPr>
            <a:r>
              <a:t>❷ 性能突破</a:t>
            </a:r>
          </a:p>
        </p:txBody>
      </p:sp>
      <p:sp>
        <p:nvSpPr>
          <p:cNvPr id="13" name="TextBox 12"/>
          <p:cNvSpPr txBox="1"/>
          <p:nvPr/>
        </p:nvSpPr>
        <p:spPr>
          <a:xfrm>
            <a:off x="4343400" y="2011680"/>
            <a:ext cx="3291840" cy="1371600"/>
          </a:xfrm>
          <a:prstGeom prst="rect">
            <a:avLst/>
          </a:prstGeom>
          <a:noFill/>
        </p:spPr>
        <p:txBody>
          <a:bodyPr wrap="square">
            <a:spAutoFit/>
          </a:bodyPr>
          <a:lstStyle/>
          <a:p>
            <a:pPr algn="l">
              <a:spcAft>
                <a:spcPts val="219"/>
              </a:spcAft>
              <a:defRPr sz="1100" b="0">
                <a:solidFill>
                  <a:srgbClr val="333333"/>
                </a:solidFill>
                <a:latin typeface="Microsoft YaHei"/>
              </a:defRPr>
            </a:pPr>
            <a:r>
              <a:t>耐温 357°C | 疏水 WCA 104.6°</a:t>
            </a:r>
            <a:br/>
            <a:r>
              <a:t>阻水亲油 | 密度&lt;水 | 破碎率 2.9%</a:t>
            </a:r>
          </a:p>
        </p:txBody>
      </p:sp>
      <p:sp>
        <p:nvSpPr>
          <p:cNvPr id="14" name="Rectangle 13"/>
          <p:cNvSpPr/>
          <p:nvPr/>
        </p:nvSpPr>
        <p:spPr>
          <a:xfrm>
            <a:off x="8046720" y="1371600"/>
            <a:ext cx="3566160" cy="22860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371600"/>
            <a:ext cx="3566160" cy="36576"/>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1554480"/>
            <a:ext cx="3291840" cy="320040"/>
          </a:xfrm>
          <a:prstGeom prst="rect">
            <a:avLst/>
          </a:prstGeom>
          <a:noFill/>
        </p:spPr>
        <p:txBody>
          <a:bodyPr wrap="square">
            <a:spAutoFit/>
          </a:bodyPr>
          <a:lstStyle/>
          <a:p>
            <a:pPr algn="l">
              <a:spcAft>
                <a:spcPts val="280"/>
              </a:spcAft>
              <a:defRPr sz="1400" b="1">
                <a:solidFill>
                  <a:srgbClr val="2B5C8A"/>
                </a:solidFill>
                <a:latin typeface="Microsoft YaHei"/>
              </a:defRPr>
            </a:pPr>
            <a:r>
              <a:t>❸ 释放机制</a:t>
            </a:r>
          </a:p>
        </p:txBody>
      </p:sp>
      <p:sp>
        <p:nvSpPr>
          <p:cNvPr id="17" name="TextBox 16"/>
          <p:cNvSpPr txBox="1"/>
          <p:nvPr/>
        </p:nvSpPr>
        <p:spPr>
          <a:xfrm>
            <a:off x="8183880" y="2011680"/>
            <a:ext cx="3291840" cy="1371600"/>
          </a:xfrm>
          <a:prstGeom prst="rect">
            <a:avLst/>
          </a:prstGeom>
          <a:noFill/>
        </p:spPr>
        <p:txBody>
          <a:bodyPr wrap="square">
            <a:spAutoFit/>
          </a:bodyPr>
          <a:lstStyle/>
          <a:p>
            <a:pPr algn="l">
              <a:spcAft>
                <a:spcPts val="219"/>
              </a:spcAft>
              <a:defRPr sz="1100" b="0">
                <a:solidFill>
                  <a:srgbClr val="333333"/>
                </a:solidFill>
                <a:latin typeface="Microsoft YaHei"/>
              </a:defRPr>
            </a:pPr>
            <a:r>
              <a:t>K-P 模型 R²&gt;0.94 | n=0.45–0.85</a:t>
            </a:r>
            <a:br/>
            <a:r>
              <a:t>Fick + Case-II 协同非Fick传输</a:t>
            </a:r>
          </a:p>
        </p:txBody>
      </p:sp>
      <p:sp>
        <p:nvSpPr>
          <p:cNvPr id="18" name="Rectangle 17"/>
          <p:cNvSpPr/>
          <p:nvPr/>
        </p:nvSpPr>
        <p:spPr>
          <a:xfrm>
            <a:off x="365760" y="3931920"/>
            <a:ext cx="3566160" cy="22860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931920"/>
            <a:ext cx="3566160" cy="36576"/>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114800"/>
            <a:ext cx="3291840" cy="320040"/>
          </a:xfrm>
          <a:prstGeom prst="rect">
            <a:avLst/>
          </a:prstGeom>
          <a:noFill/>
        </p:spPr>
        <p:txBody>
          <a:bodyPr wrap="square">
            <a:spAutoFit/>
          </a:bodyPr>
          <a:lstStyle/>
          <a:p>
            <a:pPr algn="l">
              <a:spcAft>
                <a:spcPts val="280"/>
              </a:spcAft>
              <a:defRPr sz="1400" b="1">
                <a:solidFill>
                  <a:srgbClr val="2B5C8A"/>
                </a:solidFill>
                <a:latin typeface="Microsoft YaHei"/>
              </a:defRPr>
            </a:pPr>
            <a:r>
              <a:t>❹ 监测模型</a:t>
            </a:r>
          </a:p>
        </p:txBody>
      </p:sp>
      <p:sp>
        <p:nvSpPr>
          <p:cNvPr id="21" name="TextBox 20"/>
          <p:cNvSpPr txBox="1"/>
          <p:nvPr/>
        </p:nvSpPr>
        <p:spPr>
          <a:xfrm>
            <a:off x="502920" y="4572000"/>
            <a:ext cx="3291840" cy="1371600"/>
          </a:xfrm>
          <a:prstGeom prst="rect">
            <a:avLst/>
          </a:prstGeom>
          <a:noFill/>
        </p:spPr>
        <p:txBody>
          <a:bodyPr wrap="square">
            <a:spAutoFit/>
          </a:bodyPr>
          <a:lstStyle/>
          <a:p>
            <a:pPr algn="l">
              <a:spcAft>
                <a:spcPts val="219"/>
              </a:spcAft>
              <a:defRPr sz="1100" b="0">
                <a:solidFill>
                  <a:srgbClr val="333333"/>
                </a:solidFill>
                <a:latin typeface="Microsoft YaHei"/>
              </a:defRPr>
            </a:pPr>
            <a:r>
              <a:t>ADE tanh 分段模型 R²=0.9939</a:t>
            </a:r>
            <a:br/>
            <a:r>
              <a:t>erfc 拖尾 47% → 长期监测物理基础</a:t>
            </a:r>
          </a:p>
        </p:txBody>
      </p:sp>
      <p:sp>
        <p:nvSpPr>
          <p:cNvPr id="22" name="Rectangle 21"/>
          <p:cNvSpPr/>
          <p:nvPr/>
        </p:nvSpPr>
        <p:spPr>
          <a:xfrm>
            <a:off x="4206240" y="3931920"/>
            <a:ext cx="3566160" cy="22860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06240" y="3931920"/>
            <a:ext cx="3566160" cy="36576"/>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4114800"/>
            <a:ext cx="3291840" cy="320040"/>
          </a:xfrm>
          <a:prstGeom prst="rect">
            <a:avLst/>
          </a:prstGeom>
          <a:noFill/>
        </p:spPr>
        <p:txBody>
          <a:bodyPr wrap="square">
            <a:spAutoFit/>
          </a:bodyPr>
          <a:lstStyle/>
          <a:p>
            <a:pPr algn="l">
              <a:spcAft>
                <a:spcPts val="280"/>
              </a:spcAft>
              <a:defRPr sz="1400" b="1">
                <a:solidFill>
                  <a:srgbClr val="2B5C8A"/>
                </a:solidFill>
                <a:latin typeface="Microsoft YaHei"/>
              </a:defRPr>
            </a:pPr>
            <a:r>
              <a:t>❺ 产量定量</a:t>
            </a:r>
          </a:p>
        </p:txBody>
      </p:sp>
      <p:sp>
        <p:nvSpPr>
          <p:cNvPr id="25" name="TextBox 24"/>
          <p:cNvSpPr txBox="1"/>
          <p:nvPr/>
        </p:nvSpPr>
        <p:spPr>
          <a:xfrm>
            <a:off x="4343400" y="4572000"/>
            <a:ext cx="3291840" cy="1371600"/>
          </a:xfrm>
          <a:prstGeom prst="rect">
            <a:avLst/>
          </a:prstGeom>
          <a:noFill/>
        </p:spPr>
        <p:txBody>
          <a:bodyPr wrap="square">
            <a:spAutoFit/>
          </a:bodyPr>
          <a:lstStyle/>
          <a:p>
            <a:pPr algn="l">
              <a:spcAft>
                <a:spcPts val="219"/>
              </a:spcAft>
              <a:defRPr sz="1100" b="0">
                <a:solidFill>
                  <a:srgbClr val="333333"/>
                </a:solidFill>
                <a:latin typeface="Microsoft YaHei"/>
              </a:defRPr>
            </a:pPr>
            <a:r>
              <a:t>FO 稳态标定 → 油相产量定量</a:t>
            </a:r>
            <a:br/>
            <a:r>
              <a:t>分段产量分配的实践基础</a:t>
            </a:r>
          </a:p>
        </p:txBody>
      </p:sp>
      <p:sp>
        <p:nvSpPr>
          <p:cNvPr id="26" name="Rectangle 25"/>
          <p:cNvSpPr/>
          <p:nvPr/>
        </p:nvSpPr>
        <p:spPr>
          <a:xfrm>
            <a:off x="8046720" y="3931920"/>
            <a:ext cx="3566160" cy="22860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0" y="3931920"/>
            <a:ext cx="3566160" cy="36576"/>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83880" y="4114800"/>
            <a:ext cx="3291840" cy="320040"/>
          </a:xfrm>
          <a:prstGeom prst="rect">
            <a:avLst/>
          </a:prstGeom>
          <a:noFill/>
        </p:spPr>
        <p:txBody>
          <a:bodyPr wrap="square">
            <a:spAutoFit/>
          </a:bodyPr>
          <a:lstStyle/>
          <a:p>
            <a:pPr algn="l">
              <a:spcAft>
                <a:spcPts val="280"/>
              </a:spcAft>
              <a:defRPr sz="1400" b="1">
                <a:solidFill>
                  <a:srgbClr val="2B5C8A"/>
                </a:solidFill>
                <a:latin typeface="Microsoft YaHei"/>
              </a:defRPr>
            </a:pPr>
            <a:r>
              <a:t>❻ 应用场景</a:t>
            </a:r>
          </a:p>
        </p:txBody>
      </p:sp>
      <p:sp>
        <p:nvSpPr>
          <p:cNvPr id="29" name="TextBox 28"/>
          <p:cNvSpPr txBox="1"/>
          <p:nvPr/>
        </p:nvSpPr>
        <p:spPr>
          <a:xfrm>
            <a:off x="8183880" y="4572000"/>
            <a:ext cx="3291840" cy="1371600"/>
          </a:xfrm>
          <a:prstGeom prst="rect">
            <a:avLst/>
          </a:prstGeom>
          <a:noFill/>
        </p:spPr>
        <p:txBody>
          <a:bodyPr wrap="square">
            <a:spAutoFit/>
          </a:bodyPr>
          <a:lstStyle/>
          <a:p>
            <a:pPr algn="l">
              <a:spcAft>
                <a:spcPts val="219"/>
              </a:spcAft>
              <a:defRPr sz="1100" b="0">
                <a:solidFill>
                  <a:srgbClr val="333333"/>
                </a:solidFill>
                <a:latin typeface="Microsoft YaHei"/>
              </a:defRPr>
            </a:pPr>
            <a:r>
              <a:t>酸化压裂 / 深井 / 高压</a:t>
            </a:r>
            <a:br/>
            <a:r>
              <a:t>非常规储层增产 &amp; 长期监测</a:t>
            </a:r>
          </a:p>
        </p:txBody>
      </p:sp>
      <p:sp>
        <p:nvSpPr>
          <p:cNvPr id="30" name="Rectangle 29"/>
          <p:cNvSpPr/>
          <p:nvPr/>
        </p:nvSpPr>
        <p:spPr>
          <a:xfrm>
            <a:off x="548640" y="6126480"/>
            <a:ext cx="11064240" cy="548640"/>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6172200"/>
            <a:ext cx="10698480" cy="457200"/>
          </a:xfrm>
          <a:prstGeom prst="rect">
            <a:avLst/>
          </a:prstGeom>
          <a:noFill/>
        </p:spPr>
        <p:txBody>
          <a:bodyPr wrap="square">
            <a:spAutoFit/>
          </a:bodyPr>
          <a:lstStyle/>
          <a:p>
            <a:pPr algn="ctr">
              <a:spcAft>
                <a:spcPts val="280"/>
              </a:spcAft>
              <a:defRPr sz="1400" b="1">
                <a:solidFill>
                  <a:srgbClr val="FFFFFF"/>
                </a:solidFill>
                <a:latin typeface="Microsoft YaHei"/>
              </a:defRPr>
            </a:pPr>
            <a:r>
              <a:t>ESP-T = 裂缝支撑 + 长期产量监测 → 压裂增产 &amp; 储层管理的双功能平台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743200"/>
            <a:ext cx="54864" cy="1645920"/>
          </a:xfrm>
          <a:prstGeom prst="rect">
            <a:avLst/>
          </a:prstGeom>
          <a:solidFill>
            <a:srgbClr val="C05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834640"/>
            <a:ext cx="10058400" cy="731520"/>
          </a:xfrm>
          <a:prstGeom prst="rect">
            <a:avLst/>
          </a:prstGeom>
          <a:noFill/>
        </p:spPr>
        <p:txBody>
          <a:bodyPr wrap="square">
            <a:spAutoFit/>
          </a:bodyPr>
          <a:lstStyle/>
          <a:p>
            <a:pPr algn="l">
              <a:spcAft>
                <a:spcPts val="639"/>
              </a:spcAft>
              <a:defRPr sz="3200" b="1">
                <a:solidFill>
                  <a:srgbClr val="1A1A1A"/>
                </a:solidFill>
                <a:latin typeface="Microsoft YaHei"/>
              </a:defRPr>
            </a:pPr>
            <a:r>
              <a:t>谢谢！请老师批评指正</a:t>
            </a:r>
          </a:p>
        </p:txBody>
      </p:sp>
      <p:sp>
        <p:nvSpPr>
          <p:cNvPr id="5" name="TextBox 4"/>
          <p:cNvSpPr txBox="1"/>
          <p:nvPr/>
        </p:nvSpPr>
        <p:spPr>
          <a:xfrm>
            <a:off x="1188720" y="3657600"/>
            <a:ext cx="10058400" cy="457200"/>
          </a:xfrm>
          <a:prstGeom prst="rect">
            <a:avLst/>
          </a:prstGeom>
          <a:noFill/>
        </p:spPr>
        <p:txBody>
          <a:bodyPr wrap="square">
            <a:spAutoFit/>
          </a:bodyPr>
          <a:lstStyle/>
          <a:p>
            <a:pPr algn="l">
              <a:spcAft>
                <a:spcPts val="239"/>
              </a:spcAft>
              <a:defRPr sz="1200" b="0">
                <a:solidFill>
                  <a:srgbClr val="8A8A8A"/>
                </a:solidFill>
                <a:latin typeface="Microsoft YaHei"/>
              </a:defRPr>
            </a:pPr>
            <a:r>
              <a:t>ESP-T: Epoxy Resin Microspheres Encapsulating Oleophilic Fe₃O₄ Nanoparticles</a:t>
            </a:r>
            <a:br/>
            <a:r>
              <a:t>as Tracer Proppants for Production Allocation</a:t>
            </a:r>
          </a:p>
        </p:txBody>
      </p:sp>
      <p:cxnSp>
        <p:nvCxnSpPr>
          <p:cNvPr id="6" name="Connector 5"/>
          <p:cNvCxnSpPr/>
          <p:nvPr/>
        </p:nvCxnSpPr>
        <p:spPr>
          <a:xfrm>
            <a:off x="1188720" y="4572000"/>
            <a:ext cx="2926080" cy="0"/>
          </a:xfrm>
          <a:prstGeom prst="line">
            <a:avLst/>
          </a:prstGeom>
          <a:ln w="25400">
            <a:solidFill>
              <a:srgbClr val="C05C2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88720" y="4846320"/>
            <a:ext cx="10058400" cy="457200"/>
          </a:xfrm>
          <a:prstGeom prst="rect">
            <a:avLst/>
          </a:prstGeom>
          <a:noFill/>
        </p:spPr>
        <p:txBody>
          <a:bodyPr wrap="square">
            <a:spAutoFit/>
          </a:bodyPr>
          <a:lstStyle/>
          <a:p>
            <a:pPr algn="l">
              <a:spcAft>
                <a:spcPts val="219"/>
              </a:spcAft>
              <a:defRPr sz="1100" b="0">
                <a:solidFill>
                  <a:srgbClr val="8A8A8A"/>
                </a:solidFill>
                <a:latin typeface="Microsoft YaHei"/>
              </a:defRPr>
            </a:pPr>
            <a:r>
              <a:t>论文全文 &amp; 详细双语对照见: 四氧化三铁环氧树脂拟合/paper.md</a:t>
            </a:r>
          </a:p>
        </p:txBody>
      </p:sp>
      <p:sp>
        <p:nvSpPr>
          <p:cNvPr id="8" name="Rectangle 7"/>
          <p:cNvSpPr/>
          <p:nvPr/>
        </p:nvSpPr>
        <p:spPr>
          <a:xfrm>
            <a:off x="0" y="6784848"/>
            <a:ext cx="12191695" cy="73152"/>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02920"/>
          </a:xfrm>
          <a:prstGeom prst="rect">
            <a:avLst/>
          </a:prstGeom>
          <a:noFill/>
        </p:spPr>
        <p:txBody>
          <a:bodyPr wrap="square">
            <a:spAutoFit/>
          </a:bodyPr>
          <a:lstStyle/>
          <a:p>
            <a:pPr algn="l">
              <a:defRPr sz="2600" b="1">
                <a:solidFill>
                  <a:srgbClr val="1A1A1A"/>
                </a:solidFill>
                <a:latin typeface="Microsoft YaHei"/>
              </a:defRPr>
            </a:pPr>
            <a:r>
              <a:t>投稿计划与后续工作</a:t>
            </a:r>
          </a:p>
        </p:txBody>
      </p:sp>
      <p:sp>
        <p:nvSpPr>
          <p:cNvPr id="4" name="TextBox 3"/>
          <p:cNvSpPr txBox="1"/>
          <p:nvPr/>
        </p:nvSpPr>
        <p:spPr>
          <a:xfrm>
            <a:off x="548640" y="713232"/>
            <a:ext cx="10972800" cy="320040"/>
          </a:xfrm>
          <a:prstGeom prst="rect">
            <a:avLst/>
          </a:prstGeom>
          <a:noFill/>
        </p:spPr>
        <p:txBody>
          <a:bodyPr wrap="square">
            <a:spAutoFit/>
          </a:bodyPr>
          <a:lstStyle/>
          <a:p>
            <a:pPr algn="l">
              <a:defRPr sz="1200" b="0">
                <a:solidFill>
                  <a:srgbClr val="8A8A8A"/>
                </a:solidFill>
                <a:latin typeface="Microsoft YaHei"/>
              </a:defRPr>
            </a:pPr>
            <a:r>
              <a:t>拟投稿期刊比较  |  修稿计划  |  需要老师把关的方向</a:t>
            </a:r>
          </a:p>
        </p:txBody>
      </p:sp>
      <p:cxnSp>
        <p:nvCxnSpPr>
          <p:cNvPr id="5" name="Connector 4"/>
          <p:cNvCxnSpPr/>
          <p:nvPr/>
        </p:nvCxnSpPr>
        <p:spPr>
          <a:xfrm>
            <a:off x="548640" y="1051560"/>
            <a:ext cx="110642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280160"/>
            <a:ext cx="4572000" cy="320040"/>
          </a:xfrm>
          <a:prstGeom prst="rect">
            <a:avLst/>
          </a:prstGeom>
          <a:noFill/>
        </p:spPr>
        <p:txBody>
          <a:bodyPr wrap="square">
            <a:spAutoFit/>
          </a:bodyPr>
          <a:lstStyle/>
          <a:p>
            <a:pPr algn="l">
              <a:defRPr sz="1400" b="1">
                <a:solidFill>
                  <a:srgbClr val="2B5C8A"/>
                </a:solidFill>
                <a:latin typeface="Microsoft YaHei"/>
              </a:defRPr>
            </a:pPr>
            <a:r>
              <a:t>▎候选期刊对比</a:t>
            </a:r>
          </a:p>
        </p:txBody>
      </p:sp>
      <p:graphicFrame>
        <p:nvGraphicFramePr>
          <p:cNvPr id="7" name="Table 6"/>
          <p:cNvGraphicFramePr>
            <a:graphicFrameLocks noGrp="1"/>
          </p:cNvGraphicFramePr>
          <p:nvPr/>
        </p:nvGraphicFramePr>
        <p:xfrm>
          <a:off x="548640" y="1691640"/>
          <a:ext cx="6858000" cy="2103120"/>
        </p:xfrm>
        <a:graphic>
          <a:graphicData uri="http://schemas.openxmlformats.org/drawingml/2006/table">
            <a:tbl>
              <a:tblPr firstRow="1" bandRow="1">
                <a:tableStyleId>{5C22544A-7EE6-4342-B048-85BDC9FD1C3A}</a:tableStyleId>
              </a:tblPr>
              <a:tblGrid>
                <a:gridCol w="1371600"/>
                <a:gridCol w="1371600"/>
                <a:gridCol w="1371600"/>
                <a:gridCol w="1371600"/>
                <a:gridCol w="1371600"/>
              </a:tblGrid>
              <a:tr h="350520">
                <a:tc>
                  <a:txBody>
                    <a:bodyPr/>
                    <a:lstStyle/>
                    <a:p>
                      <a:pPr>
                        <a:defRPr sz="1000" b="1">
                          <a:solidFill>
                            <a:srgbClr val="FFFFFF"/>
                          </a:solidFill>
                          <a:latin typeface="Microsoft YaHei"/>
                        </a:defRPr>
                      </a:pPr>
                      <a:r>
                        <a:t>期刊</a:t>
                      </a:r>
                    </a:p>
                  </a:txBody>
                  <a:tcPr>
                    <a:solidFill>
                      <a:srgbClr val="2B5C8A"/>
                    </a:solidFill>
                  </a:tcPr>
                </a:tc>
                <a:tc>
                  <a:txBody>
                    <a:bodyPr/>
                    <a:lstStyle/>
                    <a:p>
                      <a:pPr>
                        <a:defRPr sz="1000" b="1">
                          <a:solidFill>
                            <a:srgbClr val="FFFFFF"/>
                          </a:solidFill>
                          <a:latin typeface="Microsoft YaHei"/>
                        </a:defRPr>
                      </a:pPr>
                      <a:r>
                        <a:t>IF (2024)</a:t>
                      </a:r>
                    </a:p>
                  </a:txBody>
                  <a:tcPr>
                    <a:solidFill>
                      <a:srgbClr val="2B5C8A"/>
                    </a:solidFill>
                  </a:tcPr>
                </a:tc>
                <a:tc>
                  <a:txBody>
                    <a:bodyPr/>
                    <a:lstStyle/>
                    <a:p>
                      <a:pPr>
                        <a:defRPr sz="1000" b="1">
                          <a:solidFill>
                            <a:srgbClr val="FFFFFF"/>
                          </a:solidFill>
                          <a:latin typeface="Microsoft YaHei"/>
                        </a:defRPr>
                      </a:pPr>
                      <a:r>
                        <a:t>分区</a:t>
                      </a:r>
                    </a:p>
                  </a:txBody>
                  <a:tcPr>
                    <a:solidFill>
                      <a:srgbClr val="2B5C8A"/>
                    </a:solidFill>
                  </a:tcPr>
                </a:tc>
                <a:tc>
                  <a:txBody>
                    <a:bodyPr/>
                    <a:lstStyle/>
                    <a:p>
                      <a:pPr>
                        <a:defRPr sz="1000" b="1">
                          <a:solidFill>
                            <a:srgbClr val="FFFFFF"/>
                          </a:solidFill>
                          <a:latin typeface="Microsoft YaHei"/>
                        </a:defRPr>
                      </a:pPr>
                      <a:r>
                        <a:t>审稿周期</a:t>
                      </a:r>
                    </a:p>
                  </a:txBody>
                  <a:tcPr>
                    <a:solidFill>
                      <a:srgbClr val="2B5C8A"/>
                    </a:solidFill>
                  </a:tcPr>
                </a:tc>
                <a:tc>
                  <a:txBody>
                    <a:bodyPr/>
                    <a:lstStyle/>
                    <a:p>
                      <a:pPr>
                        <a:defRPr sz="1000" b="1">
                          <a:solidFill>
                            <a:srgbClr val="FFFFFF"/>
                          </a:solidFill>
                          <a:latin typeface="Microsoft YaHei"/>
                        </a:defRPr>
                      </a:pPr>
                      <a:r>
                        <a:t>匹配度</a:t>
                      </a:r>
                    </a:p>
                  </a:txBody>
                  <a:tcPr>
                    <a:solidFill>
                      <a:srgbClr val="2B5C8A"/>
                    </a:solidFill>
                  </a:tcPr>
                </a:tc>
              </a:tr>
              <a:tr h="350520">
                <a:tc>
                  <a:txBody>
                    <a:bodyPr/>
                    <a:lstStyle/>
                    <a:p>
                      <a:pPr>
                        <a:defRPr sz="1000" b="1">
                          <a:solidFill>
                            <a:srgbClr val="C05C2C"/>
                          </a:solidFill>
                          <a:latin typeface="Microsoft YaHei"/>
                        </a:defRPr>
                      </a:pPr>
                      <a:r>
                        <a:t>Fuel</a:t>
                      </a:r>
                    </a:p>
                  </a:txBody>
                  <a:tcPr>
                    <a:solidFill>
                      <a:srgbClr val="F5F3EF"/>
                    </a:solidFill>
                  </a:tcPr>
                </a:tc>
                <a:tc>
                  <a:txBody>
                    <a:bodyPr/>
                    <a:lstStyle/>
                    <a:p>
                      <a:pPr>
                        <a:defRPr sz="1000" b="1">
                          <a:solidFill>
                            <a:srgbClr val="C05C2C"/>
                          </a:solidFill>
                          <a:latin typeface="Microsoft YaHei"/>
                        </a:defRPr>
                      </a:pPr>
                      <a:r>
                        <a:t>~7.5</a:t>
                      </a:r>
                    </a:p>
                  </a:txBody>
                  <a:tcPr>
                    <a:solidFill>
                      <a:srgbClr val="F5F3EF"/>
                    </a:solidFill>
                  </a:tcPr>
                </a:tc>
                <a:tc>
                  <a:txBody>
                    <a:bodyPr/>
                    <a:lstStyle/>
                    <a:p>
                      <a:pPr>
                        <a:defRPr sz="1000" b="1">
                          <a:solidFill>
                            <a:srgbClr val="C05C2C"/>
                          </a:solidFill>
                          <a:latin typeface="Microsoft YaHei"/>
                        </a:defRPr>
                      </a:pPr>
                      <a:r>
                        <a:t>中科院1区/Top</a:t>
                      </a:r>
                    </a:p>
                  </a:txBody>
                  <a:tcPr>
                    <a:solidFill>
                      <a:srgbClr val="F5F3EF"/>
                    </a:solidFill>
                  </a:tcPr>
                </a:tc>
                <a:tc>
                  <a:txBody>
                    <a:bodyPr/>
                    <a:lstStyle/>
                    <a:p>
                      <a:pPr>
                        <a:defRPr sz="1000" b="1">
                          <a:solidFill>
                            <a:srgbClr val="C05C2C"/>
                          </a:solidFill>
                          <a:latin typeface="Microsoft YaHei"/>
                        </a:defRPr>
                      </a:pPr>
                      <a:r>
                        <a:t>2-4月</a:t>
                      </a:r>
                    </a:p>
                  </a:txBody>
                  <a:tcPr>
                    <a:solidFill>
                      <a:srgbClr val="F5F3EF"/>
                    </a:solidFill>
                  </a:tcPr>
                </a:tc>
                <a:tc>
                  <a:txBody>
                    <a:bodyPr/>
                    <a:lstStyle/>
                    <a:p>
                      <a:pPr>
                        <a:defRPr sz="1000" b="1">
                          <a:solidFill>
                            <a:srgbClr val="C05C2C"/>
                          </a:solidFill>
                          <a:latin typeface="Microsoft YaHei"/>
                        </a:defRPr>
                      </a:pPr>
                      <a:r>
                        <a:t>★★★★★</a:t>
                      </a:r>
                    </a:p>
                  </a:txBody>
                  <a:tcPr>
                    <a:solidFill>
                      <a:srgbClr val="F5F3EF"/>
                    </a:solidFill>
                  </a:tcPr>
                </a:tc>
              </a:tr>
              <a:tr h="350520">
                <a:tc>
                  <a:txBody>
                    <a:bodyPr/>
                    <a:lstStyle/>
                    <a:p>
                      <a:pPr>
                        <a:defRPr sz="1000">
                          <a:solidFill>
                            <a:srgbClr val="333333"/>
                          </a:solidFill>
                          <a:latin typeface="Microsoft YaHei"/>
                        </a:defRPr>
                      </a:pPr>
                      <a:r>
                        <a:t>Geoenergy Sci. Eng.</a:t>
                      </a:r>
                    </a:p>
                  </a:txBody>
                  <a:tcPr>
                    <a:solidFill>
                      <a:srgbClr val="E8EEF4"/>
                    </a:solidFill>
                  </a:tcPr>
                </a:tc>
                <a:tc>
                  <a:txBody>
                    <a:bodyPr/>
                    <a:lstStyle/>
                    <a:p>
                      <a:pPr>
                        <a:defRPr sz="1000">
                          <a:solidFill>
                            <a:srgbClr val="333333"/>
                          </a:solidFill>
                          <a:latin typeface="Microsoft YaHei"/>
                        </a:defRPr>
                      </a:pPr>
                      <a:r>
                        <a:t>~4.5</a:t>
                      </a:r>
                    </a:p>
                  </a:txBody>
                  <a:tcPr>
                    <a:solidFill>
                      <a:srgbClr val="E8EEF4"/>
                    </a:solidFill>
                  </a:tcPr>
                </a:tc>
                <a:tc>
                  <a:txBody>
                    <a:bodyPr/>
                    <a:lstStyle/>
                    <a:p>
                      <a:pPr>
                        <a:defRPr sz="1000">
                          <a:solidFill>
                            <a:srgbClr val="333333"/>
                          </a:solidFill>
                          <a:latin typeface="Microsoft YaHei"/>
                        </a:defRPr>
                      </a:pPr>
                      <a:r>
                        <a:t>中科院2区</a:t>
                      </a:r>
                    </a:p>
                  </a:txBody>
                  <a:tcPr>
                    <a:solidFill>
                      <a:srgbClr val="E8EEF4"/>
                    </a:solidFill>
                  </a:tcPr>
                </a:tc>
                <a:tc>
                  <a:txBody>
                    <a:bodyPr/>
                    <a:lstStyle/>
                    <a:p>
                      <a:pPr>
                        <a:defRPr sz="1000">
                          <a:solidFill>
                            <a:srgbClr val="333333"/>
                          </a:solidFill>
                          <a:latin typeface="Microsoft YaHei"/>
                        </a:defRPr>
                      </a:pPr>
                      <a:r>
                        <a:t>1-3月</a:t>
                      </a:r>
                    </a:p>
                  </a:txBody>
                  <a:tcPr>
                    <a:solidFill>
                      <a:srgbClr val="E8EEF4"/>
                    </a:solidFill>
                  </a:tcPr>
                </a:tc>
                <a:tc>
                  <a:txBody>
                    <a:bodyPr/>
                    <a:lstStyle/>
                    <a:p>
                      <a:pPr>
                        <a:defRPr sz="1000">
                          <a:solidFill>
                            <a:srgbClr val="333333"/>
                          </a:solidFill>
                          <a:latin typeface="Microsoft YaHei"/>
                        </a:defRPr>
                      </a:pPr>
                      <a:r>
                        <a:t>★★★★★</a:t>
                      </a:r>
                    </a:p>
                  </a:txBody>
                  <a:tcPr>
                    <a:solidFill>
                      <a:srgbClr val="E8EEF4"/>
                    </a:solidFill>
                  </a:tcPr>
                </a:tc>
              </a:tr>
              <a:tr h="350520">
                <a:tc>
                  <a:txBody>
                    <a:bodyPr/>
                    <a:lstStyle/>
                    <a:p>
                      <a:pPr>
                        <a:defRPr sz="1000">
                          <a:solidFill>
                            <a:srgbClr val="333333"/>
                          </a:solidFill>
                          <a:latin typeface="Microsoft YaHei"/>
                        </a:defRPr>
                      </a:pPr>
                      <a:r>
                        <a:t>Colloids Surf. A</a:t>
                      </a:r>
                    </a:p>
                  </a:txBody>
                  <a:tcPr/>
                </a:tc>
                <a:tc>
                  <a:txBody>
                    <a:bodyPr/>
                    <a:lstStyle/>
                    <a:p>
                      <a:pPr>
                        <a:defRPr sz="1000">
                          <a:solidFill>
                            <a:srgbClr val="333333"/>
                          </a:solidFill>
                          <a:latin typeface="Microsoft YaHei"/>
                        </a:defRPr>
                      </a:pPr>
                      <a:r>
                        <a:t>~5.2</a:t>
                      </a:r>
                    </a:p>
                  </a:txBody>
                  <a:tcPr/>
                </a:tc>
                <a:tc>
                  <a:txBody>
                    <a:bodyPr/>
                    <a:lstStyle/>
                    <a:p>
                      <a:pPr>
                        <a:defRPr sz="1000">
                          <a:solidFill>
                            <a:srgbClr val="333333"/>
                          </a:solidFill>
                          <a:latin typeface="Microsoft YaHei"/>
                        </a:defRPr>
                      </a:pPr>
                      <a:r>
                        <a:t>中科院2区</a:t>
                      </a:r>
                    </a:p>
                  </a:txBody>
                  <a:tcPr/>
                </a:tc>
                <a:tc>
                  <a:txBody>
                    <a:bodyPr/>
                    <a:lstStyle/>
                    <a:p>
                      <a:pPr>
                        <a:defRPr sz="1000">
                          <a:solidFill>
                            <a:srgbClr val="333333"/>
                          </a:solidFill>
                          <a:latin typeface="Microsoft YaHei"/>
                        </a:defRPr>
                      </a:pPr>
                      <a:r>
                        <a:t>1-2月</a:t>
                      </a:r>
                    </a:p>
                  </a:txBody>
                  <a:tcPr/>
                </a:tc>
                <a:tc>
                  <a:txBody>
                    <a:bodyPr/>
                    <a:lstStyle/>
                    <a:p>
                      <a:pPr>
                        <a:defRPr sz="1000">
                          <a:solidFill>
                            <a:srgbClr val="333333"/>
                          </a:solidFill>
                          <a:latin typeface="Microsoft YaHei"/>
                        </a:defRPr>
                      </a:pPr>
                      <a:r>
                        <a:t>★★★★</a:t>
                      </a:r>
                    </a:p>
                  </a:txBody>
                  <a:tcPr/>
                </a:tc>
              </a:tr>
              <a:tr h="350520">
                <a:tc>
                  <a:txBody>
                    <a:bodyPr/>
                    <a:lstStyle/>
                    <a:p>
                      <a:pPr>
                        <a:defRPr sz="1000">
                          <a:solidFill>
                            <a:srgbClr val="333333"/>
                          </a:solidFill>
                          <a:latin typeface="Microsoft YaHei"/>
                        </a:defRPr>
                      </a:pPr>
                      <a:r>
                        <a:t>ACS Omega</a:t>
                      </a:r>
                    </a:p>
                  </a:txBody>
                  <a:tcPr>
                    <a:solidFill>
                      <a:srgbClr val="E8EEF4"/>
                    </a:solidFill>
                  </a:tcPr>
                </a:tc>
                <a:tc>
                  <a:txBody>
                    <a:bodyPr/>
                    <a:lstStyle/>
                    <a:p>
                      <a:pPr>
                        <a:defRPr sz="1000">
                          <a:solidFill>
                            <a:srgbClr val="333333"/>
                          </a:solidFill>
                          <a:latin typeface="Microsoft YaHei"/>
                        </a:defRPr>
                      </a:pPr>
                      <a:r>
                        <a:t>~4.0</a:t>
                      </a:r>
                    </a:p>
                  </a:txBody>
                  <a:tcPr>
                    <a:solidFill>
                      <a:srgbClr val="E8EEF4"/>
                    </a:solidFill>
                  </a:tcPr>
                </a:tc>
                <a:tc>
                  <a:txBody>
                    <a:bodyPr/>
                    <a:lstStyle/>
                    <a:p>
                      <a:pPr>
                        <a:defRPr sz="1000">
                          <a:solidFill>
                            <a:srgbClr val="333333"/>
                          </a:solidFill>
                          <a:latin typeface="Microsoft YaHei"/>
                        </a:defRPr>
                      </a:pPr>
                      <a:r>
                        <a:t>中科院3区</a:t>
                      </a:r>
                    </a:p>
                  </a:txBody>
                  <a:tcPr>
                    <a:solidFill>
                      <a:srgbClr val="E8EEF4"/>
                    </a:solidFill>
                  </a:tcPr>
                </a:tc>
                <a:tc>
                  <a:txBody>
                    <a:bodyPr/>
                    <a:lstStyle/>
                    <a:p>
                      <a:pPr>
                        <a:defRPr sz="1000">
                          <a:solidFill>
                            <a:srgbClr val="333333"/>
                          </a:solidFill>
                          <a:latin typeface="Microsoft YaHei"/>
                        </a:defRPr>
                      </a:pPr>
                      <a:r>
                        <a:t>1-2月</a:t>
                      </a:r>
                    </a:p>
                  </a:txBody>
                  <a:tcPr>
                    <a:solidFill>
                      <a:srgbClr val="E8EEF4"/>
                    </a:solidFill>
                  </a:tcPr>
                </a:tc>
                <a:tc>
                  <a:txBody>
                    <a:bodyPr/>
                    <a:lstStyle/>
                    <a:p>
                      <a:pPr>
                        <a:defRPr sz="1000">
                          <a:solidFill>
                            <a:srgbClr val="333333"/>
                          </a:solidFill>
                          <a:latin typeface="Microsoft YaHei"/>
                        </a:defRPr>
                      </a:pPr>
                      <a:r>
                        <a:t>★★★★</a:t>
                      </a:r>
                    </a:p>
                  </a:txBody>
                  <a:tcPr>
                    <a:solidFill>
                      <a:srgbClr val="E8EEF4"/>
                    </a:solidFill>
                  </a:tcPr>
                </a:tc>
              </a:tr>
              <a:tr h="350520">
                <a:tc>
                  <a:txBody>
                    <a:bodyPr/>
                    <a:lstStyle/>
                    <a:p>
                      <a:pPr>
                        <a:defRPr sz="1000">
                          <a:solidFill>
                            <a:srgbClr val="333333"/>
                          </a:solidFill>
                          <a:latin typeface="Microsoft YaHei"/>
                        </a:defRPr>
                      </a:pPr>
                      <a:r>
                        <a:t>Energy &amp; Fuels</a:t>
                      </a:r>
                    </a:p>
                  </a:txBody>
                  <a:tcPr/>
                </a:tc>
                <a:tc>
                  <a:txBody>
                    <a:bodyPr/>
                    <a:lstStyle/>
                    <a:p>
                      <a:pPr>
                        <a:defRPr sz="1000">
                          <a:solidFill>
                            <a:srgbClr val="333333"/>
                          </a:solidFill>
                          <a:latin typeface="Microsoft YaHei"/>
                        </a:defRPr>
                      </a:pPr>
                      <a:r>
                        <a:t>~5.5</a:t>
                      </a:r>
                    </a:p>
                  </a:txBody>
                  <a:tcPr/>
                </a:tc>
                <a:tc>
                  <a:txBody>
                    <a:bodyPr/>
                    <a:lstStyle/>
                    <a:p>
                      <a:pPr>
                        <a:defRPr sz="1000">
                          <a:solidFill>
                            <a:srgbClr val="333333"/>
                          </a:solidFill>
                          <a:latin typeface="Microsoft YaHei"/>
                        </a:defRPr>
                      </a:pPr>
                      <a:r>
                        <a:t>中科院2区/Top</a:t>
                      </a:r>
                    </a:p>
                  </a:txBody>
                  <a:tcPr/>
                </a:tc>
                <a:tc>
                  <a:txBody>
                    <a:bodyPr/>
                    <a:lstStyle/>
                    <a:p>
                      <a:pPr>
                        <a:defRPr sz="1000">
                          <a:solidFill>
                            <a:srgbClr val="333333"/>
                          </a:solidFill>
                          <a:latin typeface="Microsoft YaHei"/>
                        </a:defRPr>
                      </a:pPr>
                      <a:r>
                        <a:t>2-3月</a:t>
                      </a:r>
                    </a:p>
                  </a:txBody>
                  <a:tcPr/>
                </a:tc>
                <a:tc>
                  <a:txBody>
                    <a:bodyPr/>
                    <a:lstStyle/>
                    <a:p>
                      <a:pPr>
                        <a:defRPr sz="1000">
                          <a:solidFill>
                            <a:srgbClr val="333333"/>
                          </a:solidFill>
                          <a:latin typeface="Microsoft YaHei"/>
                        </a:defRPr>
                      </a:pPr>
                      <a:r>
                        <a:t>★★★</a:t>
                      </a:r>
                    </a:p>
                  </a:txBody>
                  <a:tcPr/>
                </a:tc>
              </a:tr>
            </a:tbl>
          </a:graphicData>
        </a:graphic>
      </p:graphicFrame>
      <p:sp>
        <p:nvSpPr>
          <p:cNvPr id="8" name="TextBox 7"/>
          <p:cNvSpPr txBox="1"/>
          <p:nvPr/>
        </p:nvSpPr>
        <p:spPr>
          <a:xfrm>
            <a:off x="7863840" y="1280160"/>
            <a:ext cx="3840480" cy="320040"/>
          </a:xfrm>
          <a:prstGeom prst="rect">
            <a:avLst/>
          </a:prstGeom>
          <a:noFill/>
        </p:spPr>
        <p:txBody>
          <a:bodyPr wrap="square">
            <a:spAutoFit/>
          </a:bodyPr>
          <a:lstStyle/>
          <a:p>
            <a:pPr algn="l">
              <a:defRPr sz="1400" b="1">
                <a:solidFill>
                  <a:srgbClr val="C05C2C"/>
                </a:solidFill>
                <a:latin typeface="Microsoft YaHei"/>
              </a:defRPr>
            </a:pPr>
            <a:r>
              <a:t>▎推荐策略</a:t>
            </a:r>
          </a:p>
        </p:txBody>
      </p:sp>
      <p:sp>
        <p:nvSpPr>
          <p:cNvPr id="9" name="Rectangle 8"/>
          <p:cNvSpPr/>
          <p:nvPr/>
        </p:nvSpPr>
        <p:spPr>
          <a:xfrm>
            <a:off x="7863840" y="1691640"/>
            <a:ext cx="3840480" cy="210312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783080"/>
            <a:ext cx="3474720" cy="1920240"/>
          </a:xfrm>
          <a:prstGeom prst="rect">
            <a:avLst/>
          </a:prstGeom>
          <a:noFill/>
        </p:spPr>
        <p:txBody>
          <a:bodyPr wrap="square">
            <a:spAutoFit/>
          </a:bodyPr>
          <a:lstStyle/>
          <a:p>
            <a:pPr algn="l">
              <a:defRPr sz="1000" b="0">
                <a:solidFill>
                  <a:srgbClr val="333333"/>
                </a:solidFill>
                <a:latin typeface="Microsoft YaHei"/>
              </a:defRPr>
            </a:pPr>
            <a:r>
              <a:t>首选: Fuel</a:t>
            </a:r>
            <a:br/>
            <a:r>
              <a:t>  Gong et al. 2024 同方向已发表</a:t>
            </a:r>
            <a:br/>
            <a:r>
              <a:t>  需强调: ADE模型 + 阻水亲油</a:t>
            </a:r>
            <a:br/>
            <a:r>
              <a:t>  为超越前人工作的主要亮点</a:t>
            </a:r>
            <a:br/>
            <a:br/>
            <a:r>
              <a:t>备选: Geoenergy Sci. Eng.</a:t>
            </a:r>
            <a:br/>
            <a:r>
              <a:t>  Zhao/Zhou/Li 的示踪支撑剂</a:t>
            </a:r>
            <a:br/>
            <a:r>
              <a:t>  均发表于此, 审稿人专业对口</a:t>
            </a:r>
            <a:br/>
            <a:br/>
            <a:r>
              <a:t>保底: ACS Omega / Colloids Surf. A</a:t>
            </a:r>
            <a:br/>
            <a:r>
              <a:t>  审稿快, 接受率较高</a:t>
            </a:r>
          </a:p>
        </p:txBody>
      </p:sp>
      <p:sp>
        <p:nvSpPr>
          <p:cNvPr id="11" name="TextBox 10"/>
          <p:cNvSpPr txBox="1"/>
          <p:nvPr/>
        </p:nvSpPr>
        <p:spPr>
          <a:xfrm>
            <a:off x="548640" y="4069080"/>
            <a:ext cx="10972800" cy="320040"/>
          </a:xfrm>
          <a:prstGeom prst="rect">
            <a:avLst/>
          </a:prstGeom>
          <a:noFill/>
        </p:spPr>
        <p:txBody>
          <a:bodyPr wrap="square">
            <a:spAutoFit/>
          </a:bodyPr>
          <a:lstStyle/>
          <a:p>
            <a:pPr algn="l">
              <a:defRPr sz="1400" b="1">
                <a:solidFill>
                  <a:srgbClr val="2B5C8A"/>
                </a:solidFill>
                <a:latin typeface="Microsoft YaHei"/>
              </a:defRPr>
            </a:pPr>
            <a:r>
              <a:t>▎投稿前待办事项</a:t>
            </a:r>
          </a:p>
        </p:txBody>
      </p:sp>
      <p:sp>
        <p:nvSpPr>
          <p:cNvPr id="12" name="Rectangle 11"/>
          <p:cNvSpPr/>
          <p:nvPr/>
        </p:nvSpPr>
        <p:spPr>
          <a:xfrm>
            <a:off x="548640" y="4480560"/>
            <a:ext cx="2103120" cy="1828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480560"/>
            <a:ext cx="2103120" cy="36576"/>
          </a:xfrm>
          <a:prstGeom prst="rect">
            <a:avLst/>
          </a:prstGeom>
          <a:solidFill>
            <a:srgbClr val="3A7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572000"/>
            <a:ext cx="1920240" cy="274320"/>
          </a:xfrm>
          <a:prstGeom prst="rect">
            <a:avLst/>
          </a:prstGeom>
          <a:noFill/>
        </p:spPr>
        <p:txBody>
          <a:bodyPr wrap="square">
            <a:spAutoFit/>
          </a:bodyPr>
          <a:lstStyle/>
          <a:p>
            <a:pPr algn="l">
              <a:defRPr sz="1100" b="1">
                <a:solidFill>
                  <a:srgbClr val="2B5C8A"/>
                </a:solidFill>
                <a:latin typeface="Microsoft YaHei"/>
              </a:defRPr>
            </a:pPr>
            <a:r>
              <a:t>数据补充</a:t>
            </a:r>
          </a:p>
        </p:txBody>
      </p:sp>
      <p:sp>
        <p:nvSpPr>
          <p:cNvPr id="15" name="TextBox 14"/>
          <p:cNvSpPr txBox="1"/>
          <p:nvPr/>
        </p:nvSpPr>
        <p:spPr>
          <a:xfrm>
            <a:off x="640080" y="4892040"/>
            <a:ext cx="1920240" cy="1280160"/>
          </a:xfrm>
          <a:prstGeom prst="rect">
            <a:avLst/>
          </a:prstGeom>
          <a:noFill/>
        </p:spPr>
        <p:txBody>
          <a:bodyPr wrap="square">
            <a:spAutoFit/>
          </a:bodyPr>
          <a:lstStyle/>
          <a:p>
            <a:pPr algn="l">
              <a:defRPr sz="900" b="0">
                <a:solidFill>
                  <a:srgbClr val="333333"/>
                </a:solidFill>
                <a:latin typeface="Microsoft YaHei"/>
              </a:defRPr>
            </a:pPr>
            <a:r>
              <a:t>TGA数据是否需补充N₂气氛对比？</a:t>
            </a:r>
            <a:br/>
            <a:r>
              <a:t>120°C长期(&gt;30天)稳定性数据？</a:t>
            </a:r>
          </a:p>
        </p:txBody>
      </p:sp>
      <p:sp>
        <p:nvSpPr>
          <p:cNvPr id="16" name="Rectangle 15"/>
          <p:cNvSpPr/>
          <p:nvPr/>
        </p:nvSpPr>
        <p:spPr>
          <a:xfrm>
            <a:off x="2834640" y="4480560"/>
            <a:ext cx="2103120" cy="1828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34640" y="4480560"/>
            <a:ext cx="2103120" cy="36576"/>
          </a:xfrm>
          <a:prstGeom prst="rect">
            <a:avLst/>
          </a:prstGeom>
          <a:solidFill>
            <a:srgbClr val="3A7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0" y="4572000"/>
            <a:ext cx="1920240" cy="274320"/>
          </a:xfrm>
          <a:prstGeom prst="rect">
            <a:avLst/>
          </a:prstGeom>
          <a:noFill/>
        </p:spPr>
        <p:txBody>
          <a:bodyPr wrap="square">
            <a:spAutoFit/>
          </a:bodyPr>
          <a:lstStyle/>
          <a:p>
            <a:pPr algn="l">
              <a:defRPr sz="1100" b="1">
                <a:solidFill>
                  <a:srgbClr val="2B5C8A"/>
                </a:solidFill>
                <a:latin typeface="Microsoft YaHei"/>
              </a:defRPr>
            </a:pPr>
            <a:r>
              <a:t>讨论深化</a:t>
            </a:r>
          </a:p>
        </p:txBody>
      </p:sp>
      <p:sp>
        <p:nvSpPr>
          <p:cNvPr id="19" name="TextBox 18"/>
          <p:cNvSpPr txBox="1"/>
          <p:nvPr/>
        </p:nvSpPr>
        <p:spPr>
          <a:xfrm>
            <a:off x="2926080" y="4892040"/>
            <a:ext cx="1920240" cy="1280160"/>
          </a:xfrm>
          <a:prstGeom prst="rect">
            <a:avLst/>
          </a:prstGeom>
          <a:noFill/>
        </p:spPr>
        <p:txBody>
          <a:bodyPr wrap="square">
            <a:spAutoFit/>
          </a:bodyPr>
          <a:lstStyle/>
          <a:p>
            <a:pPr algn="l">
              <a:defRPr sz="900" b="0">
                <a:solidFill>
                  <a:srgbClr val="333333"/>
                </a:solidFill>
                <a:latin typeface="Microsoft YaHei"/>
              </a:defRPr>
            </a:pPr>
            <a:r>
              <a:t>与Gong 2024 PS微球的定量对比分析</a:t>
            </a:r>
            <a:br/>
            <a:r>
              <a:t>环氧vs PS综合性能雷达图</a:t>
            </a:r>
          </a:p>
        </p:txBody>
      </p:sp>
      <p:sp>
        <p:nvSpPr>
          <p:cNvPr id="20" name="Rectangle 19"/>
          <p:cNvSpPr/>
          <p:nvPr/>
        </p:nvSpPr>
        <p:spPr>
          <a:xfrm>
            <a:off x="5120640" y="4480560"/>
            <a:ext cx="2103120" cy="1828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480560"/>
            <a:ext cx="2103120" cy="36576"/>
          </a:xfrm>
          <a:prstGeom prst="rect">
            <a:avLst/>
          </a:prstGeom>
          <a:solidFill>
            <a:srgbClr val="3A7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79" y="4572000"/>
            <a:ext cx="1920240" cy="274320"/>
          </a:xfrm>
          <a:prstGeom prst="rect">
            <a:avLst/>
          </a:prstGeom>
          <a:noFill/>
        </p:spPr>
        <p:txBody>
          <a:bodyPr wrap="square">
            <a:spAutoFit/>
          </a:bodyPr>
          <a:lstStyle/>
          <a:p>
            <a:pPr algn="l">
              <a:defRPr sz="1100" b="1">
                <a:solidFill>
                  <a:srgbClr val="2B5C8A"/>
                </a:solidFill>
                <a:latin typeface="Microsoft YaHei"/>
              </a:defRPr>
            </a:pPr>
            <a:r>
              <a:t>语言润色</a:t>
            </a:r>
          </a:p>
        </p:txBody>
      </p:sp>
      <p:sp>
        <p:nvSpPr>
          <p:cNvPr id="23" name="TextBox 22"/>
          <p:cNvSpPr txBox="1"/>
          <p:nvPr/>
        </p:nvSpPr>
        <p:spPr>
          <a:xfrm>
            <a:off x="5212079" y="4892040"/>
            <a:ext cx="1920240" cy="1280160"/>
          </a:xfrm>
          <a:prstGeom prst="rect">
            <a:avLst/>
          </a:prstGeom>
          <a:noFill/>
        </p:spPr>
        <p:txBody>
          <a:bodyPr wrap="square">
            <a:spAutoFit/>
          </a:bodyPr>
          <a:lstStyle/>
          <a:p>
            <a:pPr algn="l">
              <a:defRPr sz="900" b="0">
                <a:solidFill>
                  <a:srgbClr val="333333"/>
                </a:solidFill>
                <a:latin typeface="Microsoft YaHei"/>
              </a:defRPr>
            </a:pPr>
            <a:r>
              <a:t>建议投稿前请native speaker通读</a:t>
            </a:r>
            <a:br/>
            <a:r>
              <a:t>或使用专业润色服务</a:t>
            </a:r>
          </a:p>
        </p:txBody>
      </p:sp>
      <p:sp>
        <p:nvSpPr>
          <p:cNvPr id="24" name="Rectangle 23"/>
          <p:cNvSpPr/>
          <p:nvPr/>
        </p:nvSpPr>
        <p:spPr>
          <a:xfrm>
            <a:off x="7406640" y="4480560"/>
            <a:ext cx="2103120" cy="1828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06640" y="4480560"/>
            <a:ext cx="2103120" cy="36576"/>
          </a:xfrm>
          <a:prstGeom prst="rect">
            <a:avLst/>
          </a:prstGeom>
          <a:solidFill>
            <a:srgbClr val="3A7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79" y="4572000"/>
            <a:ext cx="1920240" cy="274320"/>
          </a:xfrm>
          <a:prstGeom prst="rect">
            <a:avLst/>
          </a:prstGeom>
          <a:noFill/>
        </p:spPr>
        <p:txBody>
          <a:bodyPr wrap="square">
            <a:spAutoFit/>
          </a:bodyPr>
          <a:lstStyle/>
          <a:p>
            <a:pPr algn="l">
              <a:defRPr sz="1100" b="1">
                <a:solidFill>
                  <a:srgbClr val="2B5C8A"/>
                </a:solidFill>
                <a:latin typeface="Microsoft YaHei"/>
              </a:defRPr>
            </a:pPr>
            <a:r>
              <a:t>格式适配</a:t>
            </a:r>
          </a:p>
        </p:txBody>
      </p:sp>
      <p:sp>
        <p:nvSpPr>
          <p:cNvPr id="27" name="TextBox 26"/>
          <p:cNvSpPr txBox="1"/>
          <p:nvPr/>
        </p:nvSpPr>
        <p:spPr>
          <a:xfrm>
            <a:off x="7498079" y="4892040"/>
            <a:ext cx="1920240" cy="1280160"/>
          </a:xfrm>
          <a:prstGeom prst="rect">
            <a:avLst/>
          </a:prstGeom>
          <a:noFill/>
        </p:spPr>
        <p:txBody>
          <a:bodyPr wrap="square">
            <a:spAutoFit/>
          </a:bodyPr>
          <a:lstStyle/>
          <a:p>
            <a:pPr algn="l">
              <a:defRPr sz="900" b="0">
                <a:solidFill>
                  <a:srgbClr val="333333"/>
                </a:solidFill>
                <a:latin typeface="Microsoft YaHei"/>
              </a:defRPr>
            </a:pPr>
            <a:r>
              <a:t>目标期刊模板排版</a:t>
            </a:r>
            <a:br/>
            <a:r>
              <a:t>参考文献格式转换</a:t>
            </a:r>
          </a:p>
        </p:txBody>
      </p:sp>
      <p:sp>
        <p:nvSpPr>
          <p:cNvPr id="28" name="Rectangle 27"/>
          <p:cNvSpPr/>
          <p:nvPr/>
        </p:nvSpPr>
        <p:spPr>
          <a:xfrm>
            <a:off x="9692640" y="4480560"/>
            <a:ext cx="2103120" cy="1828800"/>
          </a:xfrm>
          <a:prstGeom prst="rect">
            <a:avLst/>
          </a:prstGeom>
          <a:solidFill>
            <a:srgbClr val="F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92640" y="4480560"/>
            <a:ext cx="2103120" cy="36576"/>
          </a:xfrm>
          <a:prstGeom prst="rect">
            <a:avLst/>
          </a:prstGeom>
          <a:solidFill>
            <a:srgbClr val="3A7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84080" y="4572000"/>
            <a:ext cx="1920240" cy="274320"/>
          </a:xfrm>
          <a:prstGeom prst="rect">
            <a:avLst/>
          </a:prstGeom>
          <a:noFill/>
        </p:spPr>
        <p:txBody>
          <a:bodyPr wrap="square">
            <a:spAutoFit/>
          </a:bodyPr>
          <a:lstStyle/>
          <a:p>
            <a:pPr algn="l">
              <a:defRPr sz="1100" b="1">
                <a:solidFill>
                  <a:srgbClr val="2B5C8A"/>
                </a:solidFill>
                <a:latin typeface="Microsoft YaHei"/>
              </a:defRPr>
            </a:pPr>
            <a:r>
              <a:t>Cover Letter</a:t>
            </a:r>
          </a:p>
        </p:txBody>
      </p:sp>
      <p:sp>
        <p:nvSpPr>
          <p:cNvPr id="31" name="TextBox 30"/>
          <p:cNvSpPr txBox="1"/>
          <p:nvPr/>
        </p:nvSpPr>
        <p:spPr>
          <a:xfrm>
            <a:off x="9784080" y="4892040"/>
            <a:ext cx="1920240" cy="1280160"/>
          </a:xfrm>
          <a:prstGeom prst="rect">
            <a:avLst/>
          </a:prstGeom>
          <a:noFill/>
        </p:spPr>
        <p:txBody>
          <a:bodyPr wrap="square">
            <a:spAutoFit/>
          </a:bodyPr>
          <a:lstStyle/>
          <a:p>
            <a:pPr algn="l">
              <a:defRPr sz="900" b="0">
                <a:solidFill>
                  <a:srgbClr val="333333"/>
                </a:solidFill>
                <a:latin typeface="Microsoft YaHei"/>
              </a:defRPr>
            </a:pPr>
            <a:r>
              <a:t>重点突出: 首次油相监测</a:t>
            </a:r>
            <a:br/>
            <a:r>
              <a:t>ADE分段模型R²=0.9939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