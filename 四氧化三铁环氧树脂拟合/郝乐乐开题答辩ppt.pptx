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5" r:id="rId2"/>
  </p:sldMasterIdLst>
  <p:notesMasterIdLst>
    <p:notesMasterId r:id="rId30"/>
  </p:notesMasterIdLst>
  <p:handoutMasterIdLst>
    <p:handoutMasterId r:id="rId31"/>
  </p:handoutMasterIdLst>
  <p:sldIdLst>
    <p:sldId id="676" r:id="rId3"/>
    <p:sldId id="806" r:id="rId4"/>
    <p:sldId id="697" r:id="rId5"/>
    <p:sldId id="804" r:id="rId6"/>
    <p:sldId id="808" r:id="rId7"/>
    <p:sldId id="822" r:id="rId8"/>
    <p:sldId id="809" r:id="rId9"/>
    <p:sldId id="810" r:id="rId10"/>
    <p:sldId id="823" r:id="rId11"/>
    <p:sldId id="811" r:id="rId12"/>
    <p:sldId id="813" r:id="rId13"/>
    <p:sldId id="814" r:id="rId14"/>
    <p:sldId id="815" r:id="rId15"/>
    <p:sldId id="816" r:id="rId16"/>
    <p:sldId id="817" r:id="rId17"/>
    <p:sldId id="818" r:id="rId18"/>
    <p:sldId id="819" r:id="rId19"/>
    <p:sldId id="821" r:id="rId20"/>
    <p:sldId id="824" r:id="rId21"/>
    <p:sldId id="825" r:id="rId22"/>
    <p:sldId id="826" r:id="rId23"/>
    <p:sldId id="827" r:id="rId24"/>
    <p:sldId id="828" r:id="rId25"/>
    <p:sldId id="829" r:id="rId26"/>
    <p:sldId id="830" r:id="rId27"/>
    <p:sldId id="831" r:id="rId28"/>
    <p:sldId id="692" r:id="rId29"/>
  </p:sldIdLst>
  <p:sldSz cx="9144000" cy="5143500" type="screen16x9"/>
  <p:notesSz cx="6797675" cy="9928225"/>
  <p:defaultTextStyle>
    <a:defPPr>
      <a:defRPr lang="zh-CN"/>
    </a:defPPr>
    <a:lvl1pPr marL="0" algn="l" defTabSz="6841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047" algn="l" defTabSz="6841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4185" algn="l" defTabSz="6841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6278" algn="l" defTabSz="6841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68370" algn="l" defTabSz="6841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0509" algn="l" defTabSz="6841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2554" algn="l" defTabSz="6841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394600" algn="l" defTabSz="6841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36647" algn="l" defTabSz="6841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597" userDrawn="1">
          <p15:clr>
            <a:srgbClr val="A4A3A4"/>
          </p15:clr>
        </p15:guide>
        <p15:guide id="5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E6E"/>
    <a:srgbClr val="002060"/>
    <a:srgbClr val="CD0A20"/>
    <a:srgbClr val="0A6DC6"/>
    <a:srgbClr val="09278E"/>
    <a:srgbClr val="477971"/>
    <a:srgbClr val="0000FF"/>
    <a:srgbClr val="D5DCE4"/>
    <a:srgbClr val="FFF4C8"/>
    <a:srgbClr val="5E48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05" autoAdjust="0"/>
    <p:restoredTop sz="93724" autoAdjust="0"/>
  </p:normalViewPr>
  <p:slideViewPr>
    <p:cSldViewPr snapToGrid="0" showGuides="1">
      <p:cViewPr varScale="1">
        <p:scale>
          <a:sx n="119" d="100"/>
          <a:sy n="119" d="100"/>
        </p:scale>
        <p:origin x="84" y="264"/>
      </p:cViewPr>
      <p:guideLst>
        <p:guide orient="horz" pos="159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68"/>
    </p:cViewPr>
  </p:sorterViewPr>
  <p:notesViewPr>
    <p:cSldViewPr snapToGrid="0">
      <p:cViewPr varScale="1">
        <p:scale>
          <a:sx n="82" d="100"/>
          <a:sy n="82" d="100"/>
        </p:scale>
        <p:origin x="23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931E1-7C5A-47E7-9A5A-2039305ABCAA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13884C-818A-4CCB-A3CA-5BECBF46D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9878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BB0B0A-7FB2-412B-859F-EC3A8F9B9D13}" type="datetimeFigureOut">
              <a:rPr lang="zh-CN" altLang="en-US" smtClean="0"/>
              <a:pPr/>
              <a:t>2026/5/6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3F2CE-909D-4581-8BA8-8DCD318820E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076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418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047" algn="l" defTabSz="68418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4185" algn="l" defTabSz="68418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6278" algn="l" defTabSz="68418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68370" algn="l" defTabSz="68418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0509" algn="l" defTabSz="68418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2554" algn="l" defTabSz="68418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4600" algn="l" defTabSz="68418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36647" algn="l" defTabSz="68418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6C439-5B31-42A4-9D65-F2D199E8886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4637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683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73319B-86DD-4450-9F93-4A8E4F56AB8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6838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50484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3A5C0-007B-6FEF-8D93-6856C64D5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>
            <a:extLst>
              <a:ext uri="{FF2B5EF4-FFF2-40B4-BE49-F238E27FC236}">
                <a16:creationId xmlns:a16="http://schemas.microsoft.com/office/drawing/2014/main" id="{5039BB5E-D770-FF2E-7871-705259FA4D8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>
            <a:extLst>
              <a:ext uri="{FF2B5EF4-FFF2-40B4-BE49-F238E27FC236}">
                <a16:creationId xmlns:a16="http://schemas.microsoft.com/office/drawing/2014/main" id="{9336E980-9BE6-03FB-8EB8-078D4992A26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>
            <a:extLst>
              <a:ext uri="{FF2B5EF4-FFF2-40B4-BE49-F238E27FC236}">
                <a16:creationId xmlns:a16="http://schemas.microsoft.com/office/drawing/2014/main" id="{D990DA93-A956-8F90-EA54-6E44BC6D59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683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73319B-86DD-4450-9F93-4A8E4F56AB8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6838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7298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21034-755A-ECA2-AC7D-C813D2A2F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>
            <a:extLst>
              <a:ext uri="{FF2B5EF4-FFF2-40B4-BE49-F238E27FC236}">
                <a16:creationId xmlns:a16="http://schemas.microsoft.com/office/drawing/2014/main" id="{79C31EE7-A18B-7710-EA7A-70C35585F61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>
            <a:extLst>
              <a:ext uri="{FF2B5EF4-FFF2-40B4-BE49-F238E27FC236}">
                <a16:creationId xmlns:a16="http://schemas.microsoft.com/office/drawing/2014/main" id="{EB612271-E5B7-054C-C234-DF651221CDD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>
            <a:extLst>
              <a:ext uri="{FF2B5EF4-FFF2-40B4-BE49-F238E27FC236}">
                <a16:creationId xmlns:a16="http://schemas.microsoft.com/office/drawing/2014/main" id="{223D098E-4F82-FCB0-E09B-87558C1F9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683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73319B-86DD-4450-9F93-4A8E4F56AB8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6838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6200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F8143-0A27-9C6B-4A5B-C0505CF3E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>
            <a:extLst>
              <a:ext uri="{FF2B5EF4-FFF2-40B4-BE49-F238E27FC236}">
                <a16:creationId xmlns:a16="http://schemas.microsoft.com/office/drawing/2014/main" id="{4FFD098B-EADB-D706-135B-6C55D6C8456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>
            <a:extLst>
              <a:ext uri="{FF2B5EF4-FFF2-40B4-BE49-F238E27FC236}">
                <a16:creationId xmlns:a16="http://schemas.microsoft.com/office/drawing/2014/main" id="{277D7631-B04D-E9B4-071A-1135A10A69B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>
            <a:extLst>
              <a:ext uri="{FF2B5EF4-FFF2-40B4-BE49-F238E27FC236}">
                <a16:creationId xmlns:a16="http://schemas.microsoft.com/office/drawing/2014/main" id="{ED719E7D-05B0-31D6-9F65-24DDEC462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683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73319B-86DD-4450-9F93-4A8E4F56AB8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6838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03135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5E598-AC4A-03A9-9DA4-6A19A7EF7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>
            <a:extLst>
              <a:ext uri="{FF2B5EF4-FFF2-40B4-BE49-F238E27FC236}">
                <a16:creationId xmlns:a16="http://schemas.microsoft.com/office/drawing/2014/main" id="{1EF90832-4E15-5D93-DBCA-B835C4BB69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>
            <a:extLst>
              <a:ext uri="{FF2B5EF4-FFF2-40B4-BE49-F238E27FC236}">
                <a16:creationId xmlns:a16="http://schemas.microsoft.com/office/drawing/2014/main" id="{7FDB9A0F-097D-1D75-0E14-17D3EEC5E31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>
            <a:extLst>
              <a:ext uri="{FF2B5EF4-FFF2-40B4-BE49-F238E27FC236}">
                <a16:creationId xmlns:a16="http://schemas.microsoft.com/office/drawing/2014/main" id="{CE0035CF-BE76-3127-424D-FFE64409B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683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73319B-86DD-4450-9F93-4A8E4F56AB8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6838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1769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4A644-FBDF-BDDB-601C-CDC68F8B2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>
            <a:extLst>
              <a:ext uri="{FF2B5EF4-FFF2-40B4-BE49-F238E27FC236}">
                <a16:creationId xmlns:a16="http://schemas.microsoft.com/office/drawing/2014/main" id="{8AC11B79-6BA9-EB64-B231-05ACE963811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>
            <a:extLst>
              <a:ext uri="{FF2B5EF4-FFF2-40B4-BE49-F238E27FC236}">
                <a16:creationId xmlns:a16="http://schemas.microsoft.com/office/drawing/2014/main" id="{5FC5019C-8277-5C10-0BD6-6E6845BD80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>
            <a:extLst>
              <a:ext uri="{FF2B5EF4-FFF2-40B4-BE49-F238E27FC236}">
                <a16:creationId xmlns:a16="http://schemas.microsoft.com/office/drawing/2014/main" id="{F24801EC-91FD-3E1F-9856-0B5CD7478C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683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73319B-86DD-4450-9F93-4A8E4F56AB8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6838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5073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7804D-58E0-A844-AC2D-8B503DF24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>
            <a:extLst>
              <a:ext uri="{FF2B5EF4-FFF2-40B4-BE49-F238E27FC236}">
                <a16:creationId xmlns:a16="http://schemas.microsoft.com/office/drawing/2014/main" id="{EBF984D3-45C8-1351-E442-517F5173FB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>
            <a:extLst>
              <a:ext uri="{FF2B5EF4-FFF2-40B4-BE49-F238E27FC236}">
                <a16:creationId xmlns:a16="http://schemas.microsoft.com/office/drawing/2014/main" id="{73C283BD-58EC-B032-545B-D1A13B63C1C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>
            <a:extLst>
              <a:ext uri="{FF2B5EF4-FFF2-40B4-BE49-F238E27FC236}">
                <a16:creationId xmlns:a16="http://schemas.microsoft.com/office/drawing/2014/main" id="{C7F6E65A-118B-1368-A603-19CE7CD26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683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73319B-86DD-4450-9F93-4A8E4F56AB8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6838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8319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3F2CE-909D-4581-8BA8-8DCD318820E5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417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728941"/>
            <a:ext cx="9144000" cy="0"/>
          </a:xfrm>
          <a:prstGeom prst="line">
            <a:avLst/>
          </a:prstGeom>
          <a:ln w="47625" cmpd="thickThin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A4F1F672-F770-4392-89F9-21A83EDA28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49" t="41538" r="13137" b="33419"/>
          <a:stretch/>
        </p:blipFill>
        <p:spPr>
          <a:xfrm>
            <a:off x="17585" y="71715"/>
            <a:ext cx="2497016" cy="59097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043E609-80AC-4A95-B8C0-D7565F32D889}"/>
              </a:ext>
            </a:extLst>
          </p:cNvPr>
          <p:cNvSpPr/>
          <p:nvPr userDrawn="1"/>
        </p:nvSpPr>
        <p:spPr>
          <a:xfrm>
            <a:off x="5400902" y="136369"/>
            <a:ext cx="35878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i="1" u="none" noProof="1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光楷体一_CNKI" panose="02000500000000000000" pitchFamily="2" charset="-122"/>
                <a:ea typeface="华光楷体一_CNKI" panose="02000500000000000000" pitchFamily="2" charset="-122"/>
                <a:sym typeface="+mn-ea"/>
              </a:rPr>
              <a:t>硕士研究生论文开题答辩</a:t>
            </a:r>
          </a:p>
        </p:txBody>
      </p:sp>
    </p:spTree>
    <p:extLst>
      <p:ext uri="{BB962C8B-B14F-4D97-AF65-F5344CB8AC3E}">
        <p14:creationId xmlns:p14="http://schemas.microsoft.com/office/powerpoint/2010/main" val="1439242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57578" y="88050"/>
            <a:ext cx="1275751" cy="507746"/>
          </a:xfrm>
          <a:prstGeom prst="rect">
            <a:avLst/>
          </a:prstGeom>
          <a:noFill/>
        </p:spPr>
        <p:txBody>
          <a:bodyPr wrap="square" lIns="91235" tIns="45617" rIns="91235" bIns="45617" rtlCol="0">
            <a:spAutoFit/>
          </a:bodyPr>
          <a:lstStyle/>
          <a:p>
            <a:endParaRPr lang="zh-CN" altLang="en-US" sz="2700" b="1" spc="-113" dirty="0">
              <a:solidFill>
                <a:schemeClr val="accent1"/>
              </a:solidFill>
              <a:effectLst/>
              <a:latin typeface="Arial Black" pitchFamily="34" charset="0"/>
              <a:ea typeface="微软雅黑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728941"/>
            <a:ext cx="9144000" cy="0"/>
          </a:xfrm>
          <a:prstGeom prst="line">
            <a:avLst/>
          </a:prstGeom>
          <a:ln w="47625" cmpd="thickThin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E4B11D3D-AF5B-4FD5-ADDD-C979901FDA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41" t="17947" r="27332" b="16069"/>
          <a:stretch/>
        </p:blipFill>
        <p:spPr>
          <a:xfrm>
            <a:off x="13189" y="22626"/>
            <a:ext cx="680802" cy="67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658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824513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728941"/>
            <a:ext cx="9144000" cy="0"/>
          </a:xfrm>
          <a:prstGeom prst="line">
            <a:avLst/>
          </a:prstGeom>
          <a:ln w="47625" cmpd="thickThin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B36BAF05-7542-44FB-BC6A-713A44AD5B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41" t="17947" r="27332" b="16069"/>
          <a:stretch/>
        </p:blipFill>
        <p:spPr>
          <a:xfrm>
            <a:off x="13189" y="22626"/>
            <a:ext cx="680802" cy="67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87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728941"/>
            <a:ext cx="9144000" cy="0"/>
          </a:xfrm>
          <a:prstGeom prst="line">
            <a:avLst/>
          </a:prstGeom>
          <a:ln w="47625" cmpd="thickThin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837584F1-0715-4B58-A471-BFDCE012CE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41" t="17947" r="27332" b="16069"/>
          <a:stretch/>
        </p:blipFill>
        <p:spPr>
          <a:xfrm>
            <a:off x="13189" y="22626"/>
            <a:ext cx="680802" cy="67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397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57578" y="88050"/>
            <a:ext cx="1275751" cy="507746"/>
          </a:xfrm>
          <a:prstGeom prst="rect">
            <a:avLst/>
          </a:prstGeom>
          <a:noFill/>
        </p:spPr>
        <p:txBody>
          <a:bodyPr wrap="square" lIns="91235" tIns="45617" rIns="91235" bIns="45617" rtlCol="0">
            <a:spAutoFit/>
          </a:bodyPr>
          <a:lstStyle/>
          <a:p>
            <a:pPr marL="0" marR="0" lvl="0" indent="0" algn="l" defTabSz="683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700" b="1" i="0" u="none" strike="noStrike" kern="1200" cap="none" spc="-113" normalizeH="0" baseline="0" noProof="0" dirty="0">
              <a:ln>
                <a:noFill/>
              </a:ln>
              <a:solidFill>
                <a:srgbClr val="0F6FC6"/>
              </a:soli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728941"/>
            <a:ext cx="9144000" cy="0"/>
          </a:xfrm>
          <a:prstGeom prst="line">
            <a:avLst/>
          </a:prstGeom>
          <a:ln w="47625" cmpd="thickThin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E8FC5F0E-2E46-4DE0-B3B5-6680B9548C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41" t="17947" r="27332" b="16069"/>
          <a:stretch/>
        </p:blipFill>
        <p:spPr>
          <a:xfrm>
            <a:off x="13189" y="22626"/>
            <a:ext cx="680802" cy="67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206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407048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509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</p:sldLayoutIdLst>
  <p:txStyles>
    <p:titleStyle>
      <a:lvl1pPr algn="ctr" defTabSz="91212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1993" indent="-341993" algn="l" defTabSz="91212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128" indent="-285042" algn="l" defTabSz="912125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0121" indent="-227996" algn="l" defTabSz="91212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6160" indent="-227996" algn="l" defTabSz="91212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2245" indent="-227996" algn="l" defTabSz="91212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08237" indent="-227996" algn="l" defTabSz="91212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4324" indent="-227996" algn="l" defTabSz="91212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0362" indent="-227996" algn="l" defTabSz="91212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6402" indent="-227996" algn="l" defTabSz="91212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21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993" algn="l" defTabSz="9121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125" algn="l" defTabSz="9121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8164" algn="l" defTabSz="9121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4248" algn="l" defTabSz="9121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0242" algn="l" defTabSz="9121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6233" algn="l" defTabSz="9121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2336" algn="l" defTabSz="9121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8395" algn="l" defTabSz="9121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5667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txStyles>
    <p:titleStyle>
      <a:lvl1pPr algn="ctr" defTabSz="91186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265" indent="-342265" algn="l" defTabSz="91186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045" indent="-285115" algn="l" defTabSz="91186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39825" indent="-227965" algn="l" defTabSz="91186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6390" indent="-227965" algn="l" defTabSz="91186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2320" indent="-227965" algn="l" defTabSz="91186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08250" indent="-227965" algn="l" defTabSz="91186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4180" indent="-227965" algn="l" defTabSz="91186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0110" indent="-227965" algn="l" defTabSz="91186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6675" indent="-227965" algn="l" defTabSz="91186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18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930" algn="l" defTabSz="9118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1860" algn="l" defTabSz="9118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8425" algn="l" defTabSz="9118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4355" algn="l" defTabSz="9118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18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6215" algn="l" defTabSz="9118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2145" algn="l" defTabSz="9118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8710" algn="l" defTabSz="9118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<p:cNvSpPr txBox="1">
            <a:spLocks noChangeArrowheads="1"/>
          </p:cNvSpPr>
          <p:nvPr/>
        </p:nvSpPr>
        <p:spPr bwMode="auto">
          <a:xfrm>
            <a:off x="183272" y="1298683"/>
            <a:ext cx="8777456" cy="107721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altLang="en-US" sz="3200" b="1" spc="1000" dirty="0">
                <a:solidFill>
                  <a:srgbClr val="002060"/>
                </a:solidFill>
                <a:latin typeface="微软雅黑" panose="020B0503020204020204" pitchFamily="34" charset="-122"/>
              </a:rPr>
              <a:t>用于压裂裂缝监测的荧光压裂液体系构建与性能研究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EFDEB21-791A-4CE1-85EF-803D7E4FF0F1}"/>
              </a:ext>
            </a:extLst>
          </p:cNvPr>
          <p:cNvSpPr txBox="1"/>
          <p:nvPr/>
        </p:nvSpPr>
        <p:spPr>
          <a:xfrm>
            <a:off x="1959423" y="2375901"/>
            <a:ext cx="5225153" cy="870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姓       名：郝乐乐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学       号：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2024050203</a:t>
            </a: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导       师：李娜   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专       业：石油与天然气工程</a:t>
            </a:r>
          </a:p>
        </p:txBody>
      </p:sp>
    </p:spTree>
    <p:extLst>
      <p:ext uri="{BB962C8B-B14F-4D97-AF65-F5344CB8AC3E}">
        <p14:creationId xmlns:p14="http://schemas.microsoft.com/office/powerpoint/2010/main" val="1349895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415CC9F6-754F-47CC-B15E-13E5A2744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6791"/>
            <a:ext cx="3352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9525">
              <a:spcBef>
                <a:spcPct val="20000"/>
              </a:spcBef>
              <a:buChar char="•"/>
              <a:tabLst>
                <a:tab pos="533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533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53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533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533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33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33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33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33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 algn="ctr" defTabSz="683895">
              <a:spcBef>
                <a:spcPts val="0"/>
              </a:spcBef>
              <a:buNone/>
              <a:tabLst/>
              <a:defRPr/>
            </a:pPr>
            <a:r>
              <a:rPr lang="zh-CN" altLang="en-US" sz="3600" b="1" spc="1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基本情况</a:t>
            </a:r>
            <a:endParaRPr lang="zh-CN" altLang="zh-CN" sz="3600" b="1" spc="1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5FC8226D-B3E7-4626-ADEA-7F1B6A0885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957" y="896730"/>
            <a:ext cx="6248400" cy="367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ct val="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已修学分：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已修够学分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200000"/>
              </a:lnSpc>
              <a:spcBef>
                <a:spcPct val="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学位英语：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符合要求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200000"/>
              </a:lnSpc>
              <a:spcBef>
                <a:spcPct val="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英语水平：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四级</a:t>
            </a:r>
          </a:p>
          <a:p>
            <a:pPr eaLnBrk="1" hangingPunct="1">
              <a:lnSpc>
                <a:spcPct val="200000"/>
              </a:lnSpc>
              <a:spcBef>
                <a:spcPct val="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研究方向：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油田化学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200000"/>
              </a:lnSpc>
              <a:spcBef>
                <a:spcPct val="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目前成果：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0069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997426" y="32655"/>
            <a:ext cx="5179219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3600" b="1" spc="1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683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10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 录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870676" y="872556"/>
            <a:ext cx="6929915" cy="3883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一、选题依据及意义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二、国内外研究现状及存在的主要问题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三、主要研究内容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四、研究思路及技术路线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五、预期成果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六、进度安排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七、论文提纲</a:t>
            </a:r>
          </a:p>
        </p:txBody>
      </p:sp>
    </p:spTree>
    <p:extLst>
      <p:ext uri="{BB962C8B-B14F-4D97-AF65-F5344CB8AC3E}">
        <p14:creationId xmlns:p14="http://schemas.microsoft.com/office/powerpoint/2010/main" val="3768763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DF089E2-4F1C-F22A-BE0F-3F96666113A3}"/>
              </a:ext>
            </a:extLst>
          </p:cNvPr>
          <p:cNvSpPr txBox="1"/>
          <p:nvPr/>
        </p:nvSpPr>
        <p:spPr>
          <a:xfrm>
            <a:off x="3237923" y="85235"/>
            <a:ext cx="2668153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一、选题依据及意义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579CCD9-48A0-B2C6-FF9D-3950ACEC88E9}"/>
              </a:ext>
            </a:extLst>
          </p:cNvPr>
          <p:cNvSpPr txBox="1"/>
          <p:nvPr/>
        </p:nvSpPr>
        <p:spPr>
          <a:xfrm>
            <a:off x="396575" y="859499"/>
            <a:ext cx="8141193" cy="134690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水力压裂是页岩油气、致密砂岩气等非常规资源高效开发的核心技术，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裂缝的延伸情况及复杂程度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直接决定了储层改造体积与采收率，因此精准获取裂缝空间展布对于优化压裂设计、评估增产效果、指导井网部署具有关键工程需求。现有监测手段（微地震、示踪剂等）均存在固有局限性，无法提供裂缝壁面的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直接物理证据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，导致裂缝诊断长期依赖间接反演，结果多解性强、可靠性不足。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B6A6F2D-9504-9F98-D021-1C9E935E8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241" y="2498807"/>
            <a:ext cx="4765409" cy="189989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42F696A-B834-1D61-4194-E65271711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076" y="2498808"/>
            <a:ext cx="2270050" cy="212849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09BBFAE-3F55-2A0F-3B9C-1A0C833A129B}"/>
              </a:ext>
            </a:extLst>
          </p:cNvPr>
          <p:cNvSpPr txBox="1"/>
          <p:nvPr/>
        </p:nvSpPr>
        <p:spPr>
          <a:xfrm>
            <a:off x="1901438" y="4627305"/>
            <a:ext cx="2021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1E3E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示踪剂监测示意图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8B0FDA7-9889-CC6B-2FBB-F3C1927BB667}"/>
              </a:ext>
            </a:extLst>
          </p:cNvPr>
          <p:cNvSpPr txBox="1"/>
          <p:nvPr/>
        </p:nvSpPr>
        <p:spPr>
          <a:xfrm>
            <a:off x="6030448" y="4710190"/>
            <a:ext cx="2021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1E3E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微地震检测示意图</a:t>
            </a:r>
          </a:p>
        </p:txBody>
      </p:sp>
    </p:spTree>
    <p:extLst>
      <p:ext uri="{BB962C8B-B14F-4D97-AF65-F5344CB8AC3E}">
        <p14:creationId xmlns:p14="http://schemas.microsoft.com/office/powerpoint/2010/main" val="3549946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0C860-0C74-E102-0981-DE8D82242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E9917DD-FD6A-5BEC-6EAE-C61D468828FA}"/>
              </a:ext>
            </a:extLst>
          </p:cNvPr>
          <p:cNvSpPr txBox="1"/>
          <p:nvPr/>
        </p:nvSpPr>
        <p:spPr>
          <a:xfrm>
            <a:off x="3237923" y="85235"/>
            <a:ext cx="2668153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一、选题依据及意义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83C25F7-DBE6-40D4-81E2-DEA05872477E}"/>
              </a:ext>
            </a:extLst>
          </p:cNvPr>
          <p:cNvSpPr txBox="1"/>
          <p:nvPr/>
        </p:nvSpPr>
        <p:spPr>
          <a:xfrm>
            <a:off x="396575" y="804664"/>
            <a:ext cx="8141193" cy="1670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现有监测技术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多为间接测量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，无法提供裂缝壁面直接证据，压后取心亦难留标记，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缺乏“可取证”实物依据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。荧光示踪可在紫外下直接呈现裂缝形态，已获实验验证。但其系统应用仍需解决材料在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高温氧化下的荧光稳定性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、在胍胶液中的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分散兼容性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及破胶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后壁面牢固附着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三大问题。本研究目标在于突破高密度荧光粉在胍胶压裂液中的分散、兼容、吸附三大瓶颈，构建一套满足现场施工要求的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荧光压裂液体系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，为裂缝直接观测提供工程化技术方案。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4DCC3E8-6E8C-109F-DAE7-1AA23CEBDF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423719"/>
              </p:ext>
            </p:extLst>
          </p:nvPr>
        </p:nvGraphicFramePr>
        <p:xfrm>
          <a:off x="740907" y="2595984"/>
          <a:ext cx="7662184" cy="2345630"/>
        </p:xfrm>
        <a:graphic>
          <a:graphicData uri="http://schemas.openxmlformats.org/drawingml/2006/table">
            <a:tbl>
              <a:tblPr/>
              <a:tblGrid>
                <a:gridCol w="1911256">
                  <a:extLst>
                    <a:ext uri="{9D8B030D-6E8A-4147-A177-3AD203B41FA5}">
                      <a16:colId xmlns:a16="http://schemas.microsoft.com/office/drawing/2014/main" val="1191881484"/>
                    </a:ext>
                  </a:extLst>
                </a:gridCol>
                <a:gridCol w="2167080">
                  <a:extLst>
                    <a:ext uri="{9D8B030D-6E8A-4147-A177-3AD203B41FA5}">
                      <a16:colId xmlns:a16="http://schemas.microsoft.com/office/drawing/2014/main" val="606628285"/>
                    </a:ext>
                  </a:extLst>
                </a:gridCol>
                <a:gridCol w="894441">
                  <a:extLst>
                    <a:ext uri="{9D8B030D-6E8A-4147-A177-3AD203B41FA5}">
                      <a16:colId xmlns:a16="http://schemas.microsoft.com/office/drawing/2014/main" val="352312464"/>
                    </a:ext>
                  </a:extLst>
                </a:gridCol>
                <a:gridCol w="1320364">
                  <a:extLst>
                    <a:ext uri="{9D8B030D-6E8A-4147-A177-3AD203B41FA5}">
                      <a16:colId xmlns:a16="http://schemas.microsoft.com/office/drawing/2014/main" val="392835221"/>
                    </a:ext>
                  </a:extLst>
                </a:gridCol>
                <a:gridCol w="1369043">
                  <a:extLst>
                    <a:ext uri="{9D8B030D-6E8A-4147-A177-3AD203B41FA5}">
                      <a16:colId xmlns:a16="http://schemas.microsoft.com/office/drawing/2014/main" val="3944123049"/>
                    </a:ext>
                  </a:extLst>
                </a:gridCol>
              </a:tblGrid>
              <a:tr h="324000">
                <a:tc gridSpan="5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裂缝监测技术分类表</a:t>
                      </a:r>
                    </a:p>
                  </a:txBody>
                  <a:tcPr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endParaRPr lang="zh-CN" altLang="en-US" sz="900" b="1" kern="120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endParaRPr lang="zh-CN" altLang="en-US" sz="900" b="1" kern="120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endParaRPr lang="zh-CN" altLang="en-US" sz="900" b="1" kern="120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endParaRPr lang="zh-CN" altLang="en-US" sz="900" b="1" kern="120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72372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方法</a:t>
                      </a:r>
                    </a:p>
                  </a:txBody>
                  <a:tcPr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缺陷</a:t>
                      </a: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能否原位</a:t>
                      </a: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能否识别微裂缝</a:t>
                      </a: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能否定量</a:t>
                      </a: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734953"/>
                  </a:ext>
                </a:extLst>
              </a:tr>
              <a:tr h="184914"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化学示踪剂</a:t>
                      </a:r>
                    </a:p>
                  </a:txBody>
                  <a:tcPr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热降解、吸附、污染</a:t>
                      </a: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间接推测</a:t>
                      </a: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否</a:t>
                      </a: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半定量</a:t>
                      </a:r>
                    </a:p>
                  </a:txBody>
                  <a:tcPr marL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797822"/>
                  </a:ext>
                </a:extLst>
              </a:tr>
              <a:tr h="184914"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微地震</a:t>
                      </a:r>
                    </a:p>
                  </a:txBody>
                  <a:tcPr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信号弱、无法定量</a:t>
                      </a: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间接推测</a:t>
                      </a: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否</a:t>
                      </a: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否</a:t>
                      </a:r>
                    </a:p>
                  </a:txBody>
                  <a:tcPr marL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080457"/>
                  </a:ext>
                </a:extLst>
              </a:tr>
              <a:tr h="316871"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岩心</a:t>
                      </a:r>
                      <a:r>
                        <a:rPr lang="en-US" sz="9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CT</a:t>
                      </a:r>
                    </a:p>
                  </a:txBody>
                  <a:tcPr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成本高、样本局部、无法检测裂缝来源</a:t>
                      </a: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室内重构</a:t>
                      </a: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可</a:t>
                      </a: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可（但样本小）</a:t>
                      </a:r>
                    </a:p>
                  </a:txBody>
                  <a:tcPr marL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453546"/>
                  </a:ext>
                </a:extLst>
              </a:tr>
              <a:tr h="316871"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染色剂</a:t>
                      </a:r>
                    </a:p>
                  </a:txBody>
                  <a:tcPr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破坏原位、表面染色、不适应极端环境</a:t>
                      </a: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否</a:t>
                      </a: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否</a:t>
                      </a: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否</a:t>
                      </a:r>
                    </a:p>
                  </a:txBody>
                  <a:tcPr marL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821067"/>
                  </a:ext>
                </a:extLst>
              </a:tr>
              <a:tr h="170674"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荧光树脂</a:t>
                      </a:r>
                    </a:p>
                  </a:txBody>
                  <a:tcPr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热稳定性差、团聚、微裂缝识别困难</a:t>
                      </a: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是</a:t>
                      </a: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差</a:t>
                      </a: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593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186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6842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435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028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3621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192145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48710" algn="l" defTabSz="91186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否</a:t>
                      </a:r>
                    </a:p>
                  </a:txBody>
                  <a:tcPr marL="101600" marT="63500" marB="63500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51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4286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C5CC3-2062-5E05-7423-724B84A65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>
            <a:extLst>
              <a:ext uri="{FF2B5EF4-FFF2-40B4-BE49-F238E27FC236}">
                <a16:creationId xmlns:a16="http://schemas.microsoft.com/office/drawing/2014/main" id="{7033A38E-BAF3-2AA8-66E7-165B818B2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426" y="32655"/>
            <a:ext cx="5179219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3600" b="1" spc="1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683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10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 录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55BE1533-9A8A-118C-5B06-9322CFCB00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0676" y="872556"/>
            <a:ext cx="6929915" cy="3883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一、选题依据及意义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二、国内外研究现状及存在的主要问题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三、主要研究内容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四、研究思路及技术路线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五、预期成果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六、进度安排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七、论文提纲</a:t>
            </a:r>
          </a:p>
        </p:txBody>
      </p:sp>
    </p:spTree>
    <p:extLst>
      <p:ext uri="{BB962C8B-B14F-4D97-AF65-F5344CB8AC3E}">
        <p14:creationId xmlns:p14="http://schemas.microsoft.com/office/powerpoint/2010/main" val="699220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F45FD-CEAE-6D56-6D57-C2D9DCC37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43BD35B-5E71-7918-053D-E77CC9C127AD}"/>
              </a:ext>
            </a:extLst>
          </p:cNvPr>
          <p:cNvSpPr txBox="1"/>
          <p:nvPr/>
        </p:nvSpPr>
        <p:spPr>
          <a:xfrm>
            <a:off x="2042838" y="85235"/>
            <a:ext cx="4858770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二、国内外研究现状及存在的主要问题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C8B99E-B34F-2C90-EE55-A8F259DFE194}"/>
              </a:ext>
            </a:extLst>
          </p:cNvPr>
          <p:cNvSpPr txBox="1"/>
          <p:nvPr/>
        </p:nvSpPr>
        <p:spPr>
          <a:xfrm>
            <a:off x="401627" y="925911"/>
            <a:ext cx="8141193" cy="134690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当前主流监测技术（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DAS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微地震、示踪剂）均属间接测量，依赖反演，存在多解性强、无法提供裂缝壁面直接证据等局限。荧光示踪可实现裂缝形态原位直观观测，露头实验等已验证其可行性，并能揭示间接方法遗漏的信息。但现有研究多采用有机荧光材料，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存在分散性差、与胍胶体系兼容性不足、壁面附着力弱等问题，限制了工程应用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95169DD-8848-DEA3-53DB-8EF3F2CE0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03" y="2379777"/>
            <a:ext cx="8141193" cy="226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749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8667E-AE80-7BEA-AFBE-6E9495499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42E6938-0C93-C455-9456-164B7C28D609}"/>
              </a:ext>
            </a:extLst>
          </p:cNvPr>
          <p:cNvSpPr txBox="1"/>
          <p:nvPr/>
        </p:nvSpPr>
        <p:spPr>
          <a:xfrm>
            <a:off x="2042838" y="85235"/>
            <a:ext cx="4858770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二、国内外研究现状及存在的主要问题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3C28F55-C36A-540B-ABC0-20A627082974}"/>
              </a:ext>
            </a:extLst>
          </p:cNvPr>
          <p:cNvSpPr txBox="1"/>
          <p:nvPr/>
        </p:nvSpPr>
        <p:spPr>
          <a:xfrm>
            <a:off x="401625" y="875391"/>
            <a:ext cx="8141193" cy="134690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①高密度荧光粉在胍胶压裂液中的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分散悬浮稳定性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研究空白，现有技术仅针对低密度介质；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②缺乏面向压裂示踪的荧光粉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表面改性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策略，未考虑多价阳离子干扰、破胶氧化及壁面吸附等问题；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③“分散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‑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吸附” 可切换的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表面设计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尚未建立，无法实现破胶后从分散态向吸附态的切换；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④荧光示踪压裂液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标准化评价体系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与现场施工工艺空白。上述不足构成本研究的立题依据。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873CF3E-31DB-C3AD-B51F-0B8F961B3D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38848"/>
              </p:ext>
            </p:extLst>
          </p:nvPr>
        </p:nvGraphicFramePr>
        <p:xfrm>
          <a:off x="685483" y="2327110"/>
          <a:ext cx="7573475" cy="2600254"/>
        </p:xfrm>
        <a:graphic>
          <a:graphicData uri="http://schemas.openxmlformats.org/drawingml/2006/table">
            <a:tbl>
              <a:tblPr/>
              <a:tblGrid>
                <a:gridCol w="1848733">
                  <a:extLst>
                    <a:ext uri="{9D8B030D-6E8A-4147-A177-3AD203B41FA5}">
                      <a16:colId xmlns:a16="http://schemas.microsoft.com/office/drawing/2014/main" val="1158817197"/>
                    </a:ext>
                  </a:extLst>
                </a:gridCol>
                <a:gridCol w="5724742">
                  <a:extLst>
                    <a:ext uri="{9D8B030D-6E8A-4147-A177-3AD203B41FA5}">
                      <a16:colId xmlns:a16="http://schemas.microsoft.com/office/drawing/2014/main" val="3278764830"/>
                    </a:ext>
                  </a:extLst>
                </a:gridCol>
              </a:tblGrid>
              <a:tr h="184773"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荧光压裂液存在问题</a:t>
                      </a:r>
                    </a:p>
                  </a:txBody>
                  <a:tcPr marL="46420" marR="51578" marT="32236" marB="3223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endParaRPr lang="zh-CN" altLang="en-US" sz="900" b="1" kern="120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578" marR="51578" marT="32236" marB="3223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546064"/>
                  </a:ext>
                </a:extLst>
              </a:tr>
              <a:tr h="18477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存在问题</a:t>
                      </a:r>
                    </a:p>
                  </a:txBody>
                  <a:tcPr marL="46420" marR="51578" marT="32236" marB="3223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具体描述</a:t>
                      </a:r>
                    </a:p>
                  </a:txBody>
                  <a:tcPr marL="51578" marR="51578" marT="32236" marB="3223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784074"/>
                  </a:ext>
                </a:extLst>
              </a:tr>
              <a:tr h="534248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分散悬浮稳定性差</a:t>
                      </a:r>
                    </a:p>
                  </a:txBody>
                  <a:tcPr marL="46420" marR="51578" marT="32236" marB="3223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荧光粉密度≈</a:t>
                      </a:r>
                      <a:r>
                        <a:rPr lang="en-US" altLang="zh-CN" sz="9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4.0 g/cm³</a:t>
                      </a:r>
                      <a:r>
                        <a:rPr lang="zh-CN" altLang="en-US" sz="9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，胍胶基液≈</a:t>
                      </a:r>
                      <a:r>
                        <a:rPr lang="en-US" altLang="zh-CN" sz="9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1.0 g/cm³</a:t>
                      </a:r>
                      <a:r>
                        <a:rPr lang="zh-CN" altLang="en-US" sz="9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；纯胍胶基液黏度</a:t>
                      </a:r>
                      <a:r>
                        <a:rPr lang="en-US" altLang="zh-CN" sz="9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&lt;30 </a:t>
                      </a:r>
                      <a:r>
                        <a:rPr lang="en-US" altLang="zh-CN" sz="900" b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mPa·s</a:t>
                      </a:r>
                      <a:r>
                        <a:rPr lang="zh-CN" altLang="en-US" sz="9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，难以托举高密度颗粒；粉体易团聚，加速沉降</a:t>
                      </a:r>
                    </a:p>
                  </a:txBody>
                  <a:tcPr marL="51578" marR="46420" marT="32236" marB="3223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798532"/>
                  </a:ext>
                </a:extLst>
              </a:tr>
              <a:tr h="616108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与胍胶体系化学兼容性差</a:t>
                      </a:r>
                    </a:p>
                  </a:txBody>
                  <a:tcPr marL="46420" marR="51578" marT="32236" marB="3223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荧光粉释放</a:t>
                      </a:r>
                      <a:r>
                        <a:rPr lang="en-US" altLang="zh-CN" sz="9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Al³⁺</a:t>
                      </a:r>
                      <a:r>
                        <a:rPr lang="zh-CN" altLang="en-US" sz="9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等多价阳离子，干扰胍胶交联，导致絮凝、黏度骤降；表面基团可吸附胍胶分子或交联剂；可能吸附破胶剂，造成破胶不彻底</a:t>
                      </a:r>
                    </a:p>
                  </a:txBody>
                  <a:tcPr marL="51578" marR="46420" marT="32236" marB="3223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806942"/>
                  </a:ext>
                </a:extLst>
              </a:tr>
              <a:tr h="45238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破胶后岩石吸附能力不足</a:t>
                      </a:r>
                    </a:p>
                  </a:txBody>
                  <a:tcPr marL="46420" marR="51578" marT="32236" marB="3223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注入期需分散（亲水、空间位阻），破胶后需吸附（化学结合），表面化学矛盾；缺乏“可切换”表面设计</a:t>
                      </a:r>
                    </a:p>
                  </a:txBody>
                  <a:tcPr marL="51578" marR="46420" marT="32236" marB="3223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810711"/>
                  </a:ext>
                </a:extLst>
              </a:tr>
              <a:tr h="45238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现场施工工艺适应性不足</a:t>
                      </a:r>
                    </a:p>
                  </a:txBody>
                  <a:tcPr marL="46420" marR="51578" marT="32236" marB="3223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9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干粉直接加入存在粉尘、分散不均、结块等问题；无标准化评价体系，研发与现场应用脱节</a:t>
                      </a:r>
                    </a:p>
                  </a:txBody>
                  <a:tcPr marL="51578" marR="46420" marT="32236" marB="3223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804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9647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834C4-2E1B-A840-2104-2C757FC66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>
            <a:extLst>
              <a:ext uri="{FF2B5EF4-FFF2-40B4-BE49-F238E27FC236}">
                <a16:creationId xmlns:a16="http://schemas.microsoft.com/office/drawing/2014/main" id="{A6E3DFCA-2A49-42B1-5BD1-043CBCCDD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426" y="32655"/>
            <a:ext cx="5179219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3600" b="1" spc="1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683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10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 录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6358B0CE-6AEC-F976-0995-9E9517E17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0676" y="872556"/>
            <a:ext cx="6929915" cy="3883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一、选题依据及意义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二、国内外研究现状及存在的主要问题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三、主要研究内容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四、研究思路及技术路线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五、预期成果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六、进度安排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七、论文提纲</a:t>
            </a:r>
          </a:p>
        </p:txBody>
      </p:sp>
    </p:spTree>
    <p:extLst>
      <p:ext uri="{BB962C8B-B14F-4D97-AF65-F5344CB8AC3E}">
        <p14:creationId xmlns:p14="http://schemas.microsoft.com/office/powerpoint/2010/main" val="3455566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6BCB1-2D01-C62D-8B42-8760DA88B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DA0C9E1-D1E0-78D7-C225-E23DB9E3B363}"/>
              </a:ext>
            </a:extLst>
          </p:cNvPr>
          <p:cNvSpPr txBox="1"/>
          <p:nvPr/>
        </p:nvSpPr>
        <p:spPr>
          <a:xfrm>
            <a:off x="2042838" y="85235"/>
            <a:ext cx="4858770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三、主要研究内容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F17C22A-61F2-A431-E7CE-EF4B15D31E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54258"/>
              </p:ext>
            </p:extLst>
          </p:nvPr>
        </p:nvGraphicFramePr>
        <p:xfrm>
          <a:off x="623288" y="2653041"/>
          <a:ext cx="5571740" cy="2150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464">
                  <a:extLst>
                    <a:ext uri="{9D8B030D-6E8A-4147-A177-3AD203B41FA5}">
                      <a16:colId xmlns:a16="http://schemas.microsoft.com/office/drawing/2014/main" val="3744102892"/>
                    </a:ext>
                  </a:extLst>
                </a:gridCol>
                <a:gridCol w="871758">
                  <a:extLst>
                    <a:ext uri="{9D8B030D-6E8A-4147-A177-3AD203B41FA5}">
                      <a16:colId xmlns:a16="http://schemas.microsoft.com/office/drawing/2014/main" val="2370526188"/>
                    </a:ext>
                  </a:extLst>
                </a:gridCol>
                <a:gridCol w="394376">
                  <a:extLst>
                    <a:ext uri="{9D8B030D-6E8A-4147-A177-3AD203B41FA5}">
                      <a16:colId xmlns:a16="http://schemas.microsoft.com/office/drawing/2014/main" val="3327013043"/>
                    </a:ext>
                  </a:extLst>
                </a:gridCol>
                <a:gridCol w="1566299">
                  <a:extLst>
                    <a:ext uri="{9D8B030D-6E8A-4147-A177-3AD203B41FA5}">
                      <a16:colId xmlns:a16="http://schemas.microsoft.com/office/drawing/2014/main" val="483433487"/>
                    </a:ext>
                  </a:extLst>
                </a:gridCol>
                <a:gridCol w="1964843">
                  <a:extLst>
                    <a:ext uri="{9D8B030D-6E8A-4147-A177-3AD203B41FA5}">
                      <a16:colId xmlns:a16="http://schemas.microsoft.com/office/drawing/2014/main" val="2485987623"/>
                    </a:ext>
                  </a:extLst>
                </a:gridCol>
              </a:tblGrid>
              <a:tr h="1140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类别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耐温性能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耐盐性</a:t>
                      </a:r>
                      <a:endParaRPr lang="en-US" altLang="zh-CN" sz="9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优点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局限性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50422"/>
                  </a:ext>
                </a:extLst>
              </a:tr>
              <a:tr h="3355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罗丹明类</a:t>
                      </a:r>
                      <a:r>
                        <a:rPr lang="en-US" altLang="zh-C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Rhodamine)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中等 </a:t>
                      </a:r>
                      <a:r>
                        <a:rPr lang="en-US" altLang="zh-C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(≤100 ℃)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中</a:t>
                      </a:r>
                      <a:endParaRPr lang="en-US" altLang="zh-CN" sz="9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亮度高；检测手段成熟；成像与分光都方便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易吸附泥质</a:t>
                      </a:r>
                      <a:r>
                        <a:rPr lang="en-US" altLang="zh-C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有机质；</a:t>
                      </a:r>
                    </a:p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可能淬灭</a:t>
                      </a:r>
                      <a:r>
                        <a:rPr lang="en-US" altLang="zh-C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串色；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799934"/>
                  </a:ext>
                </a:extLst>
              </a:tr>
              <a:tr h="3355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荧光素类</a:t>
                      </a:r>
                      <a:r>
                        <a:rPr lang="en-US" altLang="zh-C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Fluorescein/</a:t>
                      </a:r>
                      <a:r>
                        <a:rPr lang="en-US" sz="9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Uranine</a:t>
                      </a:r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中等 </a:t>
                      </a:r>
                      <a:r>
                        <a:rPr lang="en-US" altLang="zh-C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(≤120 ℃)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中</a:t>
                      </a:r>
                      <a:endParaRPr lang="en-US" altLang="zh-CN" sz="9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便宜易得；水相示踪常用；信号强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对</a:t>
                      </a:r>
                      <a:r>
                        <a:rPr lang="en-US" altLang="zh-C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pH</a:t>
                      </a: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非常敏感</a:t>
                      </a:r>
                      <a:r>
                        <a:rPr lang="en-US" altLang="zh-C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强度随形态变化</a:t>
                      </a:r>
                      <a:r>
                        <a:rPr lang="en-US" altLang="zh-C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；高盐</a:t>
                      </a:r>
                      <a:r>
                        <a:rPr lang="en-US" altLang="zh-C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金属离子易淬灭；易“失真”需标准化测定条件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037016"/>
                  </a:ext>
                </a:extLst>
              </a:tr>
              <a:tr h="3355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量子点</a:t>
                      </a:r>
                      <a:r>
                        <a:rPr lang="en-US" altLang="zh-CN" sz="9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Quantum Dots)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高 </a:t>
                      </a:r>
                      <a:r>
                        <a:rPr lang="en-US" altLang="zh-C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(≤150 ℃)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高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亮度高；谱线窄；可多颜色编码</a:t>
                      </a:r>
                      <a:r>
                        <a:rPr lang="en-US" altLang="zh-C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分段区分好</a:t>
                      </a:r>
                      <a:r>
                        <a:rPr lang="en-US" altLang="zh-C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稳定性</a:t>
                      </a:r>
                      <a:r>
                        <a:rPr lang="en-US" altLang="zh-C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团聚风险；成本高；</a:t>
                      </a:r>
                    </a:p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环保合规与成本门槛高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637506"/>
                  </a:ext>
                </a:extLst>
              </a:tr>
              <a:tr h="3355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碳点</a:t>
                      </a:r>
                      <a:r>
                        <a:rPr lang="en-US" altLang="zh-CN" sz="9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Carbon Dots)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高 </a:t>
                      </a:r>
                      <a:r>
                        <a:rPr lang="en-US" altLang="zh-C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(≤150 ℃)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中</a:t>
                      </a:r>
                      <a:endParaRPr lang="en-US" altLang="zh-CN" sz="9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相对环保；合成可</a:t>
                      </a:r>
                    </a:p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控，无重金属；可表面改性；一定耐盐耐温潜力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发射宽谱易被地层本底荧光干扰；</a:t>
                      </a:r>
                    </a:p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产业规模有限；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214796"/>
                  </a:ext>
                </a:extLst>
              </a:tr>
              <a:tr h="3355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稀土掺杂颗粒</a:t>
                      </a:r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Rare-earth doped)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高 </a:t>
                      </a:r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(≤200 ℃)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高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光稳定；背景干扰小；吸附便于观察</a:t>
                      </a:r>
                      <a:endParaRPr lang="en-US" altLang="zh-CN" sz="900" b="1" i="0" u="none" strike="noStrike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更偏示踪“固体颗粒” ；粒径分布需控制；易滤失</a:t>
                      </a:r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筛分</a:t>
                      </a:r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沉降；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7549145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269B6DDB-B7B0-A5F5-D494-716DE8EC9C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219" r="24609" b="12589"/>
          <a:stretch>
            <a:fillRect/>
          </a:stretch>
        </p:blipFill>
        <p:spPr>
          <a:xfrm>
            <a:off x="6517923" y="2501023"/>
            <a:ext cx="2093725" cy="195240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9DDFF5A-0730-9212-1E92-8E4863F1878A}"/>
              </a:ext>
            </a:extLst>
          </p:cNvPr>
          <p:cNvSpPr txBox="1"/>
          <p:nvPr/>
        </p:nvSpPr>
        <p:spPr>
          <a:xfrm>
            <a:off x="6433215" y="4541647"/>
            <a:ext cx="2263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颗粒示意图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284358B-362C-45EF-3BEA-EAC611FCA4AE}"/>
              </a:ext>
            </a:extLst>
          </p:cNvPr>
          <p:cNvSpPr txBox="1"/>
          <p:nvPr/>
        </p:nvSpPr>
        <p:spPr>
          <a:xfrm>
            <a:off x="387528" y="749660"/>
            <a:ext cx="8141193" cy="1670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染料类型优选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：对比了常见的荧光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发光材料在光谱范围、耐温耐盐、成本与安全性及工程应用优缺点，针对压裂裂缝示踪，重点考虑荧光染料附着稳定性（耐温耐盐、耐强氧化环境），选用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稀土掺杂颗粒型示踪材料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，且通过表面修饰后可获得更佳的现场适配性与检测可靠性。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荧光颗粒修饰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：内层采用硅烷偶联剂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KH-550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进行修饰，通过在荧光颗粒表面形成化学键便于与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岩石吸附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；外层采用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PEG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进行包覆，通过物理吸附包裹颗粒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提供空间位阻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使其可以均匀分散在胍胶中。</a:t>
            </a:r>
          </a:p>
        </p:txBody>
      </p:sp>
    </p:spTree>
    <p:extLst>
      <p:ext uri="{BB962C8B-B14F-4D97-AF65-F5344CB8AC3E}">
        <p14:creationId xmlns:p14="http://schemas.microsoft.com/office/powerpoint/2010/main" val="1033313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68E57-7CFD-6ED6-E815-816429804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605BD4C-F80C-07ED-C308-11E075ABA8AA}"/>
              </a:ext>
            </a:extLst>
          </p:cNvPr>
          <p:cNvSpPr txBox="1"/>
          <p:nvPr/>
        </p:nvSpPr>
        <p:spPr>
          <a:xfrm>
            <a:off x="2042838" y="85235"/>
            <a:ext cx="4858770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三、主要研究内容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388AB14-4D9C-F3A6-10AF-0FA9D050FB2E}"/>
              </a:ext>
            </a:extLst>
          </p:cNvPr>
          <p:cNvSpPr txBox="1"/>
          <p:nvPr/>
        </p:nvSpPr>
        <p:spPr>
          <a:xfrm>
            <a:off x="284421" y="1069126"/>
            <a:ext cx="8959898" cy="1346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高温测试实验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模拟井下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100℃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高温环境，考察荧光粉的荧光强度衰减情况。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实验步骤：精确配置荧光粉末（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0.5g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）与去离子水（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10mL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）的混合液，转移至密封试管中；将试管置于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100℃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恒温烘箱内持续放置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天，每间隔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小时取出，在紫外灯照射下拍照记录荧光强度变化。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0A877523-41EE-D559-F39E-16765CDCFC94}"/>
              </a:ext>
            </a:extLst>
          </p:cNvPr>
          <p:cNvGrpSpPr/>
          <p:nvPr/>
        </p:nvGrpSpPr>
        <p:grpSpPr>
          <a:xfrm>
            <a:off x="3718488" y="728702"/>
            <a:ext cx="1707023" cy="387717"/>
            <a:chOff x="3718488" y="728702"/>
            <a:chExt cx="1707023" cy="41017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1396607C-267E-BF0E-2BDF-B660E6438EDC}"/>
                </a:ext>
              </a:extLst>
            </p:cNvPr>
            <p:cNvSpPr/>
            <p:nvPr/>
          </p:nvSpPr>
          <p:spPr>
            <a:xfrm>
              <a:off x="3750406" y="728702"/>
              <a:ext cx="1643188" cy="410172"/>
            </a:xfrm>
            <a:prstGeom prst="roundRect">
              <a:avLst/>
            </a:prstGeom>
            <a:solidFill>
              <a:srgbClr val="1E3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8CF9DF-B723-265E-04D1-38203EC35201}"/>
                </a:ext>
              </a:extLst>
            </p:cNvPr>
            <p:cNvSpPr txBox="1"/>
            <p:nvPr/>
          </p:nvSpPr>
          <p:spPr>
            <a:xfrm>
              <a:off x="3718488" y="769542"/>
              <a:ext cx="1707023" cy="325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荧光粉性能研究</a:t>
              </a:r>
            </a:p>
          </p:txBody>
        </p:sp>
      </p:grpSp>
      <p:pic>
        <p:nvPicPr>
          <p:cNvPr id="27" name="图片 26">
            <a:extLst>
              <a:ext uri="{FF2B5EF4-FFF2-40B4-BE49-F238E27FC236}">
                <a16:creationId xmlns:a16="http://schemas.microsoft.com/office/drawing/2014/main" id="{3B92E760-EB04-0A52-FDD0-87ECFF4ED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992" y="2171032"/>
            <a:ext cx="6532015" cy="2138655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5FE57446-157D-3AD8-9F1B-F7C55D759045}"/>
              </a:ext>
            </a:extLst>
          </p:cNvPr>
          <p:cNvSpPr txBox="1"/>
          <p:nvPr/>
        </p:nvSpPr>
        <p:spPr>
          <a:xfrm>
            <a:off x="284421" y="4472447"/>
            <a:ext cx="80488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zh-CN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荧光粉末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100℃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恒温烘箱内持续放置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天，</a:t>
            </a:r>
            <a:r>
              <a:rPr lang="zh-CN" altLang="zh-CN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荧光以及粉末形态在紫外照射下</a:t>
            </a:r>
            <a:r>
              <a:rPr lang="zh-CN" altLang="zh-CN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无明显变化</a:t>
            </a:r>
            <a:r>
              <a:rPr lang="zh-CN" altLang="en-US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。说明荧光粉末可以满足井下高温条件。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542983-7432-F9A2-6529-C90260A06477}"/>
              </a:ext>
            </a:extLst>
          </p:cNvPr>
          <p:cNvSpPr txBox="1"/>
          <p:nvPr/>
        </p:nvSpPr>
        <p:spPr>
          <a:xfrm>
            <a:off x="3372289" y="4164670"/>
            <a:ext cx="2021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1E3E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b="1" dirty="0">
                <a:solidFill>
                  <a:srgbClr val="1E3E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天内荧光粉荧光变化</a:t>
            </a:r>
          </a:p>
        </p:txBody>
      </p:sp>
    </p:spTree>
    <p:extLst>
      <p:ext uri="{BB962C8B-B14F-4D97-AF65-F5344CB8AC3E}">
        <p14:creationId xmlns:p14="http://schemas.microsoft.com/office/powerpoint/2010/main" val="10614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7210E-5972-4A58-1AA6-41CC78A1A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B8B06C4-6063-5FF4-2CB3-C9AE168EC5A3}"/>
              </a:ext>
            </a:extLst>
          </p:cNvPr>
          <p:cNvSpPr txBox="1"/>
          <p:nvPr/>
        </p:nvSpPr>
        <p:spPr>
          <a:xfrm>
            <a:off x="2042838" y="85235"/>
            <a:ext cx="4858770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三、主要研究内容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C1ADD7C-660B-1340-AB3A-8CE486C26E68}"/>
              </a:ext>
            </a:extLst>
          </p:cNvPr>
          <p:cNvSpPr txBox="1"/>
          <p:nvPr/>
        </p:nvSpPr>
        <p:spPr>
          <a:xfrm>
            <a:off x="284421" y="1073265"/>
            <a:ext cx="8959898" cy="102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抗氧化测试实验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：模拟压裂液中破胶剂（过硫酸铵）的氧化环境，考察荧光粉的抗氧化能力。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实验步骤：称取荧光粉末（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2g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）、过硫酸铵（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0.02g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，模拟氧化剂），与去离子水（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50mL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）混合；将混合液倒入密封反应釜，置于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80℃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环境加热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天，每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小时取出冷却至室温，拍照观察荧光强度变化趋势。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5EA373A8-DB05-E43E-F349-ACFFEE528724}"/>
              </a:ext>
            </a:extLst>
          </p:cNvPr>
          <p:cNvGrpSpPr/>
          <p:nvPr/>
        </p:nvGrpSpPr>
        <p:grpSpPr>
          <a:xfrm>
            <a:off x="3718488" y="728702"/>
            <a:ext cx="1707023" cy="387717"/>
            <a:chOff x="3718488" y="728702"/>
            <a:chExt cx="1707023" cy="41017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664DEA58-3605-6265-20BC-FD51FFACEAAF}"/>
                </a:ext>
              </a:extLst>
            </p:cNvPr>
            <p:cNvSpPr/>
            <p:nvPr/>
          </p:nvSpPr>
          <p:spPr>
            <a:xfrm>
              <a:off x="3750406" y="728702"/>
              <a:ext cx="1643188" cy="410172"/>
            </a:xfrm>
            <a:prstGeom prst="roundRect">
              <a:avLst/>
            </a:prstGeom>
            <a:solidFill>
              <a:srgbClr val="1E3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188BB09-BB7E-8166-5CDD-612B1159B278}"/>
                </a:ext>
              </a:extLst>
            </p:cNvPr>
            <p:cNvSpPr txBox="1"/>
            <p:nvPr/>
          </p:nvSpPr>
          <p:spPr>
            <a:xfrm>
              <a:off x="3718488" y="769542"/>
              <a:ext cx="1707023" cy="325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荧光粉性能研究</a:t>
              </a:r>
            </a:p>
          </p:txBody>
        </p: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4FBB8DA3-86E3-7E1C-CB66-A2CA91FE9645}"/>
              </a:ext>
            </a:extLst>
          </p:cNvPr>
          <p:cNvSpPr txBox="1"/>
          <p:nvPr/>
        </p:nvSpPr>
        <p:spPr>
          <a:xfrm>
            <a:off x="284421" y="4482183"/>
            <a:ext cx="84502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根据对照荧光粉末在</a:t>
            </a:r>
            <a:r>
              <a:rPr lang="en-US" altLang="zh-CN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80℃</a:t>
            </a:r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恒温水浴和过硫酸铵的氧化环境下荧光</a:t>
            </a:r>
            <a:r>
              <a:rPr lang="zh-CN" altLang="en-US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无明显变化</a:t>
            </a:r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说明荧光粉满足压裂液中破胶剂（过硫酸铵）的氧化环境。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D80DD53-4DA4-33A1-1563-688DB991D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72" y="2254704"/>
            <a:ext cx="7692656" cy="191992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86F8366-994A-B86A-F6A6-4A3C1E5DA841}"/>
              </a:ext>
            </a:extLst>
          </p:cNvPr>
          <p:cNvSpPr txBox="1"/>
          <p:nvPr/>
        </p:nvSpPr>
        <p:spPr>
          <a:xfrm>
            <a:off x="3423809" y="4222305"/>
            <a:ext cx="23816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E6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30day</a:t>
            </a:r>
            <a:r>
              <a:rPr lang="zh-CN" altLang="en-US" b="1" dirty="0">
                <a:solidFill>
                  <a:srgbClr val="1E3E6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荧光粉氧化条件变化</a:t>
            </a:r>
          </a:p>
        </p:txBody>
      </p:sp>
    </p:spTree>
    <p:extLst>
      <p:ext uri="{BB962C8B-B14F-4D97-AF65-F5344CB8AC3E}">
        <p14:creationId xmlns:p14="http://schemas.microsoft.com/office/powerpoint/2010/main" val="295828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697E5-EED0-D328-7EA6-E3C4EFC59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4CA2087-13D1-8042-6E7E-D0C79D0E1316}"/>
              </a:ext>
            </a:extLst>
          </p:cNvPr>
          <p:cNvSpPr txBox="1"/>
          <p:nvPr/>
        </p:nvSpPr>
        <p:spPr>
          <a:xfrm>
            <a:off x="2042838" y="85235"/>
            <a:ext cx="4858770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三、主要研究内容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69DF5D7-F8C7-66F4-63F0-C95BC53A3F91}"/>
              </a:ext>
            </a:extLst>
          </p:cNvPr>
          <p:cNvSpPr txBox="1"/>
          <p:nvPr/>
        </p:nvSpPr>
        <p:spPr>
          <a:xfrm>
            <a:off x="264484" y="1087921"/>
            <a:ext cx="8615030" cy="102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矿化度、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适应性测试实验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：模拟井下环境，考察矿化度、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适应性对荧光粉的荧光强度衰减影响。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高矿化度测试： 配制总矿化度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30000 mg/L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的模拟地层水，加入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0.5%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荧光粉搅拌分散，室温静置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适应性测试：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pH=4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pH=10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环境，分别加入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0.5%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荧光粉，室温静置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天，每天取样测荧光强度。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0C9379C-166D-EF12-B9E3-515834D96FDE}"/>
              </a:ext>
            </a:extLst>
          </p:cNvPr>
          <p:cNvGrpSpPr/>
          <p:nvPr/>
        </p:nvGrpSpPr>
        <p:grpSpPr>
          <a:xfrm>
            <a:off x="3718488" y="728702"/>
            <a:ext cx="1707023" cy="387717"/>
            <a:chOff x="3718488" y="728702"/>
            <a:chExt cx="1707023" cy="41017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8F9354CE-75B7-A943-DF08-2CE6C97F3EDC}"/>
                </a:ext>
              </a:extLst>
            </p:cNvPr>
            <p:cNvSpPr/>
            <p:nvPr/>
          </p:nvSpPr>
          <p:spPr>
            <a:xfrm>
              <a:off x="3750406" y="728702"/>
              <a:ext cx="1643188" cy="410172"/>
            </a:xfrm>
            <a:prstGeom prst="roundRect">
              <a:avLst/>
            </a:prstGeom>
            <a:solidFill>
              <a:srgbClr val="1E3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D47720E-0C71-5888-D4B1-F2D92B888911}"/>
                </a:ext>
              </a:extLst>
            </p:cNvPr>
            <p:cNvSpPr txBox="1"/>
            <p:nvPr/>
          </p:nvSpPr>
          <p:spPr>
            <a:xfrm>
              <a:off x="3718488" y="769542"/>
              <a:ext cx="1707023" cy="325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荧光粉性能研究</a:t>
              </a:r>
            </a:p>
          </p:txBody>
        </p: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DCC4C9C2-B4C5-B029-1ABD-B3B03082D56B}"/>
              </a:ext>
            </a:extLst>
          </p:cNvPr>
          <p:cNvSpPr txBox="1"/>
          <p:nvPr/>
        </p:nvSpPr>
        <p:spPr>
          <a:xfrm>
            <a:off x="284421" y="4462499"/>
            <a:ext cx="84768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荧光粉末在矿化度</a:t>
            </a:r>
            <a:r>
              <a:rPr lang="en-US" altLang="zh-CN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30000 mg/L</a:t>
            </a:r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pH=4</a:t>
            </a:r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 </a:t>
            </a:r>
            <a:r>
              <a:rPr lang="en-US" altLang="zh-CN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pH=10</a:t>
            </a:r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荧光</a:t>
            </a:r>
            <a:r>
              <a:rPr lang="zh-CN" altLang="en-US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无明显变化，说明该荧光粉可以在高矿化度和酸碱环境中保持荧光。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1BD3CC7-6ED9-E847-C2CF-472C2E8E1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31" y="2171031"/>
            <a:ext cx="7603137" cy="209977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74E23D0-EA7E-5791-6BAB-5213B7699974}"/>
              </a:ext>
            </a:extLst>
          </p:cNvPr>
          <p:cNvSpPr txBox="1"/>
          <p:nvPr/>
        </p:nvSpPr>
        <p:spPr>
          <a:xfrm>
            <a:off x="2963187" y="4154722"/>
            <a:ext cx="3217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E6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30day</a:t>
            </a:r>
            <a:r>
              <a:rPr lang="zh-CN" altLang="en-US" b="1" dirty="0">
                <a:solidFill>
                  <a:srgbClr val="1E3E6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荧光粉高</a:t>
            </a:r>
            <a:r>
              <a:rPr lang="zh-CN" altLang="en-US" b="1" dirty="0">
                <a:solidFill>
                  <a:srgbClr val="1E3E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矿化度、酸碱</a:t>
            </a:r>
            <a:r>
              <a:rPr lang="zh-CN" altLang="en-US" b="1" dirty="0">
                <a:solidFill>
                  <a:srgbClr val="1E3E6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条件变化</a:t>
            </a:r>
          </a:p>
        </p:txBody>
      </p:sp>
    </p:spTree>
    <p:extLst>
      <p:ext uri="{BB962C8B-B14F-4D97-AF65-F5344CB8AC3E}">
        <p14:creationId xmlns:p14="http://schemas.microsoft.com/office/powerpoint/2010/main" val="1699019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6015C-3674-D8F3-BAE6-0FE688A1C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A1CF6E1-9C2B-B836-C71F-C040CB5BC444}"/>
              </a:ext>
            </a:extLst>
          </p:cNvPr>
          <p:cNvSpPr txBox="1"/>
          <p:nvPr/>
        </p:nvSpPr>
        <p:spPr>
          <a:xfrm>
            <a:off x="2042838" y="85235"/>
            <a:ext cx="4858770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三、主要研究内容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FAC8358-7FB1-1ED3-242B-4E3BF0F37F04}"/>
              </a:ext>
            </a:extLst>
          </p:cNvPr>
          <p:cNvSpPr txBox="1"/>
          <p:nvPr/>
        </p:nvSpPr>
        <p:spPr>
          <a:xfrm>
            <a:off x="279612" y="1145429"/>
            <a:ext cx="8615030" cy="1993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分散性与稳定性测试：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验证荧光粉末在胍胶中的悬浮能力找到最低浓度界限，以及沉降情况避免粉末不分散团聚导致无法染色。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将胍胶浓度由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0.1%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开始调节，加入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质量的改性荧光粉末，用高速搅拌器搅拌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分钟，静置观察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小时，观察荧光粉的分散情况，记录是否出现沉淀、分层或团聚现象。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747316A0-6F62-EC16-1D56-A5618AC70A0D}"/>
              </a:ext>
            </a:extLst>
          </p:cNvPr>
          <p:cNvGrpSpPr/>
          <p:nvPr/>
        </p:nvGrpSpPr>
        <p:grpSpPr>
          <a:xfrm>
            <a:off x="3650829" y="723623"/>
            <a:ext cx="1842340" cy="387717"/>
            <a:chOff x="3718488" y="728702"/>
            <a:chExt cx="1943349" cy="41017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5638ABD0-A87B-E604-A476-1A480F6E8A06}"/>
                </a:ext>
              </a:extLst>
            </p:cNvPr>
            <p:cNvSpPr/>
            <p:nvPr/>
          </p:nvSpPr>
          <p:spPr>
            <a:xfrm>
              <a:off x="3750405" y="728702"/>
              <a:ext cx="1911431" cy="410172"/>
            </a:xfrm>
            <a:prstGeom prst="roundRect">
              <a:avLst/>
            </a:prstGeom>
            <a:solidFill>
              <a:srgbClr val="1E3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674A459-9314-779F-9889-815A79183064}"/>
                </a:ext>
              </a:extLst>
            </p:cNvPr>
            <p:cNvSpPr txBox="1"/>
            <p:nvPr/>
          </p:nvSpPr>
          <p:spPr>
            <a:xfrm>
              <a:off x="3718488" y="769542"/>
              <a:ext cx="1943349" cy="325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荧光压裂液性能研究</a:t>
              </a:r>
            </a:p>
          </p:txBody>
        </p: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31A0484F-C191-9D81-BCC9-516DAE28EA72}"/>
              </a:ext>
            </a:extLst>
          </p:cNvPr>
          <p:cNvSpPr txBox="1"/>
          <p:nvPr/>
        </p:nvSpPr>
        <p:spPr>
          <a:xfrm>
            <a:off x="279612" y="4497959"/>
            <a:ext cx="84768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600</a:t>
            </a:r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目荧光粉末在</a:t>
            </a:r>
            <a:r>
              <a:rPr lang="en-US" altLang="zh-CN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0.2%</a:t>
            </a:r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胍胶可以稳定分散</a:t>
            </a:r>
            <a:r>
              <a:rPr lang="en-US" altLang="zh-CN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12h</a:t>
            </a:r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，可以说明最低界限浓度为</a:t>
            </a:r>
            <a:r>
              <a:rPr lang="en-US" altLang="zh-CN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0.2%</a:t>
            </a:r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，如果粉末目数降低浓度界限进一步下降；荧光粉浓度上限＞</a:t>
            </a:r>
            <a:r>
              <a:rPr lang="en-US" altLang="zh-CN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10%</a:t>
            </a:r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41A7AFF-3B96-DA65-A3C8-9AF277860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51" y="2512237"/>
            <a:ext cx="7873295" cy="202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583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13115-FEF0-8B1D-A005-13A9115E0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BFAA6F1-7F00-72AF-763E-D8F9119D7E98}"/>
              </a:ext>
            </a:extLst>
          </p:cNvPr>
          <p:cNvSpPr txBox="1"/>
          <p:nvPr/>
        </p:nvSpPr>
        <p:spPr>
          <a:xfrm>
            <a:off x="2042838" y="85235"/>
            <a:ext cx="4858770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三、主要研究内容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6AE38EA-9E7B-7EB3-C223-FD47C2C2A3E6}"/>
              </a:ext>
            </a:extLst>
          </p:cNvPr>
          <p:cNvSpPr txBox="1"/>
          <p:nvPr/>
        </p:nvSpPr>
        <p:spPr>
          <a:xfrm>
            <a:off x="279612" y="1149944"/>
            <a:ext cx="8615030" cy="1346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压裂液性能测试：依照行业标准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SY/T 7627-2021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对掺杂荧光的压裂液常规性能、耐温耐剪切、破胶性能、滤失性能、携砂性能进行测试，与原始压裂液对比，判断其对于压裂液各项性能有无较大影响，能否满足现场使用标准。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62D0E9B9-49B8-7E07-33CD-C147F1D270F9}"/>
              </a:ext>
            </a:extLst>
          </p:cNvPr>
          <p:cNvGrpSpPr/>
          <p:nvPr/>
        </p:nvGrpSpPr>
        <p:grpSpPr>
          <a:xfrm>
            <a:off x="3650829" y="723623"/>
            <a:ext cx="1842340" cy="387717"/>
            <a:chOff x="3718488" y="728702"/>
            <a:chExt cx="1943349" cy="41017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170EE260-5C82-D73B-D942-CAB6D587A8A0}"/>
                </a:ext>
              </a:extLst>
            </p:cNvPr>
            <p:cNvSpPr/>
            <p:nvPr/>
          </p:nvSpPr>
          <p:spPr>
            <a:xfrm>
              <a:off x="3750405" y="728702"/>
              <a:ext cx="1911431" cy="410172"/>
            </a:xfrm>
            <a:prstGeom prst="roundRect">
              <a:avLst/>
            </a:prstGeom>
            <a:solidFill>
              <a:srgbClr val="1E3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55A85984-B567-5DCD-C278-D8E8F5954FB5}"/>
                </a:ext>
              </a:extLst>
            </p:cNvPr>
            <p:cNvSpPr txBox="1"/>
            <p:nvPr/>
          </p:nvSpPr>
          <p:spPr>
            <a:xfrm>
              <a:off x="3718488" y="769542"/>
              <a:ext cx="1943349" cy="325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荧光压裂液性能研究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EC211B06-CF47-F29D-109B-F0B7955A5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326" y="2161560"/>
            <a:ext cx="6480000" cy="282471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AFCEE1C-23FF-1897-1EBC-09F67C811564}"/>
              </a:ext>
            </a:extLst>
          </p:cNvPr>
          <p:cNvSpPr txBox="1"/>
          <p:nvPr/>
        </p:nvSpPr>
        <p:spPr>
          <a:xfrm>
            <a:off x="928944" y="2713492"/>
            <a:ext cx="400110" cy="1946442"/>
          </a:xfrm>
          <a:prstGeom prst="rect">
            <a:avLst/>
          </a:prstGeom>
          <a:solidFill>
            <a:srgbClr val="1E3E6E"/>
          </a:solidFill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荧光压裂液检测项目表</a:t>
            </a:r>
          </a:p>
        </p:txBody>
      </p:sp>
    </p:spTree>
    <p:extLst>
      <p:ext uri="{BB962C8B-B14F-4D97-AF65-F5344CB8AC3E}">
        <p14:creationId xmlns:p14="http://schemas.microsoft.com/office/powerpoint/2010/main" val="3683799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91CE6-B71E-9C81-AE2E-E60EBD65F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9342183-3BE1-1AA2-BDD2-FC90ADA1EFF3}"/>
              </a:ext>
            </a:extLst>
          </p:cNvPr>
          <p:cNvSpPr txBox="1"/>
          <p:nvPr/>
        </p:nvSpPr>
        <p:spPr>
          <a:xfrm>
            <a:off x="2042838" y="85235"/>
            <a:ext cx="4858770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三、主要研究内容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18FC0AE-053F-5646-85A9-F02154183BC5}"/>
              </a:ext>
            </a:extLst>
          </p:cNvPr>
          <p:cNvSpPr txBox="1"/>
          <p:nvPr/>
        </p:nvSpPr>
        <p:spPr>
          <a:xfrm>
            <a:off x="279612" y="1149944"/>
            <a:ext cx="8615030" cy="1346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压裂液性能测试：依照行业标准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SY/T 7627-2021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对掺杂荧光的压裂液常规性能、耐温耐剪切、破胶性能、滤失性能、携砂性能进行测试，与原始压裂液对比，判断其对于压裂液各项性能有无较大影响，能否满足现场使用标准。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3454FD99-4AC3-C8ED-7550-B4B5D8B493E3}"/>
              </a:ext>
            </a:extLst>
          </p:cNvPr>
          <p:cNvGrpSpPr/>
          <p:nvPr/>
        </p:nvGrpSpPr>
        <p:grpSpPr>
          <a:xfrm>
            <a:off x="3650829" y="723623"/>
            <a:ext cx="1842340" cy="387717"/>
            <a:chOff x="3718488" y="728702"/>
            <a:chExt cx="1943349" cy="41017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E27BB55E-E325-9BA6-328B-F005F82EF31A}"/>
                </a:ext>
              </a:extLst>
            </p:cNvPr>
            <p:cNvSpPr/>
            <p:nvPr/>
          </p:nvSpPr>
          <p:spPr>
            <a:xfrm>
              <a:off x="3750405" y="728702"/>
              <a:ext cx="1911431" cy="410172"/>
            </a:xfrm>
            <a:prstGeom prst="roundRect">
              <a:avLst/>
            </a:prstGeom>
            <a:solidFill>
              <a:srgbClr val="1E3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E36DCBF-3ECE-D6C9-9288-59EB6FB7FAE1}"/>
                </a:ext>
              </a:extLst>
            </p:cNvPr>
            <p:cNvSpPr txBox="1"/>
            <p:nvPr/>
          </p:nvSpPr>
          <p:spPr>
            <a:xfrm>
              <a:off x="3718488" y="769542"/>
              <a:ext cx="1943349" cy="325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荧光压裂液性能研究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77A8C933-1264-63C6-E7EC-3728D376D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477" y="2233592"/>
            <a:ext cx="6480000" cy="277255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EE4CAC7-586B-5A06-2B95-1555EA22A74C}"/>
              </a:ext>
            </a:extLst>
          </p:cNvPr>
          <p:cNvSpPr txBox="1"/>
          <p:nvPr/>
        </p:nvSpPr>
        <p:spPr>
          <a:xfrm>
            <a:off x="1022523" y="2646650"/>
            <a:ext cx="400110" cy="1946442"/>
          </a:xfrm>
          <a:prstGeom prst="rect">
            <a:avLst/>
          </a:prstGeom>
          <a:solidFill>
            <a:srgbClr val="1E3E6E"/>
          </a:solidFill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荧光压裂液检测项目表</a:t>
            </a:r>
          </a:p>
        </p:txBody>
      </p:sp>
    </p:spTree>
    <p:extLst>
      <p:ext uri="{BB962C8B-B14F-4D97-AF65-F5344CB8AC3E}">
        <p14:creationId xmlns:p14="http://schemas.microsoft.com/office/powerpoint/2010/main" val="3705445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79456-A59F-627E-048F-CFA55DA58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6B6A268-6464-1B16-70B1-41E7338C0F87}"/>
              </a:ext>
            </a:extLst>
          </p:cNvPr>
          <p:cNvSpPr txBox="1"/>
          <p:nvPr/>
        </p:nvSpPr>
        <p:spPr>
          <a:xfrm>
            <a:off x="2042838" y="85235"/>
            <a:ext cx="4858770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三、主要研究内容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40E7E5F-5A78-250C-802C-72929CF5429F}"/>
              </a:ext>
            </a:extLst>
          </p:cNvPr>
          <p:cNvSpPr txBox="1"/>
          <p:nvPr/>
        </p:nvSpPr>
        <p:spPr>
          <a:xfrm>
            <a:off x="279612" y="1149944"/>
            <a:ext cx="8615030" cy="1346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岩心吸附测试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：验证荧光粉末在目标储层岩心的吸附能力及烘干后的发光持久性。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实验方法：选取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3-5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块岩性不同岩心；配置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1%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改性荧光粉末混合液加入过硫酸铵，将岩心完全浸泡，放置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天，取出岩心冲洗烘干，在紫外灯照射观察吸附均匀性观察空气环境下的荧光持久性。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6106473-C4A0-0850-4089-0862A8462EA0}"/>
              </a:ext>
            </a:extLst>
          </p:cNvPr>
          <p:cNvGrpSpPr/>
          <p:nvPr/>
        </p:nvGrpSpPr>
        <p:grpSpPr>
          <a:xfrm>
            <a:off x="3650829" y="723623"/>
            <a:ext cx="1842340" cy="387717"/>
            <a:chOff x="3718488" y="728702"/>
            <a:chExt cx="1943349" cy="41017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6681A06C-9028-AEFB-A03D-0AACFF22A2A0}"/>
                </a:ext>
              </a:extLst>
            </p:cNvPr>
            <p:cNvSpPr/>
            <p:nvPr/>
          </p:nvSpPr>
          <p:spPr>
            <a:xfrm>
              <a:off x="3750405" y="728702"/>
              <a:ext cx="1911431" cy="410172"/>
            </a:xfrm>
            <a:prstGeom prst="roundRect">
              <a:avLst/>
            </a:prstGeom>
            <a:solidFill>
              <a:srgbClr val="1E3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67BD267-210B-0D9F-5995-97976175552D}"/>
                </a:ext>
              </a:extLst>
            </p:cNvPr>
            <p:cNvSpPr txBox="1"/>
            <p:nvPr/>
          </p:nvSpPr>
          <p:spPr>
            <a:xfrm>
              <a:off x="3718488" y="769542"/>
              <a:ext cx="1943349" cy="325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岩心吸附研究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0E85CD7D-BD95-18DE-1B77-6CCD49B32830}"/>
              </a:ext>
            </a:extLst>
          </p:cNvPr>
          <p:cNvGrpSpPr/>
          <p:nvPr/>
        </p:nvGrpSpPr>
        <p:grpSpPr>
          <a:xfrm>
            <a:off x="628500" y="2256962"/>
            <a:ext cx="4766995" cy="2639569"/>
            <a:chOff x="427716" y="2703000"/>
            <a:chExt cx="7337248" cy="4061469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9B7FC7CA-10DF-C3FC-E711-4215291A4FF9}"/>
                </a:ext>
              </a:extLst>
            </p:cNvPr>
            <p:cNvGrpSpPr/>
            <p:nvPr/>
          </p:nvGrpSpPr>
          <p:grpSpPr>
            <a:xfrm>
              <a:off x="427716" y="4641092"/>
              <a:ext cx="7337248" cy="2123377"/>
              <a:chOff x="512880" y="2721834"/>
              <a:chExt cx="10793595" cy="2880001"/>
            </a:xfrm>
          </p:grpSpPr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5D8B5172-4FA6-4A6C-C565-DFD4A3FAF3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400000">
                <a:off x="2315569" y="3081835"/>
                <a:ext cx="2880000" cy="2160000"/>
              </a:xfrm>
              <a:prstGeom prst="rect">
                <a:avLst/>
              </a:prstGeom>
            </p:spPr>
          </p:pic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10C7DCD3-D229-CCEA-3953-40BE2CFE6B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400000">
                <a:off x="152880" y="3081835"/>
                <a:ext cx="2880000" cy="2160000"/>
              </a:xfrm>
              <a:prstGeom prst="rect">
                <a:avLst/>
              </a:prstGeom>
            </p:spPr>
          </p:pic>
          <p:pic>
            <p:nvPicPr>
              <p:cNvPr id="12" name="图片 11">
                <a:extLst>
                  <a:ext uri="{FF2B5EF4-FFF2-40B4-BE49-F238E27FC236}">
                    <a16:creationId xmlns:a16="http://schemas.microsoft.com/office/drawing/2014/main" id="{70D53A63-4EAF-8DFD-00B6-97C83EB0AA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400000">
                <a:off x="4471951" y="3081835"/>
                <a:ext cx="2880000" cy="2160000"/>
              </a:xfrm>
              <a:prstGeom prst="rect">
                <a:avLst/>
              </a:prstGeom>
            </p:spPr>
          </p:pic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5B4FC0E6-33D2-63FF-8764-0D05AC71D7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400000">
                <a:off x="6631022" y="3081835"/>
                <a:ext cx="2880000" cy="2160000"/>
              </a:xfrm>
              <a:prstGeom prst="rect">
                <a:avLst/>
              </a:prstGeom>
            </p:spPr>
          </p:pic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18C4DFA5-D5CD-0473-9B7E-DE54253D84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400000">
                <a:off x="8786475" y="3081834"/>
                <a:ext cx="2880000" cy="2160000"/>
              </a:xfrm>
              <a:prstGeom prst="rect">
                <a:avLst/>
              </a:prstGeom>
            </p:spPr>
          </p:pic>
        </p:grp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8F55DB6-81F0-F8C3-6E33-B3A04C104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641" b="31507"/>
            <a:stretch>
              <a:fillRect/>
            </a:stretch>
          </p:blipFill>
          <p:spPr>
            <a:xfrm>
              <a:off x="427716" y="2703000"/>
              <a:ext cx="7337248" cy="1972905"/>
            </a:xfrm>
            <a:prstGeom prst="rect">
              <a:avLst/>
            </a:prstGeom>
          </p:spPr>
        </p:pic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B679EFB2-EC91-97D4-ED68-62C2C5BF24A1}"/>
              </a:ext>
            </a:extLst>
          </p:cNvPr>
          <p:cNvSpPr txBox="1"/>
          <p:nvPr/>
        </p:nvSpPr>
        <p:spPr>
          <a:xfrm>
            <a:off x="5593826" y="2256962"/>
            <a:ext cx="3301410" cy="2639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试验结果表明：荧光粉末大量吸附在岩石表面；在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尤为明显的刷漆状；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虽未有刷漆状但在紫外照射下也可轻易肉眼观察；说明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荧光粉末砂岩、泥页岩岩心表面均可以附着，并且在冲洗烘干的类取芯条件下也能保持附着并且长时间保持荧光。</a:t>
            </a:r>
          </a:p>
        </p:txBody>
      </p:sp>
    </p:spTree>
    <p:extLst>
      <p:ext uri="{BB962C8B-B14F-4D97-AF65-F5344CB8AC3E}">
        <p14:creationId xmlns:p14="http://schemas.microsoft.com/office/powerpoint/2010/main" val="668051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D8D96-29A3-CE93-8A1D-67F3AA8CB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B0CE9EF-330F-7F9B-5634-84C1051097A6}"/>
              </a:ext>
            </a:extLst>
          </p:cNvPr>
          <p:cNvSpPr txBox="1"/>
          <p:nvPr/>
        </p:nvSpPr>
        <p:spPr>
          <a:xfrm>
            <a:off x="2042838" y="85235"/>
            <a:ext cx="4858770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三、主要研究内容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F93CC73-A7EE-0BE1-5246-D528292188BA}"/>
              </a:ext>
            </a:extLst>
          </p:cNvPr>
          <p:cNvSpPr txBox="1"/>
          <p:nvPr/>
        </p:nvSpPr>
        <p:spPr>
          <a:xfrm>
            <a:off x="279612" y="1149944"/>
            <a:ext cx="8615030" cy="1993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岩心动态驱替测试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：验证荧光粉末在完整模拟“注入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破胶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返排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取心”全流程对目标储层岩心的吸附能力及取芯烘干后的发光持久性。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实验方法：在砂岩岩心中预制非平整裂缝面，随后以恒定流速注入含双层改性荧光粉的胍胶交联压裂液，确保裂缝完全填充。关井升温使胶囊破胶剂释放，冻胶解体，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PEG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外层脱附，暴露出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KH550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氨基活性位点。破胶后反向低速注入地层水进行长时间返排驱替，模拟压后生产冲刷。最后将岩板浸入钻井液并高压水枪冲洗，模拟取心工况。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305F7727-7BE1-B67A-649C-242288EC57FF}"/>
              </a:ext>
            </a:extLst>
          </p:cNvPr>
          <p:cNvGrpSpPr/>
          <p:nvPr/>
        </p:nvGrpSpPr>
        <p:grpSpPr>
          <a:xfrm>
            <a:off x="3650829" y="723623"/>
            <a:ext cx="1842340" cy="387717"/>
            <a:chOff x="3718488" y="728702"/>
            <a:chExt cx="1943349" cy="41017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3E8B285-F4A7-B35A-CBE2-B2BDDE9C97FF}"/>
                </a:ext>
              </a:extLst>
            </p:cNvPr>
            <p:cNvSpPr/>
            <p:nvPr/>
          </p:nvSpPr>
          <p:spPr>
            <a:xfrm>
              <a:off x="3750405" y="728702"/>
              <a:ext cx="1911431" cy="410172"/>
            </a:xfrm>
            <a:prstGeom prst="roundRect">
              <a:avLst/>
            </a:prstGeom>
            <a:solidFill>
              <a:srgbClr val="1E3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1EA1BE7-CAD2-A7A3-5827-3673537C4A49}"/>
                </a:ext>
              </a:extLst>
            </p:cNvPr>
            <p:cNvSpPr txBox="1"/>
            <p:nvPr/>
          </p:nvSpPr>
          <p:spPr>
            <a:xfrm>
              <a:off x="3718488" y="769542"/>
              <a:ext cx="1943349" cy="325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岩心吸附研究</a:t>
              </a:r>
            </a:p>
          </p:txBody>
        </p:sp>
      </p:grpSp>
      <p:pic>
        <p:nvPicPr>
          <p:cNvPr id="116" name="图片 115">
            <a:extLst>
              <a:ext uri="{FF2B5EF4-FFF2-40B4-BE49-F238E27FC236}">
                <a16:creationId xmlns:a16="http://schemas.microsoft.com/office/drawing/2014/main" id="{F7A4332A-F22A-3CE9-E7C3-E1967BBB2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329" y="3088168"/>
            <a:ext cx="6925340" cy="2148949"/>
          </a:xfrm>
          <a:prstGeom prst="rect">
            <a:avLst/>
          </a:prstGeom>
        </p:spPr>
      </p:pic>
      <p:sp>
        <p:nvSpPr>
          <p:cNvPr id="118" name="文本框 117">
            <a:extLst>
              <a:ext uri="{FF2B5EF4-FFF2-40B4-BE49-F238E27FC236}">
                <a16:creationId xmlns:a16="http://schemas.microsoft.com/office/drawing/2014/main" id="{9771E83F-CC71-304E-C4B9-E96F4C580BB3}"/>
              </a:ext>
            </a:extLst>
          </p:cNvPr>
          <p:cNvSpPr txBox="1"/>
          <p:nvPr/>
        </p:nvSpPr>
        <p:spPr>
          <a:xfrm>
            <a:off x="3370742" y="4728643"/>
            <a:ext cx="2757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1E3E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动态驱替实验示意图</a:t>
            </a:r>
          </a:p>
        </p:txBody>
      </p:sp>
    </p:spTree>
    <p:extLst>
      <p:ext uri="{BB962C8B-B14F-4D97-AF65-F5344CB8AC3E}">
        <p14:creationId xmlns:p14="http://schemas.microsoft.com/office/powerpoint/2010/main" val="31441030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541A5-DAFB-C79F-9640-BCA69DC7B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>
            <a:extLst>
              <a:ext uri="{FF2B5EF4-FFF2-40B4-BE49-F238E27FC236}">
                <a16:creationId xmlns:a16="http://schemas.microsoft.com/office/drawing/2014/main" id="{46555435-AF6E-9337-91CD-23CF7C959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426" y="32655"/>
            <a:ext cx="5179219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3600" b="1" spc="1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683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10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 录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C358A736-B0C4-F481-C588-4469132F2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0676" y="872556"/>
            <a:ext cx="6929915" cy="3883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一、选题依据及意义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二、国内外研究现状及存在的主要问题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三、主要研究内容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四、研究思路及技术路线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五、预期成果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六、进度安排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七、论文提纲</a:t>
            </a:r>
          </a:p>
        </p:txBody>
      </p:sp>
    </p:spTree>
    <p:extLst>
      <p:ext uri="{BB962C8B-B14F-4D97-AF65-F5344CB8AC3E}">
        <p14:creationId xmlns:p14="http://schemas.microsoft.com/office/powerpoint/2010/main" val="341190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25BE5-6F2B-A6AB-6640-FBE58B887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F23F007-D59D-E161-4802-A687D435AACA}"/>
              </a:ext>
            </a:extLst>
          </p:cNvPr>
          <p:cNvSpPr txBox="1"/>
          <p:nvPr/>
        </p:nvSpPr>
        <p:spPr>
          <a:xfrm>
            <a:off x="2042838" y="85235"/>
            <a:ext cx="4858770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四、研究思路及技术路线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C98CE9-3B93-24F6-41CD-F3F65394429E}"/>
              </a:ext>
            </a:extLst>
          </p:cNvPr>
          <p:cNvSpPr txBox="1"/>
          <p:nvPr/>
        </p:nvSpPr>
        <p:spPr>
          <a:xfrm>
            <a:off x="401627" y="925911"/>
            <a:ext cx="8141193" cy="134690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本研究以稀土铝酸盐荧光粉为示踪核心，羟丙基胍胶压裂液为载体，按以下路线推进：先表征荧光粉基础物性，明确储层适用边界；再优化“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KH550+PEG4000”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双层表面改性及协同分散方案；进而研制高浓度母液，依据行业标准评价压裂液性能；通过破胶吸附与模拟裂缝实验验证“分散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吸附”功能切换机制，建立荧光信号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裂缝判读方法；最终形成现场施工工艺方案。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FB3D8A-FBAB-A37B-B082-4AB244A548BC}"/>
              </a:ext>
            </a:extLst>
          </p:cNvPr>
          <p:cNvSpPr txBox="1"/>
          <p:nvPr/>
        </p:nvSpPr>
        <p:spPr>
          <a:xfrm>
            <a:off x="2219992" y="2477742"/>
            <a:ext cx="428492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用于压裂裂缝监测的荧光压裂液体系构建与性能研究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019BF11-EBBF-34C3-4248-5E049971A051}"/>
              </a:ext>
            </a:extLst>
          </p:cNvPr>
          <p:cNvSpPr txBox="1"/>
          <p:nvPr/>
        </p:nvSpPr>
        <p:spPr>
          <a:xfrm>
            <a:off x="537867" y="2984560"/>
            <a:ext cx="128299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染料类型优选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DCF005F-AD33-405A-41A7-0E854D0150A0}"/>
              </a:ext>
            </a:extLst>
          </p:cNvPr>
          <p:cNvSpPr txBox="1"/>
          <p:nvPr/>
        </p:nvSpPr>
        <p:spPr>
          <a:xfrm>
            <a:off x="550681" y="3519913"/>
            <a:ext cx="128299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物性研究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A0853DF-35E6-006B-7237-BCBFB81E768B}"/>
              </a:ext>
            </a:extLst>
          </p:cNvPr>
          <p:cNvSpPr txBox="1"/>
          <p:nvPr/>
        </p:nvSpPr>
        <p:spPr>
          <a:xfrm>
            <a:off x="1948591" y="3512825"/>
            <a:ext cx="128299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颗粒表面修饰</a:t>
            </a:r>
          </a:p>
        </p:txBody>
      </p:sp>
      <p:sp>
        <p:nvSpPr>
          <p:cNvPr id="13" name="文本框 10">
            <a:extLst>
              <a:ext uri="{FF2B5EF4-FFF2-40B4-BE49-F238E27FC236}">
                <a16:creationId xmlns:a16="http://schemas.microsoft.com/office/drawing/2014/main" id="{9DCF005F-AD33-405A-41A7-0E854D0150A0}"/>
              </a:ext>
            </a:extLst>
          </p:cNvPr>
          <p:cNvSpPr txBox="1"/>
          <p:nvPr/>
        </p:nvSpPr>
        <p:spPr>
          <a:xfrm>
            <a:off x="2756666" y="2984560"/>
            <a:ext cx="145666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047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85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6278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8370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0509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2554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94600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36647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荧光压裂液研究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ABFE7D1-04CB-BAE8-D78B-B2C8895B6CEA}"/>
              </a:ext>
            </a:extLst>
          </p:cNvPr>
          <p:cNvSpPr txBox="1"/>
          <p:nvPr/>
        </p:nvSpPr>
        <p:spPr>
          <a:xfrm>
            <a:off x="3408517" y="3519913"/>
            <a:ext cx="91139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原液研究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D2A1D2E-3F1E-657E-2028-6F930880F7C6}"/>
              </a:ext>
            </a:extLst>
          </p:cNvPr>
          <p:cNvSpPr txBox="1"/>
          <p:nvPr/>
        </p:nvSpPr>
        <p:spPr>
          <a:xfrm>
            <a:off x="4496843" y="3519913"/>
            <a:ext cx="107240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配置液研究</a:t>
            </a:r>
          </a:p>
        </p:txBody>
      </p:sp>
      <p:sp>
        <p:nvSpPr>
          <p:cNvPr id="16" name="文本框 10">
            <a:extLst>
              <a:ext uri="{FF2B5EF4-FFF2-40B4-BE49-F238E27FC236}">
                <a16:creationId xmlns:a16="http://schemas.microsoft.com/office/drawing/2014/main" id="{C58060B9-C6DC-F5C1-BF91-E8CFE3E198A2}"/>
              </a:ext>
            </a:extLst>
          </p:cNvPr>
          <p:cNvSpPr txBox="1"/>
          <p:nvPr/>
        </p:nvSpPr>
        <p:spPr>
          <a:xfrm>
            <a:off x="5091534" y="2984560"/>
            <a:ext cx="128299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047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85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6278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8370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0509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2554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94600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36647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岩心吸附研究</a:t>
            </a:r>
          </a:p>
        </p:txBody>
      </p:sp>
      <p:sp>
        <p:nvSpPr>
          <p:cNvPr id="17" name="文本框 10">
            <a:extLst>
              <a:ext uri="{FF2B5EF4-FFF2-40B4-BE49-F238E27FC236}">
                <a16:creationId xmlns:a16="http://schemas.microsoft.com/office/drawing/2014/main" id="{83A363E4-B3C9-3D61-29F3-3CB8FFE8E541}"/>
              </a:ext>
            </a:extLst>
          </p:cNvPr>
          <p:cNvSpPr txBox="1"/>
          <p:nvPr/>
        </p:nvSpPr>
        <p:spPr>
          <a:xfrm>
            <a:off x="5693294" y="3512824"/>
            <a:ext cx="128299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047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85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6278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8370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0509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2554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94600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36647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判读方法建立</a:t>
            </a:r>
          </a:p>
        </p:txBody>
      </p:sp>
      <p:sp>
        <p:nvSpPr>
          <p:cNvPr id="18" name="文本框 10">
            <a:extLst>
              <a:ext uri="{FF2B5EF4-FFF2-40B4-BE49-F238E27FC236}">
                <a16:creationId xmlns:a16="http://schemas.microsoft.com/office/drawing/2014/main" id="{FB24616D-DB23-9B9E-D872-B8D9FC93678B}"/>
              </a:ext>
            </a:extLst>
          </p:cNvPr>
          <p:cNvSpPr txBox="1"/>
          <p:nvPr/>
        </p:nvSpPr>
        <p:spPr>
          <a:xfrm>
            <a:off x="7252736" y="2475542"/>
            <a:ext cx="128299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047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85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6278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8370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0509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2554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94600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36647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施工方案设计</a:t>
            </a:r>
          </a:p>
        </p:txBody>
      </p:sp>
      <p:sp>
        <p:nvSpPr>
          <p:cNvPr id="19" name="文本框 10">
            <a:extLst>
              <a:ext uri="{FF2B5EF4-FFF2-40B4-BE49-F238E27FC236}">
                <a16:creationId xmlns:a16="http://schemas.microsoft.com/office/drawing/2014/main" id="{FDB5F2BC-CAF5-1157-16CE-9CE1A9DFB710}"/>
              </a:ext>
            </a:extLst>
          </p:cNvPr>
          <p:cNvSpPr txBox="1"/>
          <p:nvPr/>
        </p:nvSpPr>
        <p:spPr>
          <a:xfrm>
            <a:off x="7367930" y="3060873"/>
            <a:ext cx="94275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047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85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6278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8370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0509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2554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94600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36647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静态吸附</a:t>
            </a:r>
          </a:p>
        </p:txBody>
      </p:sp>
      <p:sp>
        <p:nvSpPr>
          <p:cNvPr id="20" name="文本框 10">
            <a:extLst>
              <a:ext uri="{FF2B5EF4-FFF2-40B4-BE49-F238E27FC236}">
                <a16:creationId xmlns:a16="http://schemas.microsoft.com/office/drawing/2014/main" id="{FCEC81F0-D6CD-1C77-8B1C-9E47CE1A6611}"/>
              </a:ext>
            </a:extLst>
          </p:cNvPr>
          <p:cNvSpPr txBox="1"/>
          <p:nvPr/>
        </p:nvSpPr>
        <p:spPr>
          <a:xfrm>
            <a:off x="7367930" y="3512823"/>
            <a:ext cx="94275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047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85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6278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8370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0509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2554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94600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36647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动态驱替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2D7A956-C6E2-2231-FF4B-04B09850936F}"/>
              </a:ext>
            </a:extLst>
          </p:cNvPr>
          <p:cNvSpPr txBox="1"/>
          <p:nvPr/>
        </p:nvSpPr>
        <p:spPr>
          <a:xfrm>
            <a:off x="537867" y="4055266"/>
            <a:ext cx="90595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耐温实验</a:t>
            </a:r>
          </a:p>
        </p:txBody>
      </p: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C940B103-AC68-2AF9-49D4-9799ABEC1B32}"/>
              </a:ext>
            </a:extLst>
          </p:cNvPr>
          <p:cNvCxnSpPr>
            <a:stCxn id="6" idx="3"/>
            <a:endCxn id="18" idx="1"/>
          </p:cNvCxnSpPr>
          <p:nvPr/>
        </p:nvCxnSpPr>
        <p:spPr>
          <a:xfrm flipV="1">
            <a:off x="6504913" y="2629431"/>
            <a:ext cx="747823" cy="22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E1CA9A08-A29F-DD79-36DF-FE049ADB9984}"/>
              </a:ext>
            </a:extLst>
          </p:cNvPr>
          <p:cNvCxnSpPr>
            <a:stCxn id="6" idx="2"/>
            <a:endCxn id="13" idx="0"/>
          </p:cNvCxnSpPr>
          <p:nvPr/>
        </p:nvCxnSpPr>
        <p:spPr>
          <a:xfrm rot="5400000">
            <a:off x="3824205" y="2446311"/>
            <a:ext cx="199041" cy="87745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4C02193F-B6B6-D60A-D27B-95482A03ECE3}"/>
              </a:ext>
            </a:extLst>
          </p:cNvPr>
          <p:cNvCxnSpPr>
            <a:stCxn id="6" idx="2"/>
            <a:endCxn id="16" idx="0"/>
          </p:cNvCxnSpPr>
          <p:nvPr/>
        </p:nvCxnSpPr>
        <p:spPr>
          <a:xfrm rot="16200000" flipH="1">
            <a:off x="4948222" y="2199749"/>
            <a:ext cx="199041" cy="137057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A10FD227-D5EE-403A-35E9-9E0FFD7DC57A}"/>
              </a:ext>
            </a:extLst>
          </p:cNvPr>
          <p:cNvCxnSpPr>
            <a:stCxn id="6" idx="2"/>
            <a:endCxn id="10" idx="0"/>
          </p:cNvCxnSpPr>
          <p:nvPr/>
        </p:nvCxnSpPr>
        <p:spPr>
          <a:xfrm rot="5400000">
            <a:off x="2671389" y="1293495"/>
            <a:ext cx="199041" cy="318308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835CD2C9-2090-83B1-D764-FC1834D84966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 rot="16200000" flipH="1">
            <a:off x="5923669" y="3101700"/>
            <a:ext cx="220487" cy="6017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04371D16-F9A0-051B-4646-9661349859BD}"/>
              </a:ext>
            </a:extLst>
          </p:cNvPr>
          <p:cNvCxnSpPr>
            <a:stCxn id="16" idx="3"/>
            <a:endCxn id="19" idx="1"/>
          </p:cNvCxnSpPr>
          <p:nvPr/>
        </p:nvCxnSpPr>
        <p:spPr>
          <a:xfrm>
            <a:off x="6374529" y="3138449"/>
            <a:ext cx="993401" cy="76313"/>
          </a:xfrm>
          <a:prstGeom prst="bentConnector3">
            <a:avLst>
              <a:gd name="adj1" fmla="val 7283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2AEDE6A9-99B1-DDD7-90C8-2378E42AD105}"/>
              </a:ext>
            </a:extLst>
          </p:cNvPr>
          <p:cNvCxnSpPr>
            <a:stCxn id="16" idx="3"/>
            <a:endCxn id="20" idx="1"/>
          </p:cNvCxnSpPr>
          <p:nvPr/>
        </p:nvCxnSpPr>
        <p:spPr>
          <a:xfrm>
            <a:off x="6374529" y="3138449"/>
            <a:ext cx="993401" cy="528263"/>
          </a:xfrm>
          <a:prstGeom prst="bentConnector3">
            <a:avLst>
              <a:gd name="adj1" fmla="val 7283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D9559804-A4B2-1513-9955-69E4A1E36FA0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rot="16200000" flipH="1">
            <a:off x="1071984" y="3399718"/>
            <a:ext cx="227576" cy="1281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22503ED9-A4F6-385F-1A9C-4BE5B2166561}"/>
              </a:ext>
            </a:extLst>
          </p:cNvPr>
          <p:cNvCxnSpPr>
            <a:stCxn id="13" idx="2"/>
            <a:endCxn id="12" idx="0"/>
          </p:cNvCxnSpPr>
          <p:nvPr/>
        </p:nvCxnSpPr>
        <p:spPr>
          <a:xfrm rot="5400000">
            <a:off x="2927299" y="2955127"/>
            <a:ext cx="220488" cy="89490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连接符: 肘形 49">
            <a:extLst>
              <a:ext uri="{FF2B5EF4-FFF2-40B4-BE49-F238E27FC236}">
                <a16:creationId xmlns:a16="http://schemas.microsoft.com/office/drawing/2014/main" id="{4FB0A2E2-6596-2CD5-77F1-F76F59FDDDB9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rot="16200000" flipH="1">
            <a:off x="3560818" y="3216516"/>
            <a:ext cx="227576" cy="37921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630A75D7-529E-017B-D512-4F1790291E3F}"/>
              </a:ext>
            </a:extLst>
          </p:cNvPr>
          <p:cNvCxnSpPr>
            <a:stCxn id="13" idx="2"/>
            <a:endCxn id="15" idx="0"/>
          </p:cNvCxnSpPr>
          <p:nvPr/>
        </p:nvCxnSpPr>
        <p:spPr>
          <a:xfrm rot="16200000" flipH="1">
            <a:off x="4145233" y="2632101"/>
            <a:ext cx="227576" cy="154804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9B6A3AEC-E23A-3159-A65E-A8FFD815B5E2}"/>
              </a:ext>
            </a:extLst>
          </p:cNvPr>
          <p:cNvSpPr txBox="1"/>
          <p:nvPr/>
        </p:nvSpPr>
        <p:spPr>
          <a:xfrm>
            <a:off x="1516767" y="4055266"/>
            <a:ext cx="107332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抗氧化实验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840C8A7-1F57-116A-84B2-478D4790D267}"/>
              </a:ext>
            </a:extLst>
          </p:cNvPr>
          <p:cNvSpPr txBox="1"/>
          <p:nvPr/>
        </p:nvSpPr>
        <p:spPr>
          <a:xfrm>
            <a:off x="2663038" y="4055266"/>
            <a:ext cx="128299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耐酸碱盐实验</a:t>
            </a:r>
          </a:p>
        </p:txBody>
      </p: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E1531485-870E-3010-4732-74EFEE62B771}"/>
              </a:ext>
            </a:extLst>
          </p:cNvPr>
          <p:cNvCxnSpPr>
            <a:stCxn id="11" idx="2"/>
            <a:endCxn id="21" idx="0"/>
          </p:cNvCxnSpPr>
          <p:nvPr/>
        </p:nvCxnSpPr>
        <p:spPr>
          <a:xfrm rot="5400000">
            <a:off x="977723" y="3840810"/>
            <a:ext cx="227576" cy="20133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93C3B996-E549-593B-F251-6A576FA7E977}"/>
              </a:ext>
            </a:extLst>
          </p:cNvPr>
          <p:cNvCxnSpPr>
            <a:stCxn id="11" idx="2"/>
            <a:endCxn id="53" idx="0"/>
          </p:cNvCxnSpPr>
          <p:nvPr/>
        </p:nvCxnSpPr>
        <p:spPr>
          <a:xfrm rot="16200000" flipH="1">
            <a:off x="1509015" y="3510853"/>
            <a:ext cx="227576" cy="86124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F96AA935-1951-CB7C-AB42-72BD518F0484}"/>
              </a:ext>
            </a:extLst>
          </p:cNvPr>
          <p:cNvCxnSpPr>
            <a:cxnSpLocks/>
            <a:stCxn id="11" idx="2"/>
            <a:endCxn id="54" idx="0"/>
          </p:cNvCxnSpPr>
          <p:nvPr/>
        </p:nvCxnSpPr>
        <p:spPr>
          <a:xfrm rot="16200000" flipH="1">
            <a:off x="2134569" y="2885299"/>
            <a:ext cx="227576" cy="21123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文本框 20">
            <a:extLst>
              <a:ext uri="{FF2B5EF4-FFF2-40B4-BE49-F238E27FC236}">
                <a16:creationId xmlns:a16="http://schemas.microsoft.com/office/drawing/2014/main" id="{A2188E6D-FA51-696C-9A1C-6D221ED2B48E}"/>
              </a:ext>
            </a:extLst>
          </p:cNvPr>
          <p:cNvSpPr txBox="1"/>
          <p:nvPr/>
        </p:nvSpPr>
        <p:spPr>
          <a:xfrm>
            <a:off x="4997881" y="4039957"/>
            <a:ext cx="90595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047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85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6278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8370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0509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2554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94600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36647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性能研究</a:t>
            </a:r>
          </a:p>
        </p:txBody>
      </p:sp>
      <p:sp>
        <p:nvSpPr>
          <p:cNvPr id="66" name="文本框 20">
            <a:extLst>
              <a:ext uri="{FF2B5EF4-FFF2-40B4-BE49-F238E27FC236}">
                <a16:creationId xmlns:a16="http://schemas.microsoft.com/office/drawing/2014/main" id="{EC948F6A-C938-15D3-9B84-A811F20575F3}"/>
              </a:ext>
            </a:extLst>
          </p:cNvPr>
          <p:cNvSpPr txBox="1"/>
          <p:nvPr/>
        </p:nvSpPr>
        <p:spPr>
          <a:xfrm>
            <a:off x="4018982" y="4048175"/>
            <a:ext cx="90595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047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85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6278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8370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0509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2554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94600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36647" algn="l" defTabSz="684185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保存时间</a:t>
            </a:r>
          </a:p>
        </p:txBody>
      </p: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55BEBD0A-AA4F-7CC2-F593-55727228F7D9}"/>
              </a:ext>
            </a:extLst>
          </p:cNvPr>
          <p:cNvCxnSpPr>
            <a:stCxn id="14" idx="2"/>
            <a:endCxn id="66" idx="0"/>
          </p:cNvCxnSpPr>
          <p:nvPr/>
        </p:nvCxnSpPr>
        <p:spPr>
          <a:xfrm rot="16200000" flipH="1">
            <a:off x="4057844" y="3634061"/>
            <a:ext cx="220485" cy="6077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6F04F8AB-6F1D-FE6A-F4DA-8B044C761D18}"/>
              </a:ext>
            </a:extLst>
          </p:cNvPr>
          <p:cNvCxnSpPr>
            <a:stCxn id="14" idx="2"/>
            <a:endCxn id="65" idx="0"/>
          </p:cNvCxnSpPr>
          <p:nvPr/>
        </p:nvCxnSpPr>
        <p:spPr>
          <a:xfrm rot="16200000" flipH="1">
            <a:off x="4551402" y="3140502"/>
            <a:ext cx="212267" cy="158664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连接符: 肘形 76">
            <a:extLst>
              <a:ext uri="{FF2B5EF4-FFF2-40B4-BE49-F238E27FC236}">
                <a16:creationId xmlns:a16="http://schemas.microsoft.com/office/drawing/2014/main" id="{0465C87C-327E-1430-096C-18CF94ED8083}"/>
              </a:ext>
            </a:extLst>
          </p:cNvPr>
          <p:cNvCxnSpPr>
            <a:stCxn id="15" idx="2"/>
            <a:endCxn id="65" idx="0"/>
          </p:cNvCxnSpPr>
          <p:nvPr/>
        </p:nvCxnSpPr>
        <p:spPr>
          <a:xfrm rot="16200000" flipH="1">
            <a:off x="5135817" y="3724917"/>
            <a:ext cx="212267" cy="4178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D75B5AC0-92FB-5866-2BCA-412FAFBA94A4}"/>
              </a:ext>
            </a:extLst>
          </p:cNvPr>
          <p:cNvSpPr txBox="1"/>
          <p:nvPr/>
        </p:nvSpPr>
        <p:spPr>
          <a:xfrm>
            <a:off x="6033912" y="4039956"/>
            <a:ext cx="250890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依照行业标准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SY/T 7627-2021</a:t>
            </a:r>
            <a:endParaRPr lang="zh-CN" altLang="en-US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3" name="连接符: 肘形 82">
            <a:extLst>
              <a:ext uri="{FF2B5EF4-FFF2-40B4-BE49-F238E27FC236}">
                <a16:creationId xmlns:a16="http://schemas.microsoft.com/office/drawing/2014/main" id="{8C08BA86-B494-0910-7917-563D1B084587}"/>
              </a:ext>
            </a:extLst>
          </p:cNvPr>
          <p:cNvCxnSpPr>
            <a:stCxn id="65" idx="3"/>
            <a:endCxn id="81" idx="1"/>
          </p:cNvCxnSpPr>
          <p:nvPr/>
        </p:nvCxnSpPr>
        <p:spPr>
          <a:xfrm flipV="1">
            <a:off x="5903831" y="4193845"/>
            <a:ext cx="130081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65BFD00A-6F7C-0DCC-BCC0-9F31BBFA27C6}"/>
              </a:ext>
            </a:extLst>
          </p:cNvPr>
          <p:cNvSpPr txBox="1"/>
          <p:nvPr/>
        </p:nvSpPr>
        <p:spPr>
          <a:xfrm>
            <a:off x="3989918" y="4575310"/>
            <a:ext cx="11412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1E3E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技术路线图</a:t>
            </a:r>
          </a:p>
        </p:txBody>
      </p:sp>
    </p:spTree>
    <p:extLst>
      <p:ext uri="{BB962C8B-B14F-4D97-AF65-F5344CB8AC3E}">
        <p14:creationId xmlns:p14="http://schemas.microsoft.com/office/powerpoint/2010/main" val="3964687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E2280-01AA-A154-FFBA-0D7F61CDD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>
            <a:extLst>
              <a:ext uri="{FF2B5EF4-FFF2-40B4-BE49-F238E27FC236}">
                <a16:creationId xmlns:a16="http://schemas.microsoft.com/office/drawing/2014/main" id="{DF360A0E-445F-2852-FE0D-5CBDED80C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426" y="32655"/>
            <a:ext cx="5179219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3600" b="1" spc="1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683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10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 录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B68D8D01-28C3-E396-3916-1E53EF3FB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0676" y="872556"/>
            <a:ext cx="6929915" cy="3883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一、选题依据及意义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二、国内外研究现状及存在的主要问题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三、主要研究内容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四、研究思路及技术路线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五、预期成果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六、进度安排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七、论文提纲</a:t>
            </a:r>
          </a:p>
        </p:txBody>
      </p:sp>
    </p:spTree>
    <p:extLst>
      <p:ext uri="{BB962C8B-B14F-4D97-AF65-F5344CB8AC3E}">
        <p14:creationId xmlns:p14="http://schemas.microsoft.com/office/powerpoint/2010/main" val="2353802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81631-8039-66D7-5F3F-C7649EB83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F7C98B3-B350-870B-9F45-4CB9EE10D684}"/>
              </a:ext>
            </a:extLst>
          </p:cNvPr>
          <p:cNvSpPr txBox="1"/>
          <p:nvPr/>
        </p:nvSpPr>
        <p:spPr>
          <a:xfrm>
            <a:off x="2042838" y="85235"/>
            <a:ext cx="4858770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五、预期成果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ABA4D90-2B9D-C0EE-B59F-1FF11F384A4E}"/>
              </a:ext>
            </a:extLst>
          </p:cNvPr>
          <p:cNvSpPr txBox="1"/>
          <p:nvPr/>
        </p:nvSpPr>
        <p:spPr>
          <a:xfrm>
            <a:off x="108664" y="982618"/>
            <a:ext cx="8926671" cy="29727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改性工艺：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建立荧光粉双层改性标准化工艺，改性粉体在胍胶基液中静置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小时无明显沉降。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母液设计：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研制浓度≥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 g/L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的高稳定荧光粉母液，满足储存、运输及现场注入要求。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性能评价方法：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形成一套荧光压裂液性能标准化评价方法，各项指标满足行业标准要求。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吸附机理：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揭示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KH550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改性荧光粉在砂岩表面的吸附机制与“分散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吸附”功能切换机理。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判读方法建立：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建立基于取心紫外成像的裂缝判读方法，实现裂缝形态的可视化评价。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现场工艺方案：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形成“母液预配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在线稀释”的现场施工工艺方案。</a:t>
            </a:r>
          </a:p>
        </p:txBody>
      </p:sp>
    </p:spTree>
    <p:extLst>
      <p:ext uri="{BB962C8B-B14F-4D97-AF65-F5344CB8AC3E}">
        <p14:creationId xmlns:p14="http://schemas.microsoft.com/office/powerpoint/2010/main" val="359650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EB900-738D-DDE2-4732-4EE4E5BF4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>
            <a:extLst>
              <a:ext uri="{FF2B5EF4-FFF2-40B4-BE49-F238E27FC236}">
                <a16:creationId xmlns:a16="http://schemas.microsoft.com/office/drawing/2014/main" id="{C3CF6744-6728-80BA-6C29-F988CA377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426" y="32655"/>
            <a:ext cx="5179219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3600" b="1" spc="1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683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10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 录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AB946795-71F0-7A98-3071-8CB9C6C4E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0676" y="872556"/>
            <a:ext cx="6929915" cy="3883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一、选题依据及意义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二、国内外研究现状及存在的主要问题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三、主要研究内容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四、研究思路及技术路线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五、预期成果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六、进度安排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七、论文提纲</a:t>
            </a:r>
          </a:p>
        </p:txBody>
      </p:sp>
    </p:spTree>
    <p:extLst>
      <p:ext uri="{BB962C8B-B14F-4D97-AF65-F5344CB8AC3E}">
        <p14:creationId xmlns:p14="http://schemas.microsoft.com/office/powerpoint/2010/main" val="4273228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DE84F-637C-5D87-C31F-0EDF70D29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0E7FF0B-97CF-E314-7CF4-AD001368EA3A}"/>
              </a:ext>
            </a:extLst>
          </p:cNvPr>
          <p:cNvSpPr txBox="1"/>
          <p:nvPr/>
        </p:nvSpPr>
        <p:spPr>
          <a:xfrm>
            <a:off x="2042838" y="85235"/>
            <a:ext cx="4858770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六、进度安排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40AB19C-719C-9A5F-DCAB-C545CA270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548295"/>
              </p:ext>
            </p:extLst>
          </p:nvPr>
        </p:nvGraphicFramePr>
        <p:xfrm>
          <a:off x="988828" y="971011"/>
          <a:ext cx="7166344" cy="3676961"/>
        </p:xfrm>
        <a:graphic>
          <a:graphicData uri="http://schemas.openxmlformats.org/drawingml/2006/table">
            <a:tbl>
              <a:tblPr/>
              <a:tblGrid>
                <a:gridCol w="950403">
                  <a:extLst>
                    <a:ext uri="{9D8B030D-6E8A-4147-A177-3AD203B41FA5}">
                      <a16:colId xmlns:a16="http://schemas.microsoft.com/office/drawing/2014/main" val="1423622240"/>
                    </a:ext>
                  </a:extLst>
                </a:gridCol>
                <a:gridCol w="6215941">
                  <a:extLst>
                    <a:ext uri="{9D8B030D-6E8A-4147-A177-3AD203B41FA5}">
                      <a16:colId xmlns:a16="http://schemas.microsoft.com/office/drawing/2014/main" val="374646794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进度安排表</a:t>
                      </a:r>
                    </a:p>
                  </a:txBody>
                  <a:tcPr marL="23919" marR="26577" marT="16611" marB="1661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zh-CN" altLang="en-US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577" marR="26577" marT="16611" marB="1661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186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时间</a:t>
                      </a:r>
                    </a:p>
                  </a:txBody>
                  <a:tcPr marL="23919" marR="26577" marT="16611" marB="1661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主要工作内容</a:t>
                      </a:r>
                    </a:p>
                  </a:txBody>
                  <a:tcPr marL="26577" marR="26577" marT="16611" marB="1661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952588"/>
                  </a:ext>
                </a:extLst>
              </a:tr>
              <a:tr h="47506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2026.04-2026.05</a:t>
                      </a:r>
                      <a:endParaRPr lang="zh-CN" altLang="en-US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19" marR="26577" marT="16611" marB="1661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文献调研与实验准备：采购材料（荧光粉、胍胶、试剂等），搭建基础物性测试平台，完成荧光粉基础物性表征（热、氧化、化学稳定性）</a:t>
                      </a:r>
                    </a:p>
                  </a:txBody>
                  <a:tcPr marL="26577" marR="23919" marT="16611" marB="1661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189647"/>
                  </a:ext>
                </a:extLst>
              </a:tr>
              <a:tr h="47506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2026.05-2026.07</a:t>
                      </a:r>
                      <a:endParaRPr lang="zh-CN" altLang="en-US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19" marR="26577" marT="16611" marB="1661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荧光粉改性工艺：开展</a:t>
                      </a:r>
                      <a:r>
                        <a:rPr lang="en-US" altLang="zh-CN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KH550+PEG4000</a:t>
                      </a:r>
                      <a:r>
                        <a:rPr lang="zh-CN" alt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双层改性，优化工艺参数；研究柠檬酸、</a:t>
                      </a:r>
                      <a:r>
                        <a:rPr lang="en-US" altLang="zh-CN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AEO9</a:t>
                      </a:r>
                      <a:r>
                        <a:rPr lang="zh-CN" alt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PEG</a:t>
                      </a:r>
                      <a:r>
                        <a:rPr lang="zh-CN" alt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协同分散机制，制备高浓度母液（≥</a:t>
                      </a:r>
                      <a:r>
                        <a:rPr lang="en-US" altLang="zh-CN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 g/L</a:t>
                      </a:r>
                      <a:r>
                        <a:rPr lang="zh-CN" alt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marL="26577" marR="23919" marT="16611" marB="1661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33232"/>
                  </a:ext>
                </a:extLst>
              </a:tr>
              <a:tr h="60130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2026.07-2026.10</a:t>
                      </a:r>
                      <a:endParaRPr lang="zh-CN" altLang="en-US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19" marR="26577" marT="16611" marB="1661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压裂液性能评价：依据</a:t>
                      </a:r>
                      <a:r>
                        <a:rPr lang="en-US" altLang="zh-CN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SY/T</a:t>
                      </a:r>
                      <a:r>
                        <a:rPr lang="zh-CN" alt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标准测试基液、交联冻胶、破胶性能（增黏、抗剪切、耐温耐剪切、悬砂、破胶黏度、残渣等）；完成“分散</a:t>
                      </a:r>
                      <a:r>
                        <a:rPr lang="en-US" altLang="zh-CN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‑</a:t>
                      </a:r>
                      <a:r>
                        <a:rPr lang="zh-CN" alt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吸附”功能切换初步实验（破胶前后表面性质对比）</a:t>
                      </a:r>
                    </a:p>
                  </a:txBody>
                  <a:tcPr marL="26577" marR="23919" marT="16611" marB="1661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650454"/>
                  </a:ext>
                </a:extLst>
              </a:tr>
              <a:tr h="47506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2026.08-2026.11</a:t>
                      </a:r>
                      <a:endParaRPr lang="zh-CN" altLang="en-US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19" marR="26577" marT="16611" marB="1661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岩石吸附规律研究：开展砂岩吸附动力学与热力学实验（温度、时间、浓度、</a:t>
                      </a:r>
                      <a:r>
                        <a:rPr lang="en-US" altLang="zh-CN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</a:t>
                      </a:r>
                      <a:r>
                        <a:rPr lang="zh-CN" alt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等影响），获取吸附等温线；结合</a:t>
                      </a:r>
                      <a:r>
                        <a:rPr lang="en-US" altLang="zh-CN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FTIR</a:t>
                      </a:r>
                      <a:r>
                        <a:rPr lang="zh-CN" alt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Zeta</a:t>
                      </a:r>
                      <a:r>
                        <a:rPr lang="zh-CN" alt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电位阐明吸附机制</a:t>
                      </a:r>
                    </a:p>
                  </a:txBody>
                  <a:tcPr marL="26577" marR="23919" marT="16611" marB="1661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042595"/>
                  </a:ext>
                </a:extLst>
              </a:tr>
              <a:tr h="72754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2026.11-2027.02</a:t>
                      </a:r>
                      <a:endParaRPr lang="zh-CN" altLang="en-US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19" marR="26577" marT="16611" marB="1661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模拟裂缝可视化实验：劈裂岩心造缝，注入荧光压裂液、破胶、返排驱替、模拟钻井取心（钻井液浸泡</a:t>
                      </a:r>
                      <a:r>
                        <a:rPr lang="en-US" altLang="zh-CN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zh-CN" altLang="en-US" sz="1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高压水枪冲洗）；紫外成像并提取荧光强度、覆盖率、连续性，建立裂缝几何参数与荧光信号的量化映射模型</a:t>
                      </a:r>
                    </a:p>
                  </a:txBody>
                  <a:tcPr marL="26577" marR="23919" marT="16611" marB="1661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431879"/>
                  </a:ext>
                </a:extLst>
              </a:tr>
              <a:tr h="41194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2026.02-2027.04</a:t>
                      </a:r>
                      <a:endParaRPr lang="zh-CN" altLang="en-US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19" marR="26577" marT="16611" marB="1661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现场工艺方案设计（“母液预配</a:t>
                      </a:r>
                      <a:r>
                        <a:rPr lang="en-US" altLang="zh-CN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zh-CN" alt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在线稀释”），完成技术经济与环保可行性评估；撰写论文</a:t>
                      </a:r>
                    </a:p>
                  </a:txBody>
                  <a:tcPr marL="26577" marR="23919" marT="16611" marB="1661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807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96029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3E006-4229-C4F6-654F-BE548ABFE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>
            <a:extLst>
              <a:ext uri="{FF2B5EF4-FFF2-40B4-BE49-F238E27FC236}">
                <a16:creationId xmlns:a16="http://schemas.microsoft.com/office/drawing/2014/main" id="{07AD12F0-EA5A-BA5D-ED2B-37E7BBB90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426" y="32655"/>
            <a:ext cx="5179219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3600" b="1" spc="1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683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10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 录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DBDE457D-36BB-C513-ACF7-EB41DB358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0676" y="872556"/>
            <a:ext cx="6929915" cy="3883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一、选题依据及意义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二、国内外研究现状及存在的主要问题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三、主要研究内容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四、研究思路及技术路线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五、预期成果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六、进度安排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七、论文提纲</a:t>
            </a:r>
          </a:p>
        </p:txBody>
      </p:sp>
    </p:spTree>
    <p:extLst>
      <p:ext uri="{BB962C8B-B14F-4D97-AF65-F5344CB8AC3E}">
        <p14:creationId xmlns:p14="http://schemas.microsoft.com/office/powerpoint/2010/main" val="2857204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055B4-2E92-43AF-C4C9-C71A39E7A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B955A61-39AE-1136-B522-DB3E14B855BC}"/>
              </a:ext>
            </a:extLst>
          </p:cNvPr>
          <p:cNvSpPr txBox="1"/>
          <p:nvPr/>
        </p:nvSpPr>
        <p:spPr>
          <a:xfrm>
            <a:off x="2042838" y="85235"/>
            <a:ext cx="4858770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七、论文大纲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8FDF8FA-DD78-34A4-FF61-06A304ED38A5}"/>
              </a:ext>
            </a:extLst>
          </p:cNvPr>
          <p:cNvSpPr txBox="1"/>
          <p:nvPr/>
        </p:nvSpPr>
        <p:spPr>
          <a:xfrm>
            <a:off x="513907" y="1000227"/>
            <a:ext cx="378164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第一章 绪论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研究背景与意义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国内外研究现状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存在的主要问题与研究空白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研究目标、内容与技术路线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第二章 荧光粉物性研究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实验材料与方法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荧光粉基础物性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荧光粉双层表面改性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2.4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协同分散机理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2.5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改性粉体在胍胶基液中的悬浮稳定性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2.6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本章小结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第三章 荧光压裂液体系构建与性能评价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高浓度荧光粉母液制备与评价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荧光压裂液终液性能评价（参照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SY/T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标准）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本章小结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C3E0266-E1B4-9017-4A81-5927938948AC}"/>
              </a:ext>
            </a:extLst>
          </p:cNvPr>
          <p:cNvSpPr txBox="1"/>
          <p:nvPr/>
        </p:nvSpPr>
        <p:spPr>
          <a:xfrm>
            <a:off x="4295555" y="986817"/>
            <a:ext cx="458617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第四章 岩石吸附规律及机理研究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破胶前后荧光粉表面性质变化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4.2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砂岩静态吸附实验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4.3 PEG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脱附及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KH550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氨基与岩石硅羟基的键合机理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4.4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本章小结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第五章 模拟裂缝中荧光示踪与裂缝几何形态量化映射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5.1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模拟裂缝可视化实验装置与方法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5.2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荧光压裂液注入、破胶、返排及模拟取心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5.3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紫外图像处理与特征参数提取（灰度、覆盖率、连续性）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5.4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荧光信号与裂缝几何参数的关系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5.5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本章小结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第六章 现场施工工艺设计与案例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6.1 “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母液预配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在线稀释”工艺方案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6.2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经济性评估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6.3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实际案例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6.4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本章小结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第七章 结论与展望</a:t>
            </a:r>
          </a:p>
        </p:txBody>
      </p:sp>
    </p:spTree>
    <p:extLst>
      <p:ext uri="{BB962C8B-B14F-4D97-AF65-F5344CB8AC3E}">
        <p14:creationId xmlns:p14="http://schemas.microsoft.com/office/powerpoint/2010/main" val="40175073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AB283D56-C468-4BC5-8622-C19E94029D5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5" t="6385" r="9066" b="17393"/>
          <a:stretch/>
        </p:blipFill>
        <p:spPr>
          <a:xfrm rot="60000">
            <a:off x="-44187" y="-79401"/>
            <a:ext cx="9232374" cy="5302302"/>
          </a:xfrm>
          <a:custGeom>
            <a:avLst/>
            <a:gdLst>
              <a:gd name="connsiteX0" fmla="*/ 0 w 9232374"/>
              <a:gd name="connsiteY0" fmla="*/ 159585 h 5302302"/>
              <a:gd name="connsiteX1" fmla="*/ 9142608 w 9232374"/>
              <a:gd name="connsiteY1" fmla="*/ 0 h 5302302"/>
              <a:gd name="connsiteX2" fmla="*/ 9232374 w 9232374"/>
              <a:gd name="connsiteY2" fmla="*/ 5142717 h 5302302"/>
              <a:gd name="connsiteX3" fmla="*/ 89767 w 9232374"/>
              <a:gd name="connsiteY3" fmla="*/ 5302302 h 5302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2374" h="5302302">
                <a:moveTo>
                  <a:pt x="0" y="159585"/>
                </a:moveTo>
                <a:lnTo>
                  <a:pt x="9142608" y="0"/>
                </a:lnTo>
                <a:lnTo>
                  <a:pt x="9232374" y="5142717"/>
                </a:lnTo>
                <a:lnTo>
                  <a:pt x="89767" y="5302302"/>
                </a:lnTo>
                <a:close/>
              </a:path>
            </a:pathLst>
          </a:cu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07F1D7E-1C34-40F2-A605-82902662E55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90000"/>
                </a:schemeClr>
              </a:gs>
              <a:gs pos="100000">
                <a:schemeClr val="tx2">
                  <a:alpha val="7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0ACBCE5-DB49-454A-B1F7-6366C717F97A}"/>
              </a:ext>
            </a:extLst>
          </p:cNvPr>
          <p:cNvSpPr txBox="1"/>
          <p:nvPr/>
        </p:nvSpPr>
        <p:spPr>
          <a:xfrm>
            <a:off x="909541" y="2610733"/>
            <a:ext cx="7848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请各位老师批评指正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EF55C16-CF6F-448E-989C-E95AF15647F8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722" y="665019"/>
            <a:ext cx="3086556" cy="218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34542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Office 主题​​">
  <a:themeElements>
    <a:clrScheme name="蓝色​​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主题​​">
  <a:themeElements>
    <a:clrScheme name="蓝色​​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11239</TotalTime>
  <Words>3216</Words>
  <Application>Microsoft Office PowerPoint</Application>
  <PresentationFormat>全屏显示(16:9)</PresentationFormat>
  <Paragraphs>287</Paragraphs>
  <Slides>27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等线</vt:lpstr>
      <vt:lpstr>黑体</vt:lpstr>
      <vt:lpstr>华光楷体一_CNKI</vt:lpstr>
      <vt:lpstr>隶书</vt:lpstr>
      <vt:lpstr>微软雅黑</vt:lpstr>
      <vt:lpstr>Arial</vt:lpstr>
      <vt:lpstr>Arial Black</vt:lpstr>
      <vt:lpstr>Times New Roman</vt:lpstr>
      <vt:lpstr>Wingdings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hp</dc:creator>
  <cp:lastModifiedBy>le hao</cp:lastModifiedBy>
  <cp:revision>1016</cp:revision>
  <cp:lastPrinted>2019-08-27T00:33:18Z</cp:lastPrinted>
  <dcterms:created xsi:type="dcterms:W3CDTF">2017-02-15T16:34:00Z</dcterms:created>
  <dcterms:modified xsi:type="dcterms:W3CDTF">2026-05-06T07:04:58Z</dcterms:modified>
</cp:coreProperties>
</file>